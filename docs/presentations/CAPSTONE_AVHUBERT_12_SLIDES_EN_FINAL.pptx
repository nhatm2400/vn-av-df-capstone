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5f4b1c3d9b4b0f" /><Relationship Type="http://schemas.openxmlformats.org/officeDocument/2006/relationships/extended-properties" Target="/docProps/app.xml" Id="R293fcd27e8e44db2" /><Relationship Type="http://schemas.openxmlformats.org/officeDocument/2006/relationships/officeDocument" Target="/ppt/presentation.xml" Id="R5bd20464607248a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1083069e9b74d8b"/>
  </p:sldMasterIdLst>
  <p:notesMasterIdLst>
    <p:notesMasterId xmlns:r="http://schemas.openxmlformats.org/officeDocument/2006/relationships" r:id="Rb27f2b3bb1b74d8f"/>
  </p:notesMasterIdLst>
  <p:sldIdLst>
    <p:sldId xmlns:r="http://schemas.openxmlformats.org/officeDocument/2006/relationships" id="256" r:id="R13d64a9099934ecd"/>
    <p:sldId xmlns:r="http://schemas.openxmlformats.org/officeDocument/2006/relationships" id="257" r:id="Rf83a718268304d95"/>
    <p:sldId xmlns:r="http://schemas.openxmlformats.org/officeDocument/2006/relationships" id="258" r:id="R69aff5028e304ee8"/>
    <p:sldId xmlns:r="http://schemas.openxmlformats.org/officeDocument/2006/relationships" id="259" r:id="Redd54b5efe8c44d9"/>
    <p:sldId xmlns:r="http://schemas.openxmlformats.org/officeDocument/2006/relationships" id="260" r:id="R3eee1482256640b6"/>
    <p:sldId xmlns:r="http://schemas.openxmlformats.org/officeDocument/2006/relationships" id="261" r:id="R6b9984294c1c459c"/>
    <p:sldId xmlns:r="http://schemas.openxmlformats.org/officeDocument/2006/relationships" id="262" r:id="Rfce9657675b94080"/>
    <p:sldId xmlns:r="http://schemas.openxmlformats.org/officeDocument/2006/relationships" id="263" r:id="R4c09fc04f8e441bb"/>
    <p:sldId xmlns:r="http://schemas.openxmlformats.org/officeDocument/2006/relationships" id="264" r:id="R51fc903e027f46f6"/>
    <p:sldId xmlns:r="http://schemas.openxmlformats.org/officeDocument/2006/relationships" id="265" r:id="Rc2b6788f4ef046ed"/>
    <p:sldId xmlns:r="http://schemas.openxmlformats.org/officeDocument/2006/relationships" id="266" r:id="R127d23bbc7544563"/>
    <p:sldId xmlns:r="http://schemas.openxmlformats.org/officeDocument/2006/relationships" id="267" r:id="R1831b94701a841a4"/>
  </p:sldIdLst>
  <p:sldSz cx="18288000" cy="10287000"/>
  <p:notesSz cx="6858000" cy="9144000"/>
  <p:embeddedFontLst>
    <p:embeddedFont>
      <p:font typeface="Aptos Bold"/>
      <p:regular xmlns:r="http://schemas.openxmlformats.org/officeDocument/2006/relationships" r:id="R9cb1303ccab643e2"/>
    </p:embeddedFont>
    <p:embeddedFont>
      <p:font typeface="Anton"/>
      <p:regular xmlns:r="http://schemas.openxmlformats.org/officeDocument/2006/relationships" r:id="R6c015e45dbf7497f"/>
    </p:embeddedFont>
    <p:embeddedFont>
      <p:font typeface="Aptos"/>
      <p:regular xmlns:r="http://schemas.openxmlformats.org/officeDocument/2006/relationships" r:id="R28bbd707d69a48b6"/>
    </p:embeddedFont>
    <p:embeddedFont>
      <p:font typeface="Calibri (MS) Bold"/>
      <p:regular xmlns:r="http://schemas.openxmlformats.org/officeDocument/2006/relationships" r:id="R8b59c90bbd7e406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f779d5014c24e8d" /><Relationship Type="http://schemas.openxmlformats.org/officeDocument/2006/relationships/slideMaster" Target="/ppt/slideMasters/slideMaster1.xml" Id="Rf1083069e9b74d8b" /><Relationship Type="http://schemas.openxmlformats.org/officeDocument/2006/relationships/notesMaster" Target="/ppt/notesMasters/notesMaster1.xml" Id="Rb27f2b3bb1b74d8f" /><Relationship Type="http://schemas.openxmlformats.org/officeDocument/2006/relationships/presProps" Target="/ppt/presProps.xml" Id="R29e49043db644569" /><Relationship Type="http://schemas.openxmlformats.org/officeDocument/2006/relationships/viewProps" Target="/ppt/viewProps.xml" Id="R97758dc1cfe846b9" /><Relationship Type="http://schemas.openxmlformats.org/officeDocument/2006/relationships/tableStyles" Target="/ppt/tableStyles.xml" Id="R55c8a8e708194358" /><Relationship Type="http://schemas.openxmlformats.org/officeDocument/2006/relationships/font" Target="/ppt/fonts/font.dat" Id="R9cb1303ccab643e2" /><Relationship Type="http://schemas.openxmlformats.org/officeDocument/2006/relationships/font" Target="/ppt/fonts/font2.dat" Id="R6c015e45dbf7497f" /><Relationship Type="http://schemas.openxmlformats.org/officeDocument/2006/relationships/font" Target="/ppt/fonts/font3.dat" Id="R28bbd707d69a48b6" /><Relationship Type="http://schemas.openxmlformats.org/officeDocument/2006/relationships/font" Target="/ppt/fonts/font4.dat" Id="R8b59c90bbd7e4060" /><Relationship Type="http://schemas.openxmlformats.org/officeDocument/2006/relationships/slide" Target="/ppt/slides/slide1.xml" Id="R13d64a9099934ecd" /><Relationship Type="http://schemas.openxmlformats.org/officeDocument/2006/relationships/slide" Target="/ppt/slides/slide2.xml" Id="Rf83a718268304d95" /><Relationship Type="http://schemas.openxmlformats.org/officeDocument/2006/relationships/slide" Target="/ppt/slides/slide3.xml" Id="R69aff5028e304ee8" /><Relationship Type="http://schemas.openxmlformats.org/officeDocument/2006/relationships/slide" Target="/ppt/slides/slide4.xml" Id="Redd54b5efe8c44d9" /><Relationship Type="http://schemas.openxmlformats.org/officeDocument/2006/relationships/slide" Target="/ppt/slides/slide5.xml" Id="R3eee1482256640b6" /><Relationship Type="http://schemas.openxmlformats.org/officeDocument/2006/relationships/slide" Target="/ppt/slides/slide6.xml" Id="R6b9984294c1c459c" /><Relationship Type="http://schemas.openxmlformats.org/officeDocument/2006/relationships/slide" Target="/ppt/slides/slide7.xml" Id="Rfce9657675b94080" /><Relationship Type="http://schemas.openxmlformats.org/officeDocument/2006/relationships/slide" Target="/ppt/slides/slide8.xml" Id="R4c09fc04f8e441bb" /><Relationship Type="http://schemas.openxmlformats.org/officeDocument/2006/relationships/slide" Target="/ppt/slides/slide9.xml" Id="R51fc903e027f46f6" /><Relationship Type="http://schemas.openxmlformats.org/officeDocument/2006/relationships/slide" Target="/ppt/slides/slide10.xml" Id="Rc2b6788f4ef046ed" /><Relationship Type="http://schemas.openxmlformats.org/officeDocument/2006/relationships/slide" Target="/ppt/slides/slide11.xml" Id="R127d23bbc7544563" /><Relationship Type="http://schemas.openxmlformats.org/officeDocument/2006/relationships/slide" Target="/ppt/slides/slide12.xml" Id="R1831b94701a841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00a25ec1fd49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d5f222039b446f" /><Relationship Type="http://schemas.openxmlformats.org/officeDocument/2006/relationships/notesMaster" Target="/ppt/notesMasters/notesMaster1.xml" Id="R748bc127a42a4d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c7a61336364487" /><Relationship Type="http://schemas.openxmlformats.org/officeDocument/2006/relationships/notesMaster" Target="/ppt/notesMasters/notesMaster1.xml" Id="R2e9116fb51634e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06b3e10a1b4ea8" /><Relationship Type="http://schemas.openxmlformats.org/officeDocument/2006/relationships/notesMaster" Target="/ppt/notesMasters/notesMaster1.xml" Id="R05501da045c048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9c6e449dc44770" /><Relationship Type="http://schemas.openxmlformats.org/officeDocument/2006/relationships/notesMaster" Target="/ppt/notesMasters/notesMaster1.xml" Id="Rf9fe6fc97e354e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643d2e8b8a4790" /><Relationship Type="http://schemas.openxmlformats.org/officeDocument/2006/relationships/notesMaster" Target="/ppt/notesMasters/notesMaster1.xml" Id="R1cfc24d252b640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80c48000234511" /><Relationship Type="http://schemas.openxmlformats.org/officeDocument/2006/relationships/notesMaster" Target="/ppt/notesMasters/notesMaster1.xml" Id="R173d4086e52746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c5a25811c04174" /><Relationship Type="http://schemas.openxmlformats.org/officeDocument/2006/relationships/notesMaster" Target="/ppt/notesMasters/notesMaster1.xml" Id="R69c9582ffb214d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4762c328cc496f" /><Relationship Type="http://schemas.openxmlformats.org/officeDocument/2006/relationships/notesMaster" Target="/ppt/notesMasters/notesMaster1.xml" Id="Ra92f913998024f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dfda44a1234bac" /><Relationship Type="http://schemas.openxmlformats.org/officeDocument/2006/relationships/notesMaster" Target="/ppt/notesMasters/notesMaster1.xml" Id="R07f6db008aa64b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3565dc9b0e459a" /><Relationship Type="http://schemas.openxmlformats.org/officeDocument/2006/relationships/notesMaster" Target="/ppt/notesMasters/notesMaster1.xml" Id="R028ad3dcebd944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49a219ebb94e42" /><Relationship Type="http://schemas.openxmlformats.org/officeDocument/2006/relationships/notesMaster" Target="/ppt/notesMasters/notesMaster1.xml" Id="R3f180e1d5e3148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58773b384e4cd9" /><Relationship Type="http://schemas.openxmlformats.org/officeDocument/2006/relationships/notesMaster" Target="/ppt/notesMasters/notesMaster1.xml" Id="R0a769c76ba5d4b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separate 12-slide presentation for the Vietnamese audio-visual lip-sync detection direction. Design and cover artwork are reused from the supplied CAPSTONE CHECKPOINT template. The cover is illustrative artwork, not an experimental result.</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In Vietnamese talking-head video, does method X improve lip-sync manipulation detection over baseline Y under a fixed protocol, with separate results for generators absent from detector training and compressed video? Generators create mouth movements from supplied audio. The detector classifies clips. Real means the source did not undergo lip-sync manipulation within this data workflow, not a certificate of authenticity. Do not assume every fake has an audio-mouth timing offset. The fake score is not a calibrated authenticity probability.</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task is clip-level detection of full-clip lip-sync manipulation. Frame-level localization, lag estimation, standalone voice-cloning detection and general AI-video detection are outside scope. This differs from the FATE and relation-localization direction in the source template. No claim covers arbitrary future generators.</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reflect PROJECT.md updated on 19 September 2026 and checked on 21 September. There are 18 source groups and one speaker. The 1,143 kept clips split into 786 train, 192 validation and 165 test. The quality_10x2s_002 smoke test contains 10 real clips, 10 Wav2Lip GAN fakes, 10 MuseTalk fakes and 10 comparison videos. Two seconds is a smoke-test duration, not a locked research window length. Dataset preparation does not imply detector training is complete. Record source permissions before publication.</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Lock train/validation/test before generating fakes. Both the target video and donor audio must belong to the same split. Keep originals, generated variants and compression views together. For an unseen-speaker protocol, group identities and linked sources so recurring hosts do not cross splits. Check reuploads and overlapping segments. Store clip ID, speaker ID, video source, donor audio source, label, split, generator version, compression settings and timestamps.</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AV-HuBERT learns speech representations using masked multimodal prediction. Sources: https://arxiv.org/abs/2201.02184 ; https://facebookresearch.github.io/av_hubert/ ; https://github.com/facebookresearch/av_hubert . The selected Base checkpoint uses LRS3 and English VoxCeleb2 pretraining data. Current extraction loads the visual ResEncoder and projection plus the audio projection before fusion. Base has sub_encoder_layers=0, so this audio branch is not an independent audio Transformer. The loaded branches contain 11,661,312 parameters, not the full AV-HuBERT parameter count. Vietnamese transfer remains an empirical question.</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projects each stream with a trainable Linear layer, concatenates aligned features, applies a GRU and produces a fake logit. Sigmoid converts the logit to a score. Valid lengths prevent padding from affecting aggregation. Frozen pre-fusion AV-HuBERT branches supply the features. The joint Transformer is not used. Audio preprocessing uses 26-dimensional log-filterbank features, stacks four frames into 104 dimensions at 25 Hz, then normalizes. Visual processing aligns the face, crops a 96x96 mouth region and typically center-crops to 88x88. Current code has smoke tests, not research training results.</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experimental variable is the consistency loss weight: zero for Y and positive for X. Both methods see the same compression views and use the same architecture, data splits and training schedule. Supervised classification remains active on each view. Pair only compression variants of the same sample and label. Matching real to fake would be incorrect. X is a proposed improvement whose effect has not yet been demonstrated.</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Wav2Lip and MuseTalk have already been inspected during pipeline development. Describe these experiments as generators excluded from detector training, not generators completely unseen during all development. A stricter final generalization claim requires a separate generator held out from method selection. Report results per generator and compression level. Select hyperparameters, checkpoints and decision thresholds on validation only. Unseen-speaker testing requires additional speakers.</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Fake is the positive class. ROC-AUC summarizes ranking across thresholds. Precision=TP/(TP+FP), Recall=TP/(TP+FN), FPR=FP/(FP+TN). EER is the error rate at equal FPR and FNR, and its test-derived threshold must not become the deployment threshold. Use a fixed validation-selected threshold for F1, FPR and confusion matrices. Balanced Accuracy is the average class recall. Report seed variation and, when data permit, confidence intervals resampled by source video rather than treating correlated compression variants as independent samples. No detector metric results are available yet.</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Using two modalities does not prove that a detector learns their relationship. A strong visual-only detector may exploit blurry mouths or blending artifacts. Unexpectedly strong audio-only results may indicate encoding or silence differences between labels. Compare ablations on the same splits with fair training and model selection. Report preprocessing failure rates by label and generator rather than silently discarding difficult examples. The ten-clip batch supports debugging, not a research conclusion.</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dataset-scale detector benchmark, benefit of X over Y or unseen-speaker generalization has been established. Expected contributions are a traceable Vietnamese evaluation protocol, reproducible controlled experiments and an analysis of limitations. Do not claim a wholly new algorithm or proven performance improvements. Prioritize fake review, the baseline and ablations before large-scale generation.</a:t>
            </a:r>
          </a:p>
          <a:p xmlns:a="http://schemas.openxmlformats.org/drawingml/2006/main">
            <a:r>
              <a:t/>
            </a:r>
          </a:p>
          <a:p xmlns:a="http://schemas.openxmlformats.org/drawingml/2006/main">
            <a:r>
              <a:t>Internal sources: PROJECT.md (19 September 2026), src/features/README.md, src/models/README.md and docs/research/HUONG_NGHIEN_CUU_LIP_SYNC_VI.md. Status checked on 21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2e1788329343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5bfaad872a40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0b6eee265242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61c1ff2a7643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ca839fe5b043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ad8f25d49d429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f893fdb2f434a0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b1c81f82fe44c7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6f1b8db420142a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9b7a4c19a0646d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d467d5fd8994f1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D475CE-6DE3-45DF-A9C6-6A861D90316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8823CFA3-E129-45BD-B450-D96CB8937210}"/>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BFE2F1F-1EB7-48CB-B235-8EEA50D7F7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F2368FB-8693-45D1-ACED-2EF7762FA6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ED001C8-9C7D-417A-B246-BD211EABB5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157171-EC9E-4DC2-8A56-2D856FC532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6CDA145-FD2F-4026-A9F8-AA7B30C3114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28AC1EC-D611-44BC-B33A-317F0710BD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20591A49-BA4E-41EC-991E-A79D7F7897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64AD489-616E-42FD-A933-288952FC33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88598B2-DE95-4165-AB1E-373F4AFBC88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F461B8F-45CE-43AD-BD17-2BBE32A516E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DDCB46D-36C8-417C-872D-220429E066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4DAD589-E165-4892-BDD8-D4D6BEABC7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AC7A9E6-8481-4015-9661-6B77ABB086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1B178B-1502-4AD1-820E-70B0ADA842C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04049D8-3FF6-45A6-9120-DE3F2D31EAA2}"/>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52084647-6080-4237-A682-005B3582F78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8B9CAB68-5342-40DA-84A5-D964DF86AC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86EB2143-7085-413D-8DA3-3BFA9F7A3E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4169C21-79BE-47FB-9B5D-0083FA0B9F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2B75AA-3F40-4AAA-A5A0-F9991B034D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203F886-F1E3-4E8C-AC30-5E382EF4458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6B98EE2-162A-48B8-9B8A-2C147C8F2C5C}"/>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6D8107F7-B03B-4054-9FAC-76D0A1038F5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186B067-1526-455E-936E-A404DE85466F}"/>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B795041-EE59-4156-B4B0-2F37E0AE91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6D1F4F02-9F0E-4FAF-9D26-7737E18D0D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9B7F192-AAE6-4A8E-9E94-574B31B3D9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E0B069-2563-4198-B030-AED369ECD8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FA8913EC-85C1-4E31-B9D7-04E8953C3B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9B74E473-E4B8-49BC-9819-B4B6E52CA8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B8800E6-688A-4D8E-949B-EE5518703AA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31DA619-CBFC-42CF-A546-2F9B623D22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94B6BEB6-C591-4C82-8635-6E7546F01A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40EBD360-E36D-4EE2-A2E9-22A9822423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79D68C-C88B-45B8-91C5-95D94B8675A4}"/>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8782A7-AAF8-4F9C-B616-814D38DAA4F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CFAB1D73-0A74-4D08-B463-3D2244EF0F9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85F1725-3D9B-42F0-A6A8-AE4FA9E347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6CD7178C-96A4-4387-AB42-E44CBA85C3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CC1E2BB-36F8-49A6-89F0-B3BA878666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790AEA-581A-4F96-B0D4-0CFB831375A0}"/>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12F81242-A98A-47B9-A3B1-685792370F9F}"/>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FAE4ED6-12F0-4875-9F8F-A9D0D344416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2FC7B73-E20D-49AC-8C30-69B6A82B2E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42C47334-894F-4E1B-AAED-72CD67A49A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4BE87F8-6C01-4D93-B25A-D86B3332C6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3A1B78-2BC4-4016-815E-938FB9194AA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CE35063-44D9-4CC8-A3E4-D5625260B29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FC95596-2D07-4262-AB39-9D29CEEDEA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E139DF82-8C22-4913-B349-2001808EBE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D11E08C-42F9-4D01-8DCB-4BA3E5E728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8570292-0F45-4D4E-A37F-90963AF334E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172E300-C40F-4F25-AA8F-4280EBB69E1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185238E-DCCD-4EAE-BB6B-7ECEAC9D11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83CCE244-1707-4A44-A756-4FF35A42C0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8E49C06-AD57-41AA-9ED2-46DB043C1F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a15f1b8a33459b" /><Relationship Type="http://schemas.openxmlformats.org/officeDocument/2006/relationships/slideLayout" Target="/ppt/slideLayouts/slideLayout1.xml" Id="R6471fba0b1af48c7" /><Relationship Type="http://schemas.openxmlformats.org/officeDocument/2006/relationships/slideLayout" Target="/ppt/slideLayouts/slideLayout2.xml" Id="R7bc3481903854f56" /><Relationship Type="http://schemas.openxmlformats.org/officeDocument/2006/relationships/slideLayout" Target="/ppt/slideLayouts/slideLayout3.xml" Id="R0f3b79295357457f" /><Relationship Type="http://schemas.openxmlformats.org/officeDocument/2006/relationships/slideLayout" Target="/ppt/slideLayouts/slideLayout4.xml" Id="R93d9407a8e5a4adf" /><Relationship Type="http://schemas.openxmlformats.org/officeDocument/2006/relationships/slideLayout" Target="/ppt/slideLayouts/slideLayout5.xml" Id="R0bd680b0f3c744e8" /><Relationship Type="http://schemas.openxmlformats.org/officeDocument/2006/relationships/slideLayout" Target="/ppt/slideLayouts/slideLayout6.xml" Id="Rb7e11dea7b844465" /><Relationship Type="http://schemas.openxmlformats.org/officeDocument/2006/relationships/slideLayout" Target="/ppt/slideLayouts/slideLayout7.xml" Id="Rc7ec02d732de4076" /><Relationship Type="http://schemas.openxmlformats.org/officeDocument/2006/relationships/slideLayout" Target="/ppt/slideLayouts/slideLayout8.xml" Id="Rd6cb88fecd464f0f" /><Relationship Type="http://schemas.openxmlformats.org/officeDocument/2006/relationships/slideLayout" Target="/ppt/slideLayouts/slideLayout9.xml" Id="Rb43edd7cac7543d8" /><Relationship Type="http://schemas.openxmlformats.org/officeDocument/2006/relationships/slideLayout" Target="/ppt/slideLayouts/slideLayout10.xml" Id="R561e4589e88c4c42" /><Relationship Type="http://schemas.openxmlformats.org/officeDocument/2006/relationships/slideLayout" Target="/ppt/slideLayouts/slideLayout11.xml" Id="R38d312bd88014ff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E962B73-C517-45C7-96C6-BD8902FA4D1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06A956E-4F0D-423E-9D77-C3FB818BBFE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4158F9B-9C25-4F01-9F5C-1AF8175FA041}"/>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B6A44BE9-3BA7-48EE-9E18-AF35112D9EF5}"/>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CA1B1DF-846B-4541-9144-EAEA3DD720C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71fba0b1af48c7"/>
    <p:sldLayoutId xmlns:r="http://schemas.openxmlformats.org/officeDocument/2006/relationships" id="2147483650" r:id="R7bc3481903854f56"/>
    <p:sldLayoutId xmlns:r="http://schemas.openxmlformats.org/officeDocument/2006/relationships" id="2147483651" r:id="R0f3b79295357457f"/>
    <p:sldLayoutId xmlns:r="http://schemas.openxmlformats.org/officeDocument/2006/relationships" id="2147483652" r:id="R93d9407a8e5a4adf"/>
    <p:sldLayoutId xmlns:r="http://schemas.openxmlformats.org/officeDocument/2006/relationships" id="2147483653" r:id="R0bd680b0f3c744e8"/>
    <p:sldLayoutId xmlns:r="http://schemas.openxmlformats.org/officeDocument/2006/relationships" id="2147483654" r:id="Rb7e11dea7b844465"/>
    <p:sldLayoutId xmlns:r="http://schemas.openxmlformats.org/officeDocument/2006/relationships" id="2147483655" r:id="Rc7ec02d732de4076"/>
    <p:sldLayoutId xmlns:r="http://schemas.openxmlformats.org/officeDocument/2006/relationships" id="2147483656" r:id="Rd6cb88fecd464f0f"/>
    <p:sldLayoutId xmlns:r="http://schemas.openxmlformats.org/officeDocument/2006/relationships" id="2147483657" r:id="Rb43edd7cac7543d8"/>
    <p:sldLayoutId xmlns:r="http://schemas.openxmlformats.org/officeDocument/2006/relationships" id="2147483658" r:id="R561e4589e88c4c42"/>
    <p:sldLayoutId xmlns:r="http://schemas.openxmlformats.org/officeDocument/2006/relationships" id="2147483659" r:id="R38d312bd88014ffb"/>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a571b6631d14d35" /><Relationship Type="http://schemas.openxmlformats.org/officeDocument/2006/relationships/image" Target="/ppt/media/image.png" Id="Rc7b9974de92e4cb6" /><Relationship Type="http://schemas.openxmlformats.org/officeDocument/2006/relationships/image" Target="/ppt/media/image.jpeg" Id="R32b1f56187414ba7" /><Relationship Type="http://schemas.openxmlformats.org/officeDocument/2006/relationships/notesSlide" Target="/ppt/notesSlides/notesSlide1.xml" Id="Rd0af1d9d821149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79b3cb12fd847d6" /><Relationship Type="http://schemas.openxmlformats.org/officeDocument/2006/relationships/image" Target="/ppt/media/image.jpeg" Id="Rbdad2533820343b4" /><Relationship Type="http://schemas.openxmlformats.org/officeDocument/2006/relationships/notesSlide" Target="/ppt/notesSlides/notesSlide2.xml" Id="Rf74bddaa2c6f4b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264554d73cf94d2c" /><Relationship Type="http://schemas.openxmlformats.org/officeDocument/2006/relationships/image" Target="/ppt/media/image.jpeg" Id="R17265101240142dc" /><Relationship Type="http://schemas.openxmlformats.org/officeDocument/2006/relationships/notesSlide" Target="/ppt/notesSlides/notesSlide3.xml" Id="R3bfbdd41ae0448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1d64d91fa4d44eb8" /><Relationship Type="http://schemas.openxmlformats.org/officeDocument/2006/relationships/image" Target="/ppt/media/image.jpeg" Id="R64b6303d33ff4733" /><Relationship Type="http://schemas.openxmlformats.org/officeDocument/2006/relationships/notesSlide" Target="/ppt/notesSlides/notesSlide4.xml" Id="R66c2ae66fe2449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368668ee55b64c96" /><Relationship Type="http://schemas.openxmlformats.org/officeDocument/2006/relationships/image" Target="/ppt/media/image.jpeg" Id="R42ee802377e449d9" /><Relationship Type="http://schemas.openxmlformats.org/officeDocument/2006/relationships/notesSlide" Target="/ppt/notesSlides/notesSlide5.xml" Id="Ra8386365a8a148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048511fe20c42b9" /><Relationship Type="http://schemas.openxmlformats.org/officeDocument/2006/relationships/image" Target="/ppt/media/image.jpeg" Id="Rf3cc096669964755" /><Relationship Type="http://schemas.openxmlformats.org/officeDocument/2006/relationships/notesSlide" Target="/ppt/notesSlides/notesSlide6.xml" Id="Rbe03ace7243c4f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66d99a7591ee4241" /><Relationship Type="http://schemas.openxmlformats.org/officeDocument/2006/relationships/image" Target="/ppt/media/image.jpeg" Id="R643898eaf26f48a1" /><Relationship Type="http://schemas.openxmlformats.org/officeDocument/2006/relationships/notesSlide" Target="/ppt/notesSlides/notesSlide7.xml" Id="R58a4b22cecae44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d139638e1aa74d35" /><Relationship Type="http://schemas.openxmlformats.org/officeDocument/2006/relationships/image" Target="/ppt/media/image.jpeg" Id="R4c2f6ffcee6148e2" /><Relationship Type="http://schemas.openxmlformats.org/officeDocument/2006/relationships/notesSlide" Target="/ppt/notesSlides/notesSlide8.xml" Id="R9c6d6679ddae47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1107f13e3455456b" /><Relationship Type="http://schemas.openxmlformats.org/officeDocument/2006/relationships/image" Target="/ppt/media/image.jpeg" Id="Rb5e7287254bc4f3e" /><Relationship Type="http://schemas.openxmlformats.org/officeDocument/2006/relationships/notesSlide" Target="/ppt/notesSlides/notesSlide9.xml" Id="Rabbb31d6931049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31339ec50f524d8a" /><Relationship Type="http://schemas.openxmlformats.org/officeDocument/2006/relationships/image" Target="/ppt/media/image.jpeg" Id="R4d9cf4aa58274287" /><Relationship Type="http://schemas.openxmlformats.org/officeDocument/2006/relationships/notesSlide" Target="/ppt/notesSlides/notesSlide10.xml" Id="R2d94c29eb92945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c96f19121fab412d" /><Relationship Type="http://schemas.openxmlformats.org/officeDocument/2006/relationships/image" Target="/ppt/media/image.jpeg" Id="R78bcb4bbb2a949ff" /><Relationship Type="http://schemas.openxmlformats.org/officeDocument/2006/relationships/notesSlide" Target="/ppt/notesSlides/notesSlide11.xml" Id="Re1cb56d9515048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29ab7dd0b3184fd2" /><Relationship Type="http://schemas.openxmlformats.org/officeDocument/2006/relationships/image" Target="/ppt/media/image.jpeg" Id="Rc7acad7ebfa94ac4" /><Relationship Type="http://schemas.openxmlformats.org/officeDocument/2006/relationships/notesSlide" Target="/ppt/notesSlides/notesSlide12.xml" Id="R05710a89dd364c0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33BAF19-EB01-4D82-BDAC-0E61AA6682B1}"/>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lnTo>
                  <a:pt x="0" y="0"/>
                </a:lnTo>
                <a:close/>
              </a:path>
            </a:pathLst>
          </a:custGeom>
          <a:blipFill xmlns:a="http://schemas.openxmlformats.org/drawingml/2006/main">
            <a:blip xmlns:r="http://schemas.openxmlformats.org/officeDocument/2006/relationships" r:embed="Rc7b9974de92e4cb6"/>
            <a:stretch>
              <a:fillRect l="0" t="-26" r="0" b="-26"/>
            </a:stretch>
          </a:blipFill>
        </p:spPr>
      </p:sp>
      <p:sp>
        <p:nvSpPr>
          <p:cNvPr id="5" name="Freeform 5">
            <a:extLst xmlns:a="http://schemas.openxmlformats.org/drawingml/2006/main">
              <a:ext uri="{FF2B5EF4-FFF2-40B4-BE49-F238E27FC236}">
                <a16:creationId xmlns:a16="http://schemas.microsoft.com/office/drawing/2014/main" id="{EACC93F6-B6B4-41EC-9A5C-F4D1466FD840}"/>
              </a:ext>
            </a:extLst>
          </p:cNvPr>
          <p:cNvSpPr>
            <a:spLocks xmlns:a="http://schemas.openxmlformats.org/drawingml/2006/main" noGrp="1"/>
          </p:cNvSpPr>
          <p:nvPr/>
        </p:nvSpPr>
        <p:spPr>
          <a:xfrm xmlns:a="http://schemas.openxmlformats.org/drawingml/2006/main" rot="0" flipH="0" flipV="0">
            <a:off x="0" y="0"/>
            <a:ext cx="11620500" cy="10287000"/>
          </a:xfrm>
          <a:custGeom xmlns:a="http://schemas.openxmlformats.org/drawingml/2006/main">
            <a:rect l="l" t="t" r="r" b="b"/>
            <a:pathLst>
              <a:path w="15494000" h="13716000">
                <a:moveTo>
                  <a:pt x="0" y="0"/>
                </a:moveTo>
                <a:lnTo>
                  <a:pt x="15494000" y="0"/>
                </a:lnTo>
                <a:lnTo>
                  <a:pt x="15494000" y="13716000"/>
                </a:lnTo>
                <a:lnTo>
                  <a:pt x="0" y="13716000"/>
                </a:lnTo>
                <a:close/>
              </a:path>
            </a:pathLst>
          </a:custGeom>
          <a:solidFill xmlns:a="http://schemas.openxmlformats.org/drawingml/2006/main">
            <a:srgbClr val="0A2740">
              <a:alpha val="77255"/>
            </a:srgbClr>
          </a:solidFill>
        </p:spPr>
      </p:sp>
      <p:sp>
        <p:nvSpPr>
          <p:cNvPr id="7" name="Freeform 7">
            <a:extLst xmlns:a="http://schemas.openxmlformats.org/drawingml/2006/main">
              <a:ext uri="{FF2B5EF4-FFF2-40B4-BE49-F238E27FC236}">
                <a16:creationId xmlns:a16="http://schemas.microsoft.com/office/drawing/2014/main" id="{0B5701C5-61AD-4BEB-912E-A843BBF15CF6}"/>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0A2740">
              <a:alpha val="26667"/>
            </a:srgbClr>
          </a:solidFill>
        </p:spPr>
      </p:sp>
      <p:sp>
        <p:nvSpPr>
          <p:cNvPr id="8" name="TextBox 8">
            <a:extLst xmlns:a="http://schemas.openxmlformats.org/drawingml/2006/main">
              <a:ext uri="{FF2B5EF4-FFF2-40B4-BE49-F238E27FC236}">
                <a16:creationId xmlns:a16="http://schemas.microsoft.com/office/drawing/2014/main" id="{372145CF-F692-479E-856D-BD0DA6DFF155}"/>
              </a:ext>
            </a:extLst>
          </p:cNvPr>
          <p:cNvSpPr>
            <a:spLocks xmlns:a="http://schemas.openxmlformats.org/drawingml/2006/main" noGrp="1"/>
          </p:cNvSpPr>
          <p:nvPr/>
        </p:nvSpPr>
        <p:spPr>
          <a:xfrm xmlns:a="http://schemas.openxmlformats.org/drawingml/2006/main" rot="0">
            <a:off x="1104900" y="876300"/>
            <a:ext cx="9144000" cy="29718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340"/>
              </a:lnSpc>
              <a:buNone/>
            </a:pPr>
            <a:r>
              <a:rPr sz="1950" b="1">
                <a:solidFill>
                  <a:srgbClr val="4DCADE"/>
                </a:solidFill>
                <a:latin typeface="Aptos Bold"/>
                <a:ea typeface="Aptos Bold"/>
                <a:cs typeface="Aptos Bold"/>
              </a:rPr>
              <a:t>DSP391M  ·  CAPSTONE CHECKPOINT 1</a:t>
            </a:r>
          </a:p>
        </p:txBody>
      </p:sp>
      <p:sp>
        <p:nvSpPr>
          <p:cNvPr id="10" name="Freeform 10">
            <a:extLst xmlns:a="http://schemas.openxmlformats.org/drawingml/2006/main">
              <a:ext uri="{FF2B5EF4-FFF2-40B4-BE49-F238E27FC236}">
                <a16:creationId xmlns:a16="http://schemas.microsoft.com/office/drawing/2014/main" id="{C888EC66-84E4-4185-8B65-A447B5A72629}"/>
              </a:ext>
            </a:extLst>
          </p:cNvPr>
          <p:cNvSpPr>
            <a:spLocks xmlns:a="http://schemas.openxmlformats.org/drawingml/2006/main" noGrp="1"/>
          </p:cNvSpPr>
          <p:nvPr/>
        </p:nvSpPr>
        <p:spPr>
          <a:xfrm xmlns:a="http://schemas.openxmlformats.org/drawingml/2006/main" rot="0" flipH="0" flipV="0">
            <a:off x="1104900" y="1600200"/>
            <a:ext cx="1371600" cy="95250"/>
          </a:xfrm>
          <a:custGeom xmlns:a="http://schemas.openxmlformats.org/drawingml/2006/main">
            <a:rect l="l" t="t" r="r" b="b"/>
            <a:pathLst>
              <a:path w="1828800" h="127000">
                <a:moveTo>
                  <a:pt x="0" y="0"/>
                </a:moveTo>
                <a:lnTo>
                  <a:pt x="1828800" y="0"/>
                </a:lnTo>
                <a:lnTo>
                  <a:pt x="1828800" y="127000"/>
                </a:lnTo>
                <a:lnTo>
                  <a:pt x="0" y="127000"/>
                </a:lnTo>
                <a:close/>
              </a:path>
            </a:pathLst>
          </a:custGeom>
          <a:solidFill xmlns:a="http://schemas.openxmlformats.org/drawingml/2006/main">
            <a:srgbClr val="4DCADE"/>
          </a:solidFill>
        </p:spPr>
      </p:sp>
      <p:sp>
        <p:nvSpPr>
          <p:cNvPr id="12" name="Freeform 12">
            <a:extLst xmlns:a="http://schemas.openxmlformats.org/drawingml/2006/main">
              <a:ext uri="{FF2B5EF4-FFF2-40B4-BE49-F238E27FC236}">
                <a16:creationId xmlns:a16="http://schemas.microsoft.com/office/drawing/2014/main" id="{DAA11137-5E5E-4E5F-8457-A35AEDF4CD48}"/>
              </a:ext>
            </a:extLst>
          </p:cNvPr>
          <p:cNvSpPr>
            <a:spLocks xmlns:a="http://schemas.openxmlformats.org/drawingml/2006/main" noGrp="1"/>
          </p:cNvSpPr>
          <p:nvPr/>
        </p:nvSpPr>
        <p:spPr>
          <a:xfrm xmlns:a="http://schemas.openxmlformats.org/drawingml/2006/main" rot="0" flipH="0" flipV="0">
            <a:off x="1066800" y="1981200"/>
            <a:ext cx="9735064" cy="4880737"/>
          </a:xfrm>
          <a:custGeom xmlns:a="http://schemas.openxmlformats.org/drawingml/2006/main">
            <a:rect l="l" t="t" r="r" b="b"/>
            <a:pathLst>
              <a:path w="12980086" h="6507649">
                <a:moveTo>
                  <a:pt x="0" y="0"/>
                </a:moveTo>
                <a:lnTo>
                  <a:pt x="12980086" y="0"/>
                </a:lnTo>
                <a:lnTo>
                  <a:pt x="12980086" y="6507649"/>
                </a:lnTo>
                <a:lnTo>
                  <a:pt x="0" y="6507649"/>
                </a:lnTo>
                <a:close/>
              </a:path>
            </a:pathLst>
          </a:custGeom>
          <a:blipFill xmlns:a="http://schemas.openxmlformats.org/drawingml/2006/main">
            <a:blip xmlns:r="http://schemas.openxmlformats.org/officeDocument/2006/relationships" r:embed="R32b1f56187414ba7">
              <a:alphaModFix amt="0"/>
            </a:blip>
            <a:stretch>
              <a:fillRect l="-2516" t="0" r="-16992" b="7106"/>
            </a:stretch>
          </a:blipFill>
        </p:spPr>
      </p:sp>
      <p:sp>
        <p:nvSpPr>
          <p:cNvPr id="13" name="TextBox 13">
            <a:extLst xmlns:a="http://schemas.openxmlformats.org/drawingml/2006/main">
              <a:ext uri="{FF2B5EF4-FFF2-40B4-BE49-F238E27FC236}">
                <a16:creationId xmlns:a16="http://schemas.microsoft.com/office/drawing/2014/main" id="{37E0223E-F83D-4EA6-A8E3-779585320FE3}"/>
              </a:ext>
            </a:extLst>
          </p:cNvPr>
          <p:cNvSpPr>
            <a:spLocks xmlns:a="http://schemas.openxmlformats.org/drawingml/2006/main" noGrp="1"/>
          </p:cNvSpPr>
          <p:nvPr/>
        </p:nvSpPr>
        <p:spPr>
          <a:xfrm xmlns:a="http://schemas.openxmlformats.org/drawingml/2006/main" rot="0" flipH="0" flipV="0">
            <a:off x="1066800" y="2476500"/>
            <a:ext cx="11049000" cy="4143375"/>
          </a:xfrm>
          <a:prstGeom xmlns:a="http://schemas.openxmlformats.org/drawingml/2006/main" prst="rect">
            <a:avLst/>
          </a:prstGeom>
        </p:spPr>
        <p:txBody>
          <a:bodyPr xmlns:a="http://schemas.openxmlformats.org/drawingml/2006/main" lIns="0" tIns="0" rIns="0" bIns="0" anchor="ctr">
            <a:noAutofit/>
          </a:bodyPr>
          <a:lstStyle xmlns:a="http://schemas.openxmlformats.org/drawingml/2006/main"/>
          <a:p xmlns:a="http://schemas.openxmlformats.org/drawingml/2006/main">
            <a:pPr algn="l">
              <a:lnSpc>
                <a:spcPts val="8399"/>
              </a:lnSpc>
              <a:buNone/>
              <a:defRPr sz="7425">
                <a:solidFill>
                  <a:srgbClr val="FFFFFF"/>
                </a:solidFill>
                <a:latin typeface="Anton"/>
                <a:ea typeface="Anton"/>
                <a:cs typeface="Anton"/>
              </a:defRPr>
            </a:pPr>
            <a:r>
              <a:rPr sz="7425">
                <a:solidFill>
                  <a:srgbClr val="FFFFFF"/>
                </a:solidFill>
                <a:latin typeface="Anton"/>
                <a:ea typeface="Anton"/>
                <a:cs typeface="Anton"/>
              </a:rPr>
              <a:t>LIP-SYNC DETECTION</a:t>
            </a:r>
          </a:p>
          <a:p xmlns:a="http://schemas.openxmlformats.org/drawingml/2006/main">
            <a:pPr algn="l">
              <a:lnSpc>
                <a:spcPts val="8399"/>
              </a:lnSpc>
              <a:buNone/>
              <a:defRPr sz="7425">
                <a:solidFill>
                  <a:srgbClr val="FFFFFF"/>
                </a:solidFill>
                <a:latin typeface="Anton"/>
                <a:ea typeface="Anton"/>
                <a:cs typeface="Anton"/>
              </a:defRPr>
            </a:pPr>
            <a:r>
              <a:rPr sz="7425">
                <a:solidFill>
                  <a:srgbClr val="FFFFFF"/>
                </a:solidFill>
                <a:latin typeface="Anton"/>
                <a:ea typeface="Anton"/>
                <a:cs typeface="Anton"/>
              </a:rPr>
              <a:t>IN VIETNAMESE</a:t>
            </a:r>
          </a:p>
          <a:p xmlns:a="http://schemas.openxmlformats.org/drawingml/2006/main">
            <a:pPr algn="l">
              <a:lnSpc>
                <a:spcPts val="8399"/>
              </a:lnSpc>
              <a:buNone/>
              <a:defRPr sz="7425">
                <a:solidFill>
                  <a:srgbClr val="FFFFFF"/>
                </a:solidFill>
                <a:latin typeface="Anton"/>
                <a:ea typeface="Anton"/>
                <a:cs typeface="Anton"/>
              </a:defRPr>
            </a:pPr>
            <a:r>
              <a:rPr sz="7425">
                <a:solidFill>
                  <a:srgbClr val="FFFFFF"/>
                </a:solidFill>
                <a:latin typeface="Anton"/>
                <a:ea typeface="Anton"/>
                <a:cs typeface="Anton"/>
              </a:rPr>
              <a:t>TALKING-HEAD VIDEO</a:t>
            </a:r>
          </a:p>
        </p:txBody>
      </p:sp>
      <p:sp>
        <p:nvSpPr>
          <p:cNvPr id="14" name="TextBox 14">
            <a:extLst xmlns:a="http://schemas.openxmlformats.org/drawingml/2006/main">
              <a:ext uri="{FF2B5EF4-FFF2-40B4-BE49-F238E27FC236}">
                <a16:creationId xmlns:a16="http://schemas.microsoft.com/office/drawing/2014/main" id="{1C037BBF-2AD0-4FDA-A380-7F53463A6490}"/>
              </a:ext>
            </a:extLst>
          </p:cNvPr>
          <p:cNvSpPr>
            <a:spLocks xmlns:a="http://schemas.openxmlformats.org/drawingml/2006/main" noGrp="1"/>
          </p:cNvSpPr>
          <p:nvPr/>
        </p:nvSpPr>
        <p:spPr>
          <a:xfrm xmlns:a="http://schemas.openxmlformats.org/drawingml/2006/main" rot="0">
            <a:off x="1123950" y="7572375"/>
            <a:ext cx="10953750" cy="7620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790"/>
              </a:lnSpc>
              <a:buNone/>
              <a:defRPr sz="2550">
                <a:solidFill>
                  <a:srgbClr val="FFFFFF"/>
                </a:solidFill>
                <a:latin typeface="Aptos"/>
                <a:ea typeface="Aptos"/>
                <a:cs typeface="Aptos"/>
              </a:defRPr>
            </a:pPr>
            <a:r>
              <a:rPr sz="2550">
                <a:solidFill>
                  <a:srgbClr val="FFFFFF"/>
                </a:solidFill>
                <a:latin typeface="Aptos"/>
                <a:ea typeface="Aptos"/>
                <a:cs typeface="Aptos"/>
              </a:rPr>
              <a:t>AV-HuBERT with compression-consistent training</a:t>
            </a:r>
          </a:p>
        </p:txBody>
      </p:sp>
      <p:sp>
        <p:nvSpPr>
          <p:cNvPr id="15" name="TextBox 15">
            <a:extLst xmlns:a="http://schemas.openxmlformats.org/drawingml/2006/main">
              <a:ext uri="{FF2B5EF4-FFF2-40B4-BE49-F238E27FC236}">
                <a16:creationId xmlns:a16="http://schemas.microsoft.com/office/drawing/2014/main" id="{2890F995-BDAF-46DC-B5BF-60717587F739}"/>
              </a:ext>
            </a:extLst>
          </p:cNvPr>
          <p:cNvSpPr>
            <a:spLocks xmlns:a="http://schemas.openxmlformats.org/drawingml/2006/main" noGrp="1"/>
          </p:cNvSpPr>
          <p:nvPr/>
        </p:nvSpPr>
        <p:spPr>
          <a:xfrm xmlns:a="http://schemas.openxmlformats.org/drawingml/2006/main" rot="0">
            <a:off x="1123950" y="9029700"/>
            <a:ext cx="12382500" cy="2628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070"/>
              </a:lnSpc>
              <a:buNone/>
            </a:pPr>
            <a:r>
              <a:rPr sz="1725" b="1">
                <a:solidFill>
                  <a:srgbClr val="FFFFFF"/>
                </a:solidFill>
                <a:latin typeface="Aptos Bold"/>
                <a:ea typeface="Aptos Bold"/>
                <a:cs typeface="Aptos Bold"/>
              </a:rPr>
              <a:t>NGUYEN VAN LINH  ·  NGUYEN LAM ANH  ·  NGUYEN MINH NHAT</a:t>
            </a:r>
          </a:p>
        </p:txBody>
      </p:sp>
      <p:sp>
        <p:nvSpPr>
          <p:cNvPr id="16" name="TextBox 16">
            <a:extLst xmlns:a="http://schemas.openxmlformats.org/drawingml/2006/main">
              <a:ext uri="{FF2B5EF4-FFF2-40B4-BE49-F238E27FC236}">
                <a16:creationId xmlns:a16="http://schemas.microsoft.com/office/drawing/2014/main" id="{D31B9A94-EF95-42AE-BB35-A4D5D67FC569}"/>
              </a:ext>
            </a:extLst>
          </p:cNvPr>
          <p:cNvSpPr>
            <a:spLocks xmlns:a="http://schemas.openxmlformats.org/drawingml/2006/main" noGrp="1"/>
          </p:cNvSpPr>
          <p:nvPr/>
        </p:nvSpPr>
        <p:spPr>
          <a:xfrm xmlns:a="http://schemas.openxmlformats.org/drawingml/2006/main" rot="0">
            <a:off x="1123950" y="9486900"/>
            <a:ext cx="4953000" cy="239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889"/>
              </a:lnSpc>
              <a:buNone/>
            </a:pPr>
            <a:r>
              <a:rPr sz="1575">
                <a:solidFill>
                  <a:srgbClr val="4DCADE"/>
                </a:solidFill>
                <a:latin typeface="Aptos"/>
                <a:ea typeface="Aptos"/>
                <a:cs typeface="Aptos"/>
              </a:rPr>
              <a:t>FPT UNIVERSITY</a:t>
            </a:r>
          </a:p>
        </p:txBody>
      </p:sp>
    </p:spTree>
    <p:extLst>
      <p:ext uri="{BB962C8B-B14F-4D97-AF65-F5344CB8AC3E}">
        <p14:creationId xmlns:p14="http://schemas.microsoft.com/office/powerpoint/2010/main" val="17262914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bdad2533820343b4">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bdad2533820343b4">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bdad2533820343b4">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52400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bdad2533820343b4">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bdad2533820343b4">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bdad2533820343b4">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02</a:t>
            </a:r>
          </a:p>
        </p:txBody>
      </p:sp>
      <p:sp>
        <p:nvSpPr>
          <p:cNvPr id="31" name="Freeform 31">
            <a:extLst xmlns:a="http://schemas.openxmlformats.org/drawingml/2006/main">
              <a:ext uri="{FF2B5EF4-FFF2-40B4-BE49-F238E27FC236}">
                <a16:creationId xmlns:a16="http://schemas.microsoft.com/office/drawing/2014/main" id="{A5FAAF27-D7D2-455B-B8AA-65BE19596F42}"/>
              </a:ext>
            </a:extLst>
          </p:cNvPr>
          <p:cNvSpPr>
            <a:spLocks xmlns:a="http://schemas.openxmlformats.org/drawingml/2006/main" noGrp="1"/>
          </p:cNvSpPr>
          <p:nvPr/>
        </p:nvSpPr>
        <p:spPr>
          <a:xfrm xmlns:a="http://schemas.openxmlformats.org/drawingml/2006/main" rot="0" flipH="0" flipV="0">
            <a:off x="10191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E7F5F9"/>
          </a:solidFill>
          <a:ln xmlns:a="http://schemas.openxmlformats.org/drawingml/2006/main" w="19050">
            <a:solidFill>
              <a:srgbClr val="CCDDE4"/>
            </a:solidFill>
            <a:prstDash val="solid"/>
          </a:ln>
        </p:spPr>
      </p:sp>
      <p:sp>
        <p:nvSpPr>
          <p:cNvPr id="36" name="Freeform 36">
            <a:extLst xmlns:a="http://schemas.openxmlformats.org/drawingml/2006/main">
              <a:ext uri="{FF2B5EF4-FFF2-40B4-BE49-F238E27FC236}">
                <a16:creationId xmlns:a16="http://schemas.microsoft.com/office/drawing/2014/main" id="{94EE5536-23C1-459D-A092-D21ECE3C57E2}"/>
              </a:ext>
            </a:extLst>
          </p:cNvPr>
          <p:cNvSpPr>
            <a:spLocks xmlns:a="http://schemas.openxmlformats.org/drawingml/2006/main" noGrp="1"/>
          </p:cNvSpPr>
          <p:nvPr/>
        </p:nvSpPr>
        <p:spPr>
          <a:xfrm xmlns:a="http://schemas.openxmlformats.org/drawingml/2006/main" rot="0" flipH="0" flipV="0">
            <a:off x="94392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F4F9FB"/>
          </a:solidFill>
          <a:ln xmlns:a="http://schemas.openxmlformats.org/drawingml/2006/main" w="19050">
            <a:solidFill>
              <a:srgbClr val="CCDDE4"/>
            </a:solidFill>
            <a:prstDash val="solid"/>
          </a:ln>
        </p:spPr>
      </p:sp>
      <p:sp>
        <p:nvSpPr>
          <p:cNvPr id="37" name="02  /  BÀI TOÁN">
            <a:extLst xmlns:a="http://schemas.openxmlformats.org/drawingml/2006/main">
              <a:ext uri="{FF2B5EF4-FFF2-40B4-BE49-F238E27FC236}">
                <a16:creationId xmlns:a16="http://schemas.microsoft.com/office/drawing/2014/main" id="{144A637D-AF10-45F8-8F85-4ADB39819256}"/>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02  /  PROBLEM</a:t>
            </a:r>
          </a:p>
        </p:txBody>
      </p:sp>
      <p:sp>
        <p:nvSpPr>
          <p:cNvPr id="38" name="CÂU HỎI NGHIÊN CỨU">
            <a:extLst xmlns:a="http://schemas.openxmlformats.org/drawingml/2006/main">
              <a:ext uri="{FF2B5EF4-FFF2-40B4-BE49-F238E27FC236}">
                <a16:creationId xmlns:a16="http://schemas.microsoft.com/office/drawing/2014/main" id="{C43737CF-90FA-4EE2-923F-438D183A800A}"/>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RESEARCH QUESTION</a:t>
            </a:r>
          </a:p>
        </p:txBody>
      </p:sp>
      <p:sp>
        <p:nvSpPr>
          <p:cNvPr id="39" name="ĐẦU VÀO &amp; ĐẦU RA">
            <a:extLst xmlns:a="http://schemas.openxmlformats.org/drawingml/2006/main">
              <a:ext uri="{FF2B5EF4-FFF2-40B4-BE49-F238E27FC236}">
                <a16:creationId xmlns:a16="http://schemas.microsoft.com/office/drawing/2014/main" id="{7840836A-C4B8-4A26-8E8D-19661FE35162}"/>
              </a:ext>
            </a:extLst>
          </p:cNvPr>
          <p:cNvSpPr>
            <a:spLocks xmlns:a="http://schemas.openxmlformats.org/drawingml/2006/main" noGrp="1"/>
          </p:cNvSpPr>
          <p:nvPr/>
        </p:nvSpPr>
        <p:spPr>
          <a:xfrm xmlns:a="http://schemas.openxmlformats.org/drawingml/2006/main">
            <a:off x="1476375"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0A2740"/>
                </a:solidFill>
                <a:latin typeface="Anton"/>
                <a:ea typeface="Anton"/>
                <a:cs typeface="Anton"/>
              </a:defRPr>
            </a:pPr>
            <a:r>
              <a:rPr sz="3675" b="0">
                <a:solidFill>
                  <a:srgbClr val="0A2740"/>
                </a:solidFill>
                <a:latin typeface="Anton"/>
                <a:ea typeface="Anton"/>
                <a:cs typeface="Anton"/>
              </a:rPr>
              <a:t>INPUT &amp; OUTPUT</a:t>
            </a:r>
          </a:p>
        </p:txBody>
      </p:sp>
      <p:sp>
        <p:nvSpPr>
          <p:cNvPr id="40" name="Video một người nói tiếng Việt">
            <a:extLst xmlns:a="http://schemas.openxmlformats.org/drawingml/2006/main">
              <a:ext uri="{FF2B5EF4-FFF2-40B4-BE49-F238E27FC236}">
                <a16:creationId xmlns:a16="http://schemas.microsoft.com/office/drawing/2014/main" id="{A1DB39B3-C722-447E-84A1-26D2FFEAC9AA}"/>
              </a:ext>
            </a:extLst>
          </p:cNvPr>
          <p:cNvSpPr>
            <a:spLocks xmlns:a="http://schemas.openxmlformats.org/drawingml/2006/main" noGrp="1"/>
          </p:cNvSpPr>
          <p:nvPr/>
        </p:nvSpPr>
        <p:spPr>
          <a:xfrm xmlns:a="http://schemas.openxmlformats.org/drawingml/2006/main">
            <a:off x="1476375"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Single-speaker Vietnamese video</a:t>
            </a:r>
          </a:p>
        </p:txBody>
      </p:sp>
      <p:sp>
        <p:nvSpPr>
          <p:cNvPr id="41" name="Có audio và nhìn thấy vùng miệng">
            <a:extLst xmlns:a="http://schemas.openxmlformats.org/drawingml/2006/main">
              <a:ext uri="{FF2B5EF4-FFF2-40B4-BE49-F238E27FC236}">
                <a16:creationId xmlns:a16="http://schemas.microsoft.com/office/drawing/2014/main" id="{1735F44C-6414-4EFD-A014-D290DFB8DCD2}"/>
              </a:ext>
            </a:extLst>
          </p:cNvPr>
          <p:cNvSpPr>
            <a:spLocks xmlns:a="http://schemas.openxmlformats.org/drawingml/2006/main" noGrp="1"/>
          </p:cNvSpPr>
          <p:nvPr/>
        </p:nvSpPr>
        <p:spPr>
          <a:xfrm xmlns:a="http://schemas.openxmlformats.org/drawingml/2006/main">
            <a:off x="1476375"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Audio present, mouth clearly visible</a:t>
            </a:r>
          </a:p>
        </p:txBody>
      </p:sp>
      <p:sp>
        <p:nvSpPr>
          <p:cNvPr id="42" name="Phân loại đoạn video Real / Fake">
            <a:extLst xmlns:a="http://schemas.openxmlformats.org/drawingml/2006/main">
              <a:ext uri="{FF2B5EF4-FFF2-40B4-BE49-F238E27FC236}">
                <a16:creationId xmlns:a16="http://schemas.microsoft.com/office/drawing/2014/main" id="{8FDC33A9-A971-47F4-9F75-3BA39C2276B7}"/>
              </a:ext>
            </a:extLst>
          </p:cNvPr>
          <p:cNvSpPr>
            <a:spLocks xmlns:a="http://schemas.openxmlformats.org/drawingml/2006/main" noGrp="1"/>
          </p:cNvSpPr>
          <p:nvPr/>
        </p:nvSpPr>
        <p:spPr>
          <a:xfrm xmlns:a="http://schemas.openxmlformats.org/drawingml/2006/main">
            <a:off x="1476375"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Clip-level Real / Fake classification</a:t>
            </a:r>
          </a:p>
        </p:txBody>
      </p:sp>
      <p:sp>
        <p:nvSpPr>
          <p:cNvPr id="43" name="Điểm fake theo ngưỡng validation">
            <a:extLst xmlns:a="http://schemas.openxmlformats.org/drawingml/2006/main">
              <a:ext uri="{FF2B5EF4-FFF2-40B4-BE49-F238E27FC236}">
                <a16:creationId xmlns:a16="http://schemas.microsoft.com/office/drawing/2014/main" id="{8928AF5F-F6AB-427F-8956-F0F9B1B0AD20}"/>
              </a:ext>
            </a:extLst>
          </p:cNvPr>
          <p:cNvSpPr>
            <a:spLocks xmlns:a="http://schemas.openxmlformats.org/drawingml/2006/main" noGrp="1"/>
          </p:cNvSpPr>
          <p:nvPr/>
        </p:nvSpPr>
        <p:spPr>
          <a:xfrm xmlns:a="http://schemas.openxmlformats.org/drawingml/2006/main">
            <a:off x="1476375"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Fake score with a validation threshold</a:t>
            </a:r>
          </a:p>
        </p:txBody>
      </p:sp>
      <p:sp>
        <p:nvSpPr>
          <p:cNvPr id="44" name="GIẢ THUYẾT CẦN KIỂM CHỨNG">
            <a:extLst xmlns:a="http://schemas.openxmlformats.org/drawingml/2006/main">
              <a:ext uri="{FF2B5EF4-FFF2-40B4-BE49-F238E27FC236}">
                <a16:creationId xmlns:a16="http://schemas.microsoft.com/office/drawing/2014/main" id="{74C73F63-D373-4750-A672-9EBE5563AC11}"/>
              </a:ext>
            </a:extLst>
          </p:cNvPr>
          <p:cNvSpPr>
            <a:spLocks xmlns:a="http://schemas.openxmlformats.org/drawingml/2006/main" noGrp="1"/>
          </p:cNvSpPr>
          <p:nvPr/>
        </p:nvSpPr>
        <p:spPr>
          <a:xfrm xmlns:a="http://schemas.openxmlformats.org/drawingml/2006/main">
            <a:off x="9906000"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0A2740"/>
                </a:solidFill>
                <a:latin typeface="Anton"/>
                <a:ea typeface="Anton"/>
                <a:cs typeface="Anton"/>
              </a:defRPr>
            </a:pPr>
            <a:r>
              <a:rPr sz="3675" b="0">
                <a:solidFill>
                  <a:srgbClr val="0A2740"/>
                </a:solidFill>
                <a:latin typeface="Anton"/>
                <a:ea typeface="Anton"/>
                <a:cs typeface="Anton"/>
              </a:rPr>
              <a:t>RESEARCH HYPOTHESIS</a:t>
            </a:r>
          </a:p>
        </p:txBody>
      </p:sp>
      <p:sp>
        <p:nvSpPr>
          <p:cNvPr id="45" name="Kết hợp audio và hình ảnh vùng miện">
            <a:extLst xmlns:a="http://schemas.openxmlformats.org/drawingml/2006/main">
              <a:ext uri="{FF2B5EF4-FFF2-40B4-BE49-F238E27FC236}">
                <a16:creationId xmlns:a16="http://schemas.microsoft.com/office/drawing/2014/main" id="{CC4D9BC3-8ABA-4C5B-AE46-7CD9B607C4E8}"/>
              </a:ext>
            </a:extLst>
          </p:cNvPr>
          <p:cNvSpPr>
            <a:spLocks xmlns:a="http://schemas.openxmlformats.org/drawingml/2006/main" noGrp="1"/>
          </p:cNvSpPr>
          <p:nvPr/>
        </p:nvSpPr>
        <p:spPr>
          <a:xfrm xmlns:a="http://schemas.openxmlformats.org/drawingml/2006/main">
            <a:off x="9906000"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Combine audio and mouth appearance</a:t>
            </a:r>
          </a:p>
        </p:txBody>
      </p:sp>
      <p:sp>
        <p:nvSpPr>
          <p:cNvPr id="46" name="X thêm yêu cầu nhất quán qua nén">
            <a:extLst xmlns:a="http://schemas.openxmlformats.org/drawingml/2006/main">
              <a:ext uri="{FF2B5EF4-FFF2-40B4-BE49-F238E27FC236}">
                <a16:creationId xmlns:a16="http://schemas.microsoft.com/office/drawing/2014/main" id="{3D97503B-F183-4216-9C32-95584E47D791}"/>
              </a:ext>
            </a:extLst>
          </p:cNvPr>
          <p:cNvSpPr>
            <a:spLocks xmlns:a="http://schemas.openxmlformats.org/drawingml/2006/main" noGrp="1"/>
          </p:cNvSpPr>
          <p:nvPr/>
        </p:nvSpPr>
        <p:spPr>
          <a:xfrm xmlns:a="http://schemas.openxmlformats.org/drawingml/2006/main">
            <a:off x="9906000"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X adds consistency across compression</a:t>
            </a:r>
          </a:p>
        </p:txBody>
      </p:sp>
      <p:sp>
        <p:nvSpPr>
          <p:cNvPr id="47" name="So với cùng detector baseline Y">
            <a:extLst xmlns:a="http://schemas.openxmlformats.org/drawingml/2006/main">
              <a:ext uri="{FF2B5EF4-FFF2-40B4-BE49-F238E27FC236}">
                <a16:creationId xmlns:a16="http://schemas.microsoft.com/office/drawing/2014/main" id="{18A0BC20-1B36-45BC-866D-C45154F4D0EC}"/>
              </a:ext>
            </a:extLst>
          </p:cNvPr>
          <p:cNvSpPr>
            <a:spLocks xmlns:a="http://schemas.openxmlformats.org/drawingml/2006/main" noGrp="1"/>
          </p:cNvSpPr>
          <p:nvPr/>
        </p:nvSpPr>
        <p:spPr>
          <a:xfrm xmlns:a="http://schemas.openxmlformats.org/drawingml/2006/main">
            <a:off x="9906000"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Compare with the same baseline Y</a:t>
            </a:r>
          </a:p>
        </p:txBody>
      </p:sp>
      <p:sp>
        <p:nvSpPr>
          <p:cNvPr id="48" name="Test riêng generator và mức nén">
            <a:extLst xmlns:a="http://schemas.openxmlformats.org/drawingml/2006/main">
              <a:ext uri="{FF2B5EF4-FFF2-40B4-BE49-F238E27FC236}">
                <a16:creationId xmlns:a16="http://schemas.microsoft.com/office/drawing/2014/main" id="{2A8A7A4B-5A58-427B-81DD-062832AC05A6}"/>
              </a:ext>
            </a:extLst>
          </p:cNvPr>
          <p:cNvSpPr>
            <a:spLocks xmlns:a="http://schemas.openxmlformats.org/drawingml/2006/main" noGrp="1"/>
          </p:cNvSpPr>
          <p:nvPr/>
        </p:nvSpPr>
        <p:spPr>
          <a:xfrm xmlns:a="http://schemas.openxmlformats.org/drawingml/2006/main">
            <a:off x="9906000"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Report by generator and compression</a:t>
            </a:r>
          </a:p>
        </p:txBody>
      </p:sp>
      <p:sp>
        <p:nvSpPr>
          <p:cNvPr id="49" name="Mục tiêu: kiểm chứng lợi ích của X ">
            <a:extLst xmlns:a="http://schemas.openxmlformats.org/drawingml/2006/main">
              <a:ext uri="{FF2B5EF4-FFF2-40B4-BE49-F238E27FC236}">
                <a16:creationId xmlns:a16="http://schemas.microsoft.com/office/drawing/2014/main" id="{4035F8AC-4697-45AB-A4DF-D8AD930A9227}"/>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86B8A"/>
                </a:solidFill>
                <a:latin typeface="Aptos"/>
                <a:ea typeface="Aptos"/>
                <a:cs typeface="Aptos"/>
              </a:defRPr>
            </a:pPr>
            <a:r>
              <a:rPr sz="2025" b="0">
                <a:solidFill>
                  <a:srgbClr val="286B8A"/>
                </a:solidFill>
                <a:latin typeface="Aptos"/>
                <a:ea typeface="Aptos"/>
                <a:cs typeface="Aptos"/>
              </a:rPr>
              <a:t>Goal: test whether X improves Y under a fixed protocol. Detector results are pending.</a:t>
            </a:r>
          </a:p>
        </p:txBody>
      </p:sp>
    </p:spTree>
    <p:extLst>
      <p:ext uri="{BB962C8B-B14F-4D97-AF65-F5344CB8AC3E}">
        <p14:creationId xmlns:p14="http://schemas.microsoft.com/office/powerpoint/2010/main" val="24918661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17265101240142dc">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17265101240142dc">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17265101240142dc">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46672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17265101240142dc">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17265101240142dc">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17265101240142dc">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03</a:t>
            </a:r>
          </a:p>
        </p:txBody>
      </p:sp>
      <p:sp>
        <p:nvSpPr>
          <p:cNvPr id="31" name="Freeform 31">
            <a:extLst xmlns:a="http://schemas.openxmlformats.org/drawingml/2006/main">
              <a:ext uri="{FF2B5EF4-FFF2-40B4-BE49-F238E27FC236}">
                <a16:creationId xmlns:a16="http://schemas.microsoft.com/office/drawing/2014/main" id="{A5FAAF27-D7D2-455B-B8AA-65BE19596F42}"/>
              </a:ext>
            </a:extLst>
          </p:cNvPr>
          <p:cNvSpPr>
            <a:spLocks xmlns:a="http://schemas.openxmlformats.org/drawingml/2006/main" noGrp="1"/>
          </p:cNvSpPr>
          <p:nvPr/>
        </p:nvSpPr>
        <p:spPr>
          <a:xfrm xmlns:a="http://schemas.openxmlformats.org/drawingml/2006/main" rot="0" flipH="0" flipV="0">
            <a:off x="10191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E7F5F9"/>
          </a:solidFill>
          <a:ln xmlns:a="http://schemas.openxmlformats.org/drawingml/2006/main" w="19050">
            <a:solidFill>
              <a:srgbClr val="CCDDE4"/>
            </a:solidFill>
            <a:prstDash val="solid"/>
          </a:ln>
        </p:spPr>
      </p:sp>
      <p:sp>
        <p:nvSpPr>
          <p:cNvPr id="36" name="Freeform 36">
            <a:extLst xmlns:a="http://schemas.openxmlformats.org/drawingml/2006/main">
              <a:ext uri="{FF2B5EF4-FFF2-40B4-BE49-F238E27FC236}">
                <a16:creationId xmlns:a16="http://schemas.microsoft.com/office/drawing/2014/main" id="{94EE5536-23C1-459D-A092-D21ECE3C57E2}"/>
              </a:ext>
            </a:extLst>
          </p:cNvPr>
          <p:cNvSpPr>
            <a:spLocks xmlns:a="http://schemas.openxmlformats.org/drawingml/2006/main" noGrp="1"/>
          </p:cNvSpPr>
          <p:nvPr/>
        </p:nvSpPr>
        <p:spPr>
          <a:xfrm xmlns:a="http://schemas.openxmlformats.org/drawingml/2006/main" rot="0" flipH="0" flipV="0">
            <a:off x="94392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F4F9FB"/>
          </a:solidFill>
          <a:ln xmlns:a="http://schemas.openxmlformats.org/drawingml/2006/main" w="19050">
            <a:solidFill>
              <a:srgbClr val="CCDDE4"/>
            </a:solidFill>
            <a:prstDash val="solid"/>
          </a:ln>
        </p:spPr>
      </p:sp>
      <p:sp>
        <p:nvSpPr>
          <p:cNvPr id="37" name="03  /  PHẠM VI">
            <a:extLst xmlns:a="http://schemas.openxmlformats.org/drawingml/2006/main">
              <a:ext uri="{FF2B5EF4-FFF2-40B4-BE49-F238E27FC236}">
                <a16:creationId xmlns:a16="http://schemas.microsoft.com/office/drawing/2014/main" id="{7C310714-467D-40FA-9F20-B6B3517DF501}"/>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03  /  SCOPE</a:t>
            </a:r>
          </a:p>
        </p:txBody>
      </p:sp>
      <p:sp>
        <p:nvSpPr>
          <p:cNvPr id="38" name="PHẠM VI NGHIÊN CỨU">
            <a:extLst xmlns:a="http://schemas.openxmlformats.org/drawingml/2006/main">
              <a:ext uri="{FF2B5EF4-FFF2-40B4-BE49-F238E27FC236}">
                <a16:creationId xmlns:a16="http://schemas.microsoft.com/office/drawing/2014/main" id="{64DD08F7-61C4-4D54-8A67-3AFE79ADE8CD}"/>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RESEARCH SCOPE</a:t>
            </a:r>
          </a:p>
        </p:txBody>
      </p:sp>
      <p:sp>
        <p:nvSpPr>
          <p:cNvPr id="39" name="IN SCOPE">
            <a:extLst xmlns:a="http://schemas.openxmlformats.org/drawingml/2006/main">
              <a:ext uri="{FF2B5EF4-FFF2-40B4-BE49-F238E27FC236}">
                <a16:creationId xmlns:a16="http://schemas.microsoft.com/office/drawing/2014/main" id="{2C28BF50-8FDB-4A38-A49B-60894236E881}"/>
              </a:ext>
            </a:extLst>
          </p:cNvPr>
          <p:cNvSpPr>
            <a:spLocks xmlns:a="http://schemas.openxmlformats.org/drawingml/2006/main" noGrp="1"/>
          </p:cNvSpPr>
          <p:nvPr/>
        </p:nvSpPr>
        <p:spPr>
          <a:xfrm xmlns:a="http://schemas.openxmlformats.org/drawingml/2006/main">
            <a:off x="1476375"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0A2740"/>
                </a:solidFill>
                <a:latin typeface="Anton"/>
                <a:ea typeface="Anton"/>
                <a:cs typeface="Anton"/>
              </a:defRPr>
            </a:pPr>
            <a:r>
              <a:rPr sz="3675" b="0">
                <a:solidFill>
                  <a:srgbClr val="0A2740"/>
                </a:solidFill>
                <a:latin typeface="Anton"/>
                <a:ea typeface="Anton"/>
                <a:cs typeface="Anton"/>
              </a:rPr>
              <a:t>IN SCOPE</a:t>
            </a:r>
          </a:p>
        </p:txBody>
      </p:sp>
      <p:sp>
        <p:nvSpPr>
          <p:cNvPr id="40" name="Một người nói, vùng miệng rõ">
            <a:extLst xmlns:a="http://schemas.openxmlformats.org/drawingml/2006/main">
              <a:ext uri="{FF2B5EF4-FFF2-40B4-BE49-F238E27FC236}">
                <a16:creationId xmlns:a16="http://schemas.microsoft.com/office/drawing/2014/main" id="{0A57A988-AF20-4706-AD24-10675A370A35}"/>
              </a:ext>
            </a:extLst>
          </p:cNvPr>
          <p:cNvSpPr>
            <a:spLocks xmlns:a="http://schemas.openxmlformats.org/drawingml/2006/main" noGrp="1"/>
          </p:cNvSpPr>
          <p:nvPr/>
        </p:nvSpPr>
        <p:spPr>
          <a:xfrm xmlns:a="http://schemas.openxmlformats.org/drawingml/2006/main">
            <a:off x="1476375"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One speaker with a visible mouth</a:t>
            </a:r>
          </a:p>
        </p:txBody>
      </p:sp>
      <p:sp>
        <p:nvSpPr>
          <p:cNvPr id="41" name="Lip-sync manipulation tiếng Việt">
            <a:extLst xmlns:a="http://schemas.openxmlformats.org/drawingml/2006/main">
              <a:ext uri="{FF2B5EF4-FFF2-40B4-BE49-F238E27FC236}">
                <a16:creationId xmlns:a16="http://schemas.microsoft.com/office/drawing/2014/main" id="{9DBD1211-C0BF-4907-9BA5-9AE61EB31102}"/>
              </a:ext>
            </a:extLst>
          </p:cNvPr>
          <p:cNvSpPr>
            <a:spLocks xmlns:a="http://schemas.openxmlformats.org/drawingml/2006/main" noGrp="1"/>
          </p:cNvSpPr>
          <p:nvPr/>
        </p:nvSpPr>
        <p:spPr>
          <a:xfrm xmlns:a="http://schemas.openxmlformats.org/drawingml/2006/main">
            <a:off x="1476375"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Vietnamese lip-sync manipulation</a:t>
            </a:r>
          </a:p>
        </p:txBody>
      </p:sp>
      <p:sp>
        <p:nvSpPr>
          <p:cNvPr id="42" name="Audio–visual, phân loại theo đoạn">
            <a:extLst xmlns:a="http://schemas.openxmlformats.org/drawingml/2006/main">
              <a:ext uri="{FF2B5EF4-FFF2-40B4-BE49-F238E27FC236}">
                <a16:creationId xmlns:a16="http://schemas.microsoft.com/office/drawing/2014/main" id="{04E28FA2-9033-4E8A-9BC4-F09B8396C96B}"/>
              </a:ext>
            </a:extLst>
          </p:cNvPr>
          <p:cNvSpPr>
            <a:spLocks xmlns:a="http://schemas.openxmlformats.org/drawingml/2006/main" noGrp="1"/>
          </p:cNvSpPr>
          <p:nvPr/>
        </p:nvSpPr>
        <p:spPr>
          <a:xfrm xmlns:a="http://schemas.openxmlformats.org/drawingml/2006/main">
            <a:off x="1476375"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Audio–visual clip classification</a:t>
            </a:r>
          </a:p>
        </p:txBody>
      </p:sp>
      <p:sp>
        <p:nvSpPr>
          <p:cNvPr id="43" name="Offline, nguồn tối đa 1080p">
            <a:extLst xmlns:a="http://schemas.openxmlformats.org/drawingml/2006/main">
              <a:ext uri="{FF2B5EF4-FFF2-40B4-BE49-F238E27FC236}">
                <a16:creationId xmlns:a16="http://schemas.microsoft.com/office/drawing/2014/main" id="{2FFE87AC-9E84-4EB1-87EF-741650FD6453}"/>
              </a:ext>
            </a:extLst>
          </p:cNvPr>
          <p:cNvSpPr>
            <a:spLocks xmlns:a="http://schemas.openxmlformats.org/drawingml/2006/main" noGrp="1"/>
          </p:cNvSpPr>
          <p:nvPr/>
        </p:nvSpPr>
        <p:spPr>
          <a:xfrm xmlns:a="http://schemas.openxmlformats.org/drawingml/2006/main">
            <a:off x="1476375"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Offline analysis, up to 1080p sources</a:t>
            </a:r>
          </a:p>
        </p:txBody>
      </p:sp>
      <p:sp>
        <p:nvSpPr>
          <p:cNvPr id="44" name="Generator khác và video bị nén">
            <a:extLst xmlns:a="http://schemas.openxmlformats.org/drawingml/2006/main">
              <a:ext uri="{FF2B5EF4-FFF2-40B4-BE49-F238E27FC236}">
                <a16:creationId xmlns:a16="http://schemas.microsoft.com/office/drawing/2014/main" id="{967220C9-9055-478B-A10E-40F2A5340437}"/>
              </a:ext>
            </a:extLst>
          </p:cNvPr>
          <p:cNvSpPr>
            <a:spLocks xmlns:a="http://schemas.openxmlformats.org/drawingml/2006/main" noGrp="1"/>
          </p:cNvSpPr>
          <p:nvPr/>
        </p:nvSpPr>
        <p:spPr>
          <a:xfrm xmlns:a="http://schemas.openxmlformats.org/drawingml/2006/main">
            <a:off x="1476375" y="82105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Cross-generator and compression tests</a:t>
            </a:r>
          </a:p>
        </p:txBody>
      </p:sp>
      <p:sp>
        <p:nvSpPr>
          <p:cNvPr id="45" name="OUT OF SCOPE">
            <a:extLst xmlns:a="http://schemas.openxmlformats.org/drawingml/2006/main">
              <a:ext uri="{FF2B5EF4-FFF2-40B4-BE49-F238E27FC236}">
                <a16:creationId xmlns:a16="http://schemas.microsoft.com/office/drawing/2014/main" id="{4830D17E-42F0-4131-8C2C-789A77196AC7}"/>
              </a:ext>
            </a:extLst>
          </p:cNvPr>
          <p:cNvSpPr>
            <a:spLocks xmlns:a="http://schemas.openxmlformats.org/drawingml/2006/main" noGrp="1"/>
          </p:cNvSpPr>
          <p:nvPr/>
        </p:nvSpPr>
        <p:spPr>
          <a:xfrm xmlns:a="http://schemas.openxmlformats.org/drawingml/2006/main">
            <a:off x="9906000"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0A2740"/>
                </a:solidFill>
                <a:latin typeface="Anton"/>
                <a:ea typeface="Anton"/>
                <a:cs typeface="Anton"/>
              </a:defRPr>
            </a:pPr>
            <a:r>
              <a:rPr sz="3675" b="0">
                <a:solidFill>
                  <a:srgbClr val="0A2740"/>
                </a:solidFill>
                <a:latin typeface="Anton"/>
                <a:ea typeface="Anton"/>
                <a:cs typeface="Anton"/>
              </a:rPr>
              <a:t>OUT OF SCOPE</a:t>
            </a:r>
          </a:p>
        </p:txBody>
      </p:sp>
      <p:sp>
        <p:nvSpPr>
          <p:cNvPr id="46" name="Mọi loại deepfake / video AI">
            <a:extLst xmlns:a="http://schemas.openxmlformats.org/drawingml/2006/main">
              <a:ext uri="{FF2B5EF4-FFF2-40B4-BE49-F238E27FC236}">
                <a16:creationId xmlns:a16="http://schemas.microsoft.com/office/drawing/2014/main" id="{FB85BC36-1434-4461-932F-B012B949CAF4}"/>
              </a:ext>
            </a:extLst>
          </p:cNvPr>
          <p:cNvSpPr>
            <a:spLocks xmlns:a="http://schemas.openxmlformats.org/drawingml/2006/main" noGrp="1"/>
          </p:cNvSpPr>
          <p:nvPr/>
        </p:nvSpPr>
        <p:spPr>
          <a:xfrm xmlns:a="http://schemas.openxmlformats.org/drawingml/2006/main">
            <a:off x="9906000"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All deepfake types / AI-generated video</a:t>
            </a:r>
          </a:p>
        </p:txBody>
      </p:sp>
      <p:sp>
        <p:nvSpPr>
          <p:cNvPr id="47" name="Face swap và giả giọng độc lập">
            <a:extLst xmlns:a="http://schemas.openxmlformats.org/drawingml/2006/main">
              <a:ext uri="{FF2B5EF4-FFF2-40B4-BE49-F238E27FC236}">
                <a16:creationId xmlns:a16="http://schemas.microsoft.com/office/drawing/2014/main" id="{5E1D6018-F094-4FD6-8F0B-34F6FDF448B5}"/>
              </a:ext>
            </a:extLst>
          </p:cNvPr>
          <p:cNvSpPr>
            <a:spLocks xmlns:a="http://schemas.openxmlformats.org/drawingml/2006/main" noGrp="1"/>
          </p:cNvSpPr>
          <p:nvPr/>
        </p:nvSpPr>
        <p:spPr>
          <a:xfrm xmlns:a="http://schemas.openxmlformats.org/drawingml/2006/main">
            <a:off x="9906000"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Face swaps and standalone voice cloning</a:t>
            </a:r>
          </a:p>
        </p:txBody>
      </p:sp>
      <p:sp>
        <p:nvSpPr>
          <p:cNvPr id="48" name="Định vị chính xác frame bị sửa">
            <a:extLst xmlns:a="http://schemas.openxmlformats.org/drawingml/2006/main">
              <a:ext uri="{FF2B5EF4-FFF2-40B4-BE49-F238E27FC236}">
                <a16:creationId xmlns:a16="http://schemas.microsoft.com/office/drawing/2014/main" id="{DFBA6925-ACD7-4F7C-B1D8-2160D2A7C1CD}"/>
              </a:ext>
            </a:extLst>
          </p:cNvPr>
          <p:cNvSpPr>
            <a:spLocks xmlns:a="http://schemas.openxmlformats.org/drawingml/2006/main" noGrp="1"/>
          </p:cNvSpPr>
          <p:nvPr/>
        </p:nvSpPr>
        <p:spPr>
          <a:xfrm xmlns:a="http://schemas.openxmlformats.org/drawingml/2006/main">
            <a:off x="9906000"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Frame-level forgery localization</a:t>
            </a:r>
          </a:p>
        </p:txBody>
      </p:sp>
      <p:sp>
        <p:nvSpPr>
          <p:cNvPr id="49" name="4K, thời gian thực, nhiều người">
            <a:extLst xmlns:a="http://schemas.openxmlformats.org/drawingml/2006/main">
              <a:ext uri="{FF2B5EF4-FFF2-40B4-BE49-F238E27FC236}">
                <a16:creationId xmlns:a16="http://schemas.microsoft.com/office/drawing/2014/main" id="{A1C5D9FA-DF5E-4196-A73F-84276BC20A35}"/>
              </a:ext>
            </a:extLst>
          </p:cNvPr>
          <p:cNvSpPr>
            <a:spLocks xmlns:a="http://schemas.openxmlformats.org/drawingml/2006/main" noGrp="1"/>
          </p:cNvSpPr>
          <p:nvPr/>
        </p:nvSpPr>
        <p:spPr>
          <a:xfrm xmlns:a="http://schemas.openxmlformats.org/drawingml/2006/main">
            <a:off x="9906000"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4K, real-time and multi-speaker analysis</a:t>
            </a:r>
          </a:p>
        </p:txBody>
      </p:sp>
      <p:sp>
        <p:nvSpPr>
          <p:cNvPr id="50" name="Pretrain backbone / generator">
            <a:extLst xmlns:a="http://schemas.openxmlformats.org/drawingml/2006/main">
              <a:ext uri="{FF2B5EF4-FFF2-40B4-BE49-F238E27FC236}">
                <a16:creationId xmlns:a16="http://schemas.microsoft.com/office/drawing/2014/main" id="{592F9ABD-53A5-4DD3-ABDB-7CB9E28B9622}"/>
              </a:ext>
            </a:extLst>
          </p:cNvPr>
          <p:cNvSpPr>
            <a:spLocks xmlns:a="http://schemas.openxmlformats.org/drawingml/2006/main" noGrp="1"/>
          </p:cNvSpPr>
          <p:nvPr/>
        </p:nvSpPr>
        <p:spPr>
          <a:xfrm xmlns:a="http://schemas.openxmlformats.org/drawingml/2006/main">
            <a:off x="9906000" y="82105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Pretraining backbones or generators</a:t>
            </a:r>
          </a:p>
        </p:txBody>
      </p:sp>
    </p:spTree>
    <p:extLst>
      <p:ext uri="{BB962C8B-B14F-4D97-AF65-F5344CB8AC3E}">
        <p14:creationId xmlns:p14="http://schemas.microsoft.com/office/powerpoint/2010/main" val="24918661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64b6303d33ff4733">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64b6303d33ff4733">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64b6303d33ff4733">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09537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64b6303d33ff4733">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64b6303d33ff4733">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64b6303d33ff4733">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04</a:t>
            </a:r>
          </a:p>
        </p:txBody>
      </p:sp>
      <p:sp>
        <p:nvSpPr>
          <p:cNvPr id="26" name="04  /  DỮ LIỆU">
            <a:extLst xmlns:a="http://schemas.openxmlformats.org/drawingml/2006/main">
              <a:ext uri="{FF2B5EF4-FFF2-40B4-BE49-F238E27FC236}">
                <a16:creationId xmlns:a16="http://schemas.microsoft.com/office/drawing/2014/main" id="{118088BA-5AF6-4507-8B49-4C9661857F42}"/>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04  /  DATA</a:t>
            </a:r>
          </a:p>
        </p:txBody>
      </p:sp>
      <p:sp>
        <p:nvSpPr>
          <p:cNvPr id="27" name="DỮ LIỆU HIỆN TẠI">
            <a:extLst xmlns:a="http://schemas.openxmlformats.org/drawingml/2006/main">
              <a:ext uri="{FF2B5EF4-FFF2-40B4-BE49-F238E27FC236}">
                <a16:creationId xmlns:a16="http://schemas.microsoft.com/office/drawing/2014/main" id="{5D2F8D4A-BE7B-4C71-9E20-94E92C381057}"/>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CURRENT DATASET</a:t>
            </a:r>
          </a:p>
        </p:txBody>
      </p:sp>
      <p:graphicFrame>
        <p:nvGraphicFramePr>
          <p:cNvPr id="48" name=""/>
          <p:cNvGraphicFramePr/>
          <p:nvPr/>
        </p:nvGraphicFramePr>
        <p:xfrm>
          <a:off xmlns:a="http://schemas.openxmlformats.org/drawingml/2006/main" x="1047750" y="3714750"/>
          <a:ext xmlns:a="http://schemas.openxmlformats.org/drawingml/2006/main" cx="16192500" cy="4857750"/>
        </p:xfrm>
        <a:graphic xmlns:a="http://schemas.openxmlformats.org/drawingml/2006/main">
          <a:graphicData uri="http://schemas.openxmlformats.org/drawingml/2006/table">
            <a:tbl>
              <a:tblPr/>
              <a:tblGrid>
                <a:gridCol w="5429250"/>
                <a:gridCol w="3810000"/>
                <a:gridCol w="6953250"/>
              </a:tblGrid>
              <a:tr h="809625">
                <a:tc>
                  <a:txBody>
                    <a:bodyPr/>
                    <a:lstStyle/>
                    <a:p>
                      <a:r>
                        <a:rPr sz="2475" b="1">
                          <a:solidFill>
                            <a:srgbClr val="FFFFFF"/>
                          </a:solidFill>
                          <a:latin typeface="Aptos"/>
                          <a:ea typeface="Aptos"/>
                          <a:cs typeface="Aptos"/>
                        </a:rPr>
                        <a:t>SOURCE &amp; REVIEW</a:t>
                      </a:r>
                    </a:p>
                  </a:txBody>
                  <a:tcPr marL="91440" marR="91440" marT="45720" marB="45720">
                    <a:solidFill>
                      <a:srgbClr val="0A2740"/>
                    </a:solidFill>
                  </a:tcPr>
                </a:tc>
                <a:tc>
                  <a:txBody>
                    <a:bodyPr/>
                    <a:lstStyle/>
                    <a:p>
                      <a:r>
                        <a:rPr sz="2475" b="1">
                          <a:solidFill>
                            <a:srgbClr val="FFFFFF"/>
                          </a:solidFill>
                          <a:latin typeface="Aptos"/>
                          <a:ea typeface="Aptos"/>
                          <a:cs typeface="Aptos"/>
                        </a:rPr>
                        <a:t>COUNT</a:t>
                      </a:r>
                    </a:p>
                  </a:txBody>
                  <a:tcPr marL="91440" marR="91440" marT="45720" marB="45720">
                    <a:solidFill>
                      <a:srgbClr val="0A2740"/>
                    </a:solidFill>
                  </a:tcPr>
                </a:tc>
                <a:tc>
                  <a:txBody>
                    <a:bodyPr/>
                    <a:lstStyle/>
                    <a:p>
                      <a:r>
                        <a:rPr sz="2475" b="1">
                          <a:solidFill>
                            <a:srgbClr val="FFFFFF"/>
                          </a:solidFill>
                          <a:latin typeface="Aptos"/>
                          <a:ea typeface="Aptos"/>
                          <a:cs typeface="Aptos"/>
                        </a:rPr>
                        <a:t>LIMITATION</a:t>
                      </a:r>
                    </a:p>
                  </a:txBody>
                  <a:tcPr marL="91440" marR="91440" marT="45720" marB="45720">
                    <a:solidFill>
                      <a:srgbClr val="0A2740"/>
                    </a:solidFill>
                  </a:tcPr>
                </a:tc>
              </a:tr>
              <a:tr h="809625">
                <a:tc>
                  <a:txBody>
                    <a:bodyPr/>
                    <a:lstStyle/>
                    <a:p>
                      <a:r>
                        <a:rPr sz="2475" b="0">
                          <a:solidFill>
                            <a:srgbClr val="0A2740"/>
                          </a:solidFill>
                          <a:latin typeface="Aptos"/>
                          <a:ea typeface="Aptos"/>
                          <a:cs typeface="Aptos"/>
                        </a:rPr>
                        <a:t>Source videos</a:t>
                      </a:r>
                    </a:p>
                  </a:txBody>
                  <a:tcPr marL="91440" marR="91440" marT="45720" marB="45720">
                    <a:solidFill>
                      <a:srgbClr val="E6F4F8"/>
                    </a:solidFill>
                  </a:tcPr>
                </a:tc>
                <a:tc>
                  <a:txBody>
                    <a:bodyPr/>
                    <a:lstStyle/>
                    <a:p>
                      <a:r>
                        <a:rPr sz="2475" b="0">
                          <a:solidFill>
                            <a:srgbClr val="0A2740"/>
                          </a:solidFill>
                          <a:latin typeface="Aptos"/>
                          <a:ea typeface="Aptos"/>
                          <a:cs typeface="Aptos"/>
                        </a:rPr>
                        <a:t>18</a:t>
                      </a:r>
                    </a:p>
                  </a:txBody>
                  <a:tcPr marL="91440" marR="91440" marT="45720" marB="45720">
                    <a:solidFill>
                      <a:srgbClr val="E6F4F8"/>
                    </a:solidFill>
                  </a:tcPr>
                </a:tc>
                <a:tc>
                  <a:txBody>
                    <a:bodyPr/>
                    <a:lstStyle/>
                    <a:p>
                      <a:r>
                        <a:rPr sz="2475" b="0">
                          <a:solidFill>
                            <a:srgbClr val="0A2740"/>
                          </a:solidFill>
                          <a:latin typeface="Aptos"/>
                          <a:ea typeface="Aptos"/>
                          <a:cs typeface="Aptos"/>
                        </a:rPr>
                        <a:t>One speaker</a:t>
                      </a:r>
                    </a:p>
                  </a:txBody>
                  <a:tcPr marL="91440" marR="91440" marT="45720" marB="45720">
                    <a:solidFill>
                      <a:srgbClr val="E6F4F8"/>
                    </a:solidFill>
                  </a:tcPr>
                </a:tc>
              </a:tr>
              <a:tr h="809625">
                <a:tc>
                  <a:txBody>
                    <a:bodyPr/>
                    <a:lstStyle/>
                    <a:p>
                      <a:r>
                        <a:rPr sz="2475" b="0">
                          <a:solidFill>
                            <a:srgbClr val="0A2740"/>
                          </a:solidFill>
                          <a:latin typeface="Aptos"/>
                          <a:ea typeface="Aptos"/>
                          <a:cs typeface="Aptos"/>
                        </a:rPr>
                        <a:t>Reviewed clips</a:t>
                      </a:r>
                    </a:p>
                  </a:txBody>
                  <a:tcPr marL="91440" marR="91440" marT="45720" marB="45720">
                    <a:solidFill>
                      <a:srgbClr val="F3F8FA"/>
                    </a:solidFill>
                  </a:tcPr>
                </a:tc>
                <a:tc>
                  <a:txBody>
                    <a:bodyPr/>
                    <a:lstStyle/>
                    <a:p>
                      <a:r>
                        <a:rPr sz="2475" b="0">
                          <a:solidFill>
                            <a:srgbClr val="0A2740"/>
                          </a:solidFill>
                          <a:latin typeface="Aptos"/>
                          <a:ea typeface="Aptos"/>
                          <a:cs typeface="Aptos"/>
                        </a:rPr>
                        <a:t>2,252</a:t>
                      </a:r>
                    </a:p>
                  </a:txBody>
                  <a:tcPr marL="91440" marR="91440" marT="45720" marB="45720">
                    <a:solidFill>
                      <a:srgbClr val="F3F8FA"/>
                    </a:solidFill>
                  </a:tcPr>
                </a:tc>
                <a:tc>
                  <a:txBody>
                    <a:bodyPr/>
                    <a:lstStyle/>
                    <a:p>
                      <a:r>
                        <a:rPr sz="2475" b="0">
                          <a:solidFill>
                            <a:srgbClr val="0A2740"/>
                          </a:solidFill>
                          <a:latin typeface="Aptos"/>
                          <a:ea typeface="Aptos"/>
                          <a:cs typeface="Aptos"/>
                        </a:rPr>
                        <a:t>Three reviewers, merged decisions</a:t>
                      </a:r>
                    </a:p>
                  </a:txBody>
                  <a:tcPr marL="91440" marR="91440" marT="45720" marB="45720">
                    <a:solidFill>
                      <a:srgbClr val="F3F8FA"/>
                    </a:solidFill>
                  </a:tcPr>
                </a:tc>
              </a:tr>
              <a:tr h="809625">
                <a:tc>
                  <a:txBody>
                    <a:bodyPr/>
                    <a:lstStyle/>
                    <a:p>
                      <a:r>
                        <a:rPr sz="2475" b="0">
                          <a:solidFill>
                            <a:srgbClr val="0A2740"/>
                          </a:solidFill>
                          <a:latin typeface="Aptos"/>
                          <a:ea typeface="Aptos"/>
                          <a:cs typeface="Aptos"/>
                        </a:rPr>
                        <a:t>Keep / Reject</a:t>
                      </a:r>
                    </a:p>
                  </a:txBody>
                  <a:tcPr marL="91440" marR="91440" marT="45720" marB="45720">
                    <a:solidFill>
                      <a:srgbClr val="E6F4F8"/>
                    </a:solidFill>
                  </a:tcPr>
                </a:tc>
                <a:tc>
                  <a:txBody>
                    <a:bodyPr/>
                    <a:lstStyle/>
                    <a:p>
                      <a:r>
                        <a:rPr sz="2475" b="0">
                          <a:solidFill>
                            <a:srgbClr val="0A2740"/>
                          </a:solidFill>
                          <a:latin typeface="Aptos"/>
                          <a:ea typeface="Aptos"/>
                          <a:cs typeface="Aptos"/>
                        </a:rPr>
                        <a:t>1,143 / 1,109</a:t>
                      </a:r>
                    </a:p>
                  </a:txBody>
                  <a:tcPr marL="91440" marR="91440" marT="45720" marB="45720">
                    <a:solidFill>
                      <a:srgbClr val="E6F4F8"/>
                    </a:solidFill>
                  </a:tcPr>
                </a:tc>
                <a:tc>
                  <a:txBody>
                    <a:bodyPr/>
                    <a:lstStyle/>
                    <a:p>
                      <a:r>
                        <a:rPr sz="2475" b="0">
                          <a:solidFill>
                            <a:srgbClr val="0A2740"/>
                          </a:solidFill>
                          <a:latin typeface="Aptos"/>
                          <a:ea typeface="Aptos"/>
                          <a:cs typeface="Aptos"/>
                        </a:rPr>
                        <a:t>Not all used for training yet</a:t>
                      </a:r>
                    </a:p>
                  </a:txBody>
                  <a:tcPr marL="91440" marR="91440" marT="45720" marB="45720">
                    <a:solidFill>
                      <a:srgbClr val="E6F4F8"/>
                    </a:solidFill>
                  </a:tcPr>
                </a:tc>
              </a:tr>
              <a:tr h="809625">
                <a:tc>
                  <a:txBody>
                    <a:bodyPr/>
                    <a:lstStyle/>
                    <a:p>
                      <a:r>
                        <a:rPr sz="2475" b="0">
                          <a:solidFill>
                            <a:srgbClr val="0A2740"/>
                          </a:solidFill>
                          <a:latin typeface="Aptos"/>
                          <a:ea typeface="Aptos"/>
                          <a:cs typeface="Aptos"/>
                        </a:rPr>
                        <a:t>Train / Val / Test</a:t>
                      </a:r>
                    </a:p>
                  </a:txBody>
                  <a:tcPr marL="91440" marR="91440" marT="45720" marB="45720">
                    <a:solidFill>
                      <a:srgbClr val="F3F8FA"/>
                    </a:solidFill>
                  </a:tcPr>
                </a:tc>
                <a:tc>
                  <a:txBody>
                    <a:bodyPr/>
                    <a:lstStyle/>
                    <a:p>
                      <a:r>
                        <a:rPr sz="2475" b="0">
                          <a:solidFill>
                            <a:srgbClr val="0A2740"/>
                          </a:solidFill>
                          <a:latin typeface="Aptos"/>
                          <a:ea typeface="Aptos"/>
                          <a:cs typeface="Aptos"/>
                        </a:rPr>
                        <a:t>786 / 192 / 165</a:t>
                      </a:r>
                    </a:p>
                  </a:txBody>
                  <a:tcPr marL="91440" marR="91440" marT="45720" marB="45720">
                    <a:solidFill>
                      <a:srgbClr val="F3F8FA"/>
                    </a:solidFill>
                  </a:tcPr>
                </a:tc>
                <a:tc>
                  <a:txBody>
                    <a:bodyPr/>
                    <a:lstStyle/>
                    <a:p>
                      <a:r>
                        <a:rPr sz="2475" b="0">
                          <a:solidFill>
                            <a:srgbClr val="0A2740"/>
                          </a:solidFill>
                          <a:latin typeface="Aptos"/>
                          <a:ea typeface="Aptos"/>
                          <a:cs typeface="Aptos"/>
                        </a:rPr>
                        <a:t>Split by source video</a:t>
                      </a:r>
                    </a:p>
                  </a:txBody>
                  <a:tcPr marL="91440" marR="91440" marT="45720" marB="45720">
                    <a:solidFill>
                      <a:srgbClr val="F3F8FA"/>
                    </a:solidFill>
                  </a:tcPr>
                </a:tc>
              </a:tr>
              <a:tr h="809625">
                <a:tc>
                  <a:txBody>
                    <a:bodyPr/>
                    <a:lstStyle/>
                    <a:p>
                      <a:r>
                        <a:rPr sz="2475" b="0">
                          <a:solidFill>
                            <a:srgbClr val="0A2740"/>
                          </a:solidFill>
                          <a:latin typeface="Aptos"/>
                          <a:ea typeface="Aptos"/>
                          <a:cs typeface="Aptos"/>
                        </a:rPr>
                        <a:t>Fake smoke test</a:t>
                      </a:r>
                    </a:p>
                  </a:txBody>
                  <a:tcPr marL="91440" marR="91440" marT="45720" marB="45720">
                    <a:solidFill>
                      <a:srgbClr val="E6F4F8"/>
                    </a:solidFill>
                  </a:tcPr>
                </a:tc>
                <a:tc>
                  <a:txBody>
                    <a:bodyPr/>
                    <a:lstStyle/>
                    <a:p>
                      <a:r>
                        <a:rPr sz="2475" b="0">
                          <a:solidFill>
                            <a:srgbClr val="0A2740"/>
                          </a:solidFill>
                          <a:latin typeface="Aptos"/>
                          <a:ea typeface="Aptos"/>
                          <a:cs typeface="Aptos"/>
                        </a:rPr>
                        <a:t>10 clips × 2 generators</a:t>
                      </a:r>
                    </a:p>
                  </a:txBody>
                  <a:tcPr marL="91440" marR="91440" marT="45720" marB="45720">
                    <a:solidFill>
                      <a:srgbClr val="E6F4F8"/>
                    </a:solidFill>
                  </a:tcPr>
                </a:tc>
                <a:tc>
                  <a:txBody>
                    <a:bodyPr/>
                    <a:lstStyle/>
                    <a:p>
                      <a:r>
                        <a:rPr sz="2475" b="0">
                          <a:solidFill>
                            <a:srgbClr val="0A2740"/>
                          </a:solidFill>
                          <a:latin typeface="Aptos"/>
                          <a:ea typeface="Aptos"/>
                          <a:cs typeface="Aptos"/>
                        </a:rPr>
                        <a:t>2 seconds per clip</a:t>
                      </a:r>
                    </a:p>
                  </a:txBody>
                  <a:tcPr marL="91440" marR="91440" marT="45720" marB="45720">
                    <a:solidFill>
                      <a:srgbClr val="E6F4F8"/>
                    </a:solidFill>
                  </a:tcPr>
                </a:tc>
              </a:tr>
            </a:tbl>
          </a:graphicData>
        </a:graphic>
      </p:graphicFrame>
      <p:sp>
        <p:nvSpPr>
          <p:cNvPr id="29" name="Nguồn: PROJECT.md. Hiện là khác ngu">
            <a:extLst xmlns:a="http://schemas.openxmlformats.org/drawingml/2006/main">
              <a:ext uri="{FF2B5EF4-FFF2-40B4-BE49-F238E27FC236}">
                <a16:creationId xmlns:a16="http://schemas.microsoft.com/office/drawing/2014/main" id="{DC620D5D-0C8C-4A61-BE38-4BE19489365F}"/>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86B8A"/>
                </a:solidFill>
                <a:latin typeface="Aptos"/>
                <a:ea typeface="Aptos"/>
                <a:cs typeface="Aptos"/>
              </a:defRPr>
            </a:pPr>
            <a:r>
              <a:rPr sz="2025" b="0">
                <a:solidFill>
                  <a:srgbClr val="286B8A"/>
                </a:solidFill>
                <a:latin typeface="Aptos"/>
                <a:ea typeface="Aptos"/>
                <a:cs typeface="Aptos"/>
              </a:rPr>
              <a:t>Source: PROJECT.md. Source-disjoint, single-speaker split. Unseen-speaker testing is pending.</a:t>
            </a:r>
          </a:p>
        </p:txBody>
      </p:sp>
    </p:spTree>
    <p:extLst>
      <p:ext uri="{BB962C8B-B14F-4D97-AF65-F5344CB8AC3E}">
        <p14:creationId xmlns:p14="http://schemas.microsoft.com/office/powerpoint/2010/main" val="24918661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42ee802377e449d9">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42ee802377e449d9">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42ee802377e449d9">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09537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42ee802377e449d9">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42ee802377e449d9">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42ee802377e449d9">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05</a:t>
            </a:r>
          </a:p>
        </p:txBody>
      </p:sp>
      <p:sp>
        <p:nvSpPr>
          <p:cNvPr id="26" name="05  /  DỮ LIỆU">
            <a:extLst xmlns:a="http://schemas.openxmlformats.org/drawingml/2006/main">
              <a:ext uri="{FF2B5EF4-FFF2-40B4-BE49-F238E27FC236}">
                <a16:creationId xmlns:a16="http://schemas.microsoft.com/office/drawing/2014/main" id="{12044366-5BA0-4E7D-9F30-7CC68B2CA35B}"/>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05  /  DATA</a:t>
            </a:r>
          </a:p>
        </p:txBody>
      </p:sp>
      <p:sp>
        <p:nvSpPr>
          <p:cNvPr id="27" name="PIPELINE DỮ LIỆU &amp; CHỐNG LEAKAGE">
            <a:extLst xmlns:a="http://schemas.openxmlformats.org/drawingml/2006/main">
              <a:ext uri="{FF2B5EF4-FFF2-40B4-BE49-F238E27FC236}">
                <a16:creationId xmlns:a16="http://schemas.microsoft.com/office/drawing/2014/main" id="{EBC4F41D-594F-4502-BAB2-35FF4D2DC479}"/>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DATA PIPELINE &amp; LEAKAGE CONTROL</a:t>
            </a:r>
          </a:p>
        </p:txBody>
      </p:sp>
      <p:sp>
        <p:nvSpPr>
          <p:cNvPr id="28" name="Tuyển nguồn&#10;Lưu metadata">
            <a:extLst xmlns:a="http://schemas.openxmlformats.org/drawingml/2006/main">
              <a:ext uri="{FF2B5EF4-FFF2-40B4-BE49-F238E27FC236}">
                <a16:creationId xmlns:a16="http://schemas.microsoft.com/office/drawing/2014/main" id="{1E976D4A-187B-4EF3-835E-D4EB50B55F67}"/>
              </a:ext>
            </a:extLst>
          </p:cNvPr>
          <p:cNvSpPr>
            <a:spLocks xmlns:a="http://schemas.openxmlformats.org/drawingml/2006/main" noGrp="1"/>
          </p:cNvSpPr>
          <p:nvPr/>
        </p:nvSpPr>
        <p:spPr>
          <a:xfrm xmlns:a="http://schemas.openxmlformats.org/drawingml/2006/main">
            <a:off x="1047750" y="3857625"/>
            <a:ext cx="2667000" cy="1809750"/>
          </a:xfrm>
          <a:prstGeom xmlns:a="http://schemas.openxmlformats.org/drawingml/2006/main" prst="roundRect">
            <a:avLst>
              <a:gd name="adj" fmla="val 4211"/>
            </a:avLst>
          </a:prstGeom>
          <a:solidFill xmlns:a="http://schemas.openxmlformats.org/drawingml/2006/main">
            <a:srgbClr val="E6F4F8"/>
          </a:solidFill>
          <a:ln xmlns:a="http://schemas.openxmlformats.org/drawingml/2006/main" w="9525">
            <a:solidFill>
              <a:srgbClr val="AACFDA"/>
            </a:solidFill>
          </a:ln>
        </p:spPr>
      </p:sp>
      <p:sp>
        <p:nvSpPr>
          <p:cNvPr id="29" name="Tuyển nguồn&#10;Lưu metadata">
            <a:extLst xmlns:a="http://schemas.openxmlformats.org/drawingml/2006/main">
              <a:ext uri="{FF2B5EF4-FFF2-40B4-BE49-F238E27FC236}">
                <a16:creationId xmlns:a16="http://schemas.microsoft.com/office/drawing/2014/main" id="{8935846C-3E21-4854-94BC-84B21390F05C}"/>
              </a:ext>
            </a:extLst>
          </p:cNvPr>
          <p:cNvSpPr>
            <a:spLocks xmlns:a="http://schemas.openxmlformats.org/drawingml/2006/main" noGrp="1"/>
          </p:cNvSpPr>
          <p:nvPr/>
        </p:nvSpPr>
        <p:spPr>
          <a:xfrm xmlns:a="http://schemas.openxmlformats.org/drawingml/2006/main">
            <a:off x="1219200" y="4038600"/>
            <a:ext cx="23241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Select sources</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Log metadata</a:t>
            </a:r>
          </a:p>
        </p:txBody>
      </p:sp>
      <p:sp>
        <p:nvSpPr>
          <p:cNvPr id="30" name="">
            <a:extLst xmlns:a="http://schemas.openxmlformats.org/drawingml/2006/main">
              <a:ext uri="{FF2B5EF4-FFF2-40B4-BE49-F238E27FC236}">
                <a16:creationId xmlns:a16="http://schemas.microsoft.com/office/drawing/2014/main" id="{FC3E5B46-C3B3-4BD5-B679-27B0E5899EF4}"/>
              </a:ext>
            </a:extLst>
          </p:cNvPr>
          <p:cNvSpPr>
            <a:spLocks xmlns:a="http://schemas.openxmlformats.org/drawingml/2006/main" noGrp="1"/>
          </p:cNvSpPr>
          <p:nvPr/>
        </p:nvSpPr>
        <p:spPr>
          <a:xfrm xmlns:a="http://schemas.openxmlformats.org/drawingml/2006/main">
            <a:off x="3714750" y="4762500"/>
            <a:ext cx="714375" cy="0"/>
          </a:xfrm>
          <a:prstGeom xmlns:a="http://schemas.openxmlformats.org/drawingml/2006/main" prst="line">
            <a:avLst/>
          </a:prstGeom>
          <a:ln xmlns:a="http://schemas.openxmlformats.org/drawingml/2006/main" w="28575">
            <a:solidFill>
              <a:srgbClr val="286B8A"/>
            </a:solidFill>
          </a:ln>
        </p:spPr>
      </p:sp>
      <p:sp>
        <p:nvSpPr>
          <p:cNvPr id="31" name="Cắt clip&#10;Review">
            <a:extLst xmlns:a="http://schemas.openxmlformats.org/drawingml/2006/main">
              <a:ext uri="{FF2B5EF4-FFF2-40B4-BE49-F238E27FC236}">
                <a16:creationId xmlns:a16="http://schemas.microsoft.com/office/drawing/2014/main" id="{CADA617F-8387-4732-9B9B-272158B18185}"/>
              </a:ext>
            </a:extLst>
          </p:cNvPr>
          <p:cNvSpPr>
            <a:spLocks xmlns:a="http://schemas.openxmlformats.org/drawingml/2006/main" noGrp="1"/>
          </p:cNvSpPr>
          <p:nvPr/>
        </p:nvSpPr>
        <p:spPr>
          <a:xfrm xmlns:a="http://schemas.openxmlformats.org/drawingml/2006/main">
            <a:off x="4429125" y="3857625"/>
            <a:ext cx="2667000" cy="1809750"/>
          </a:xfrm>
          <a:prstGeom xmlns:a="http://schemas.openxmlformats.org/drawingml/2006/main" prst="roundRect">
            <a:avLst>
              <a:gd name="adj" fmla="val 4211"/>
            </a:avLst>
          </a:prstGeom>
          <a:solidFill xmlns:a="http://schemas.openxmlformats.org/drawingml/2006/main">
            <a:srgbClr val="E6F4F8"/>
          </a:solidFill>
          <a:ln xmlns:a="http://schemas.openxmlformats.org/drawingml/2006/main" w="9525">
            <a:solidFill>
              <a:srgbClr val="AACFDA"/>
            </a:solidFill>
          </a:ln>
        </p:spPr>
      </p:sp>
      <p:sp>
        <p:nvSpPr>
          <p:cNvPr id="32" name="Cắt clip&#10;Review">
            <a:extLst xmlns:a="http://schemas.openxmlformats.org/drawingml/2006/main">
              <a:ext uri="{FF2B5EF4-FFF2-40B4-BE49-F238E27FC236}">
                <a16:creationId xmlns:a16="http://schemas.microsoft.com/office/drawing/2014/main" id="{203E94EE-3078-4A77-8246-BB9D9C7A2135}"/>
              </a:ext>
            </a:extLst>
          </p:cNvPr>
          <p:cNvSpPr>
            <a:spLocks xmlns:a="http://schemas.openxmlformats.org/drawingml/2006/main" noGrp="1"/>
          </p:cNvSpPr>
          <p:nvPr/>
        </p:nvSpPr>
        <p:spPr>
          <a:xfrm xmlns:a="http://schemas.openxmlformats.org/drawingml/2006/main">
            <a:off x="4600575" y="4038600"/>
            <a:ext cx="23241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Cut clips</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Review</a:t>
            </a:r>
          </a:p>
        </p:txBody>
      </p:sp>
      <p:sp>
        <p:nvSpPr>
          <p:cNvPr id="33" name="">
            <a:extLst xmlns:a="http://schemas.openxmlformats.org/drawingml/2006/main">
              <a:ext uri="{FF2B5EF4-FFF2-40B4-BE49-F238E27FC236}">
                <a16:creationId xmlns:a16="http://schemas.microsoft.com/office/drawing/2014/main" id="{B8019B29-48F4-4408-B92F-9F243170A917}"/>
              </a:ext>
            </a:extLst>
          </p:cNvPr>
          <p:cNvSpPr>
            <a:spLocks xmlns:a="http://schemas.openxmlformats.org/drawingml/2006/main" noGrp="1"/>
          </p:cNvSpPr>
          <p:nvPr/>
        </p:nvSpPr>
        <p:spPr>
          <a:xfrm xmlns:a="http://schemas.openxmlformats.org/drawingml/2006/main">
            <a:off x="7096125" y="4762500"/>
            <a:ext cx="714375" cy="0"/>
          </a:xfrm>
          <a:prstGeom xmlns:a="http://schemas.openxmlformats.org/drawingml/2006/main" prst="line">
            <a:avLst/>
          </a:prstGeom>
          <a:ln xmlns:a="http://schemas.openxmlformats.org/drawingml/2006/main" w="28575">
            <a:solidFill>
              <a:srgbClr val="286B8A"/>
            </a:solidFill>
          </a:ln>
        </p:spPr>
      </p:sp>
      <p:sp>
        <p:nvSpPr>
          <p:cNvPr id="34" name="Khóa split&#10;Theo nguồn">
            <a:extLst xmlns:a="http://schemas.openxmlformats.org/drawingml/2006/main">
              <a:ext uri="{FF2B5EF4-FFF2-40B4-BE49-F238E27FC236}">
                <a16:creationId xmlns:a16="http://schemas.microsoft.com/office/drawing/2014/main" id="{A8CE5CBF-A73E-486D-A61D-66751AE24813}"/>
              </a:ext>
            </a:extLst>
          </p:cNvPr>
          <p:cNvSpPr>
            <a:spLocks xmlns:a="http://schemas.openxmlformats.org/drawingml/2006/main" noGrp="1"/>
          </p:cNvSpPr>
          <p:nvPr/>
        </p:nvSpPr>
        <p:spPr>
          <a:xfrm xmlns:a="http://schemas.openxmlformats.org/drawingml/2006/main">
            <a:off x="7810500" y="3857625"/>
            <a:ext cx="2667000" cy="1809750"/>
          </a:xfrm>
          <a:prstGeom xmlns:a="http://schemas.openxmlformats.org/drawingml/2006/main" prst="roundRect">
            <a:avLst>
              <a:gd name="adj" fmla="val 4211"/>
            </a:avLst>
          </a:prstGeom>
          <a:solidFill xmlns:a="http://schemas.openxmlformats.org/drawingml/2006/main">
            <a:srgbClr val="E6F4F8"/>
          </a:solidFill>
          <a:ln xmlns:a="http://schemas.openxmlformats.org/drawingml/2006/main" w="9525">
            <a:solidFill>
              <a:srgbClr val="AACFDA"/>
            </a:solidFill>
          </a:ln>
        </p:spPr>
      </p:sp>
      <p:sp>
        <p:nvSpPr>
          <p:cNvPr id="35" name="Khóa split&#10;Theo nguồn">
            <a:extLst xmlns:a="http://schemas.openxmlformats.org/drawingml/2006/main">
              <a:ext uri="{FF2B5EF4-FFF2-40B4-BE49-F238E27FC236}">
                <a16:creationId xmlns:a16="http://schemas.microsoft.com/office/drawing/2014/main" id="{EC690A26-2DF7-4C91-B0D1-62CAB5E1F496}"/>
              </a:ext>
            </a:extLst>
          </p:cNvPr>
          <p:cNvSpPr>
            <a:spLocks xmlns:a="http://schemas.openxmlformats.org/drawingml/2006/main" noGrp="1"/>
          </p:cNvSpPr>
          <p:nvPr/>
        </p:nvSpPr>
        <p:spPr>
          <a:xfrm xmlns:a="http://schemas.openxmlformats.org/drawingml/2006/main">
            <a:off x="7981950" y="4038600"/>
            <a:ext cx="23241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Lock splits</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By source</a:t>
            </a:r>
          </a:p>
        </p:txBody>
      </p:sp>
      <p:sp>
        <p:nvSpPr>
          <p:cNvPr id="36" name="">
            <a:extLst xmlns:a="http://schemas.openxmlformats.org/drawingml/2006/main">
              <a:ext uri="{FF2B5EF4-FFF2-40B4-BE49-F238E27FC236}">
                <a16:creationId xmlns:a16="http://schemas.microsoft.com/office/drawing/2014/main" id="{AE6EAE19-C8B3-4B39-AC33-C894A9599E39}"/>
              </a:ext>
            </a:extLst>
          </p:cNvPr>
          <p:cNvSpPr>
            <a:spLocks xmlns:a="http://schemas.openxmlformats.org/drawingml/2006/main" noGrp="1"/>
          </p:cNvSpPr>
          <p:nvPr/>
        </p:nvSpPr>
        <p:spPr>
          <a:xfrm xmlns:a="http://schemas.openxmlformats.org/drawingml/2006/main">
            <a:off x="10477500" y="4762500"/>
            <a:ext cx="714375" cy="0"/>
          </a:xfrm>
          <a:prstGeom xmlns:a="http://schemas.openxmlformats.org/drawingml/2006/main" prst="line">
            <a:avLst/>
          </a:prstGeom>
          <a:ln xmlns:a="http://schemas.openxmlformats.org/drawingml/2006/main" w="28575">
            <a:solidFill>
              <a:srgbClr val="286B8A"/>
            </a:solidFill>
          </a:ln>
        </p:spPr>
      </p:sp>
      <p:sp>
        <p:nvSpPr>
          <p:cNvPr id="37" name="Tạo fake&#10;Trong split">
            <a:extLst xmlns:a="http://schemas.openxmlformats.org/drawingml/2006/main">
              <a:ext uri="{FF2B5EF4-FFF2-40B4-BE49-F238E27FC236}">
                <a16:creationId xmlns:a16="http://schemas.microsoft.com/office/drawing/2014/main" id="{FD755DF8-697E-41A5-8455-CC46EA073371}"/>
              </a:ext>
            </a:extLst>
          </p:cNvPr>
          <p:cNvSpPr>
            <a:spLocks xmlns:a="http://schemas.openxmlformats.org/drawingml/2006/main" noGrp="1"/>
          </p:cNvSpPr>
          <p:nvPr/>
        </p:nvSpPr>
        <p:spPr>
          <a:xfrm xmlns:a="http://schemas.openxmlformats.org/drawingml/2006/main">
            <a:off x="11191875" y="3857625"/>
            <a:ext cx="2667000" cy="1809750"/>
          </a:xfrm>
          <a:prstGeom xmlns:a="http://schemas.openxmlformats.org/drawingml/2006/main" prst="roundRect">
            <a:avLst>
              <a:gd name="adj" fmla="val 4211"/>
            </a:avLst>
          </a:prstGeom>
          <a:solidFill xmlns:a="http://schemas.openxmlformats.org/drawingml/2006/main">
            <a:srgbClr val="E6F4F8"/>
          </a:solidFill>
          <a:ln xmlns:a="http://schemas.openxmlformats.org/drawingml/2006/main" w="9525">
            <a:solidFill>
              <a:srgbClr val="AACFDA"/>
            </a:solidFill>
          </a:ln>
        </p:spPr>
      </p:sp>
      <p:sp>
        <p:nvSpPr>
          <p:cNvPr id="38" name="Tạo fake&#10;Trong split">
            <a:extLst xmlns:a="http://schemas.openxmlformats.org/drawingml/2006/main">
              <a:ext uri="{FF2B5EF4-FFF2-40B4-BE49-F238E27FC236}">
                <a16:creationId xmlns:a16="http://schemas.microsoft.com/office/drawing/2014/main" id="{147C5461-FBC0-4738-88F2-67AA09C7250C}"/>
              </a:ext>
            </a:extLst>
          </p:cNvPr>
          <p:cNvSpPr>
            <a:spLocks xmlns:a="http://schemas.openxmlformats.org/drawingml/2006/main" noGrp="1"/>
          </p:cNvSpPr>
          <p:nvPr/>
        </p:nvSpPr>
        <p:spPr>
          <a:xfrm xmlns:a="http://schemas.openxmlformats.org/drawingml/2006/main">
            <a:off x="11363325" y="4038600"/>
            <a:ext cx="23241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Generate fakes</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Within splits</a:t>
            </a:r>
          </a:p>
        </p:txBody>
      </p:sp>
      <p:sp>
        <p:nvSpPr>
          <p:cNvPr id="39" name="">
            <a:extLst xmlns:a="http://schemas.openxmlformats.org/drawingml/2006/main">
              <a:ext uri="{FF2B5EF4-FFF2-40B4-BE49-F238E27FC236}">
                <a16:creationId xmlns:a16="http://schemas.microsoft.com/office/drawing/2014/main" id="{E8BC5D83-1CCF-4991-B46C-276E30E653D3}"/>
              </a:ext>
            </a:extLst>
          </p:cNvPr>
          <p:cNvSpPr>
            <a:spLocks xmlns:a="http://schemas.openxmlformats.org/drawingml/2006/main" noGrp="1"/>
          </p:cNvSpPr>
          <p:nvPr/>
        </p:nvSpPr>
        <p:spPr>
          <a:xfrm xmlns:a="http://schemas.openxmlformats.org/drawingml/2006/main">
            <a:off x="13858875" y="4762500"/>
            <a:ext cx="714375" cy="0"/>
          </a:xfrm>
          <a:prstGeom xmlns:a="http://schemas.openxmlformats.org/drawingml/2006/main" prst="line">
            <a:avLst/>
          </a:prstGeom>
          <a:ln xmlns:a="http://schemas.openxmlformats.org/drawingml/2006/main" w="28575">
            <a:solidFill>
              <a:srgbClr val="286B8A"/>
            </a:solidFill>
          </a:ln>
        </p:spPr>
      </p:sp>
      <p:sp>
        <p:nvSpPr>
          <p:cNvPr id="40" name="Tạo bản nén&#10;Trích feature">
            <a:extLst xmlns:a="http://schemas.openxmlformats.org/drawingml/2006/main">
              <a:ext uri="{FF2B5EF4-FFF2-40B4-BE49-F238E27FC236}">
                <a16:creationId xmlns:a16="http://schemas.microsoft.com/office/drawing/2014/main" id="{45395821-4A89-4439-866C-F2955637A9B3}"/>
              </a:ext>
            </a:extLst>
          </p:cNvPr>
          <p:cNvSpPr>
            <a:spLocks xmlns:a="http://schemas.openxmlformats.org/drawingml/2006/main" noGrp="1"/>
          </p:cNvSpPr>
          <p:nvPr/>
        </p:nvSpPr>
        <p:spPr>
          <a:xfrm xmlns:a="http://schemas.openxmlformats.org/drawingml/2006/main">
            <a:off x="14573250" y="3857625"/>
            <a:ext cx="2667000" cy="1809750"/>
          </a:xfrm>
          <a:prstGeom xmlns:a="http://schemas.openxmlformats.org/drawingml/2006/main" prst="roundRect">
            <a:avLst>
              <a:gd name="adj" fmla="val 4211"/>
            </a:avLst>
          </a:prstGeom>
          <a:solidFill xmlns:a="http://schemas.openxmlformats.org/drawingml/2006/main">
            <a:srgbClr val="E6F4F8"/>
          </a:solidFill>
          <a:ln xmlns:a="http://schemas.openxmlformats.org/drawingml/2006/main" w="9525">
            <a:solidFill>
              <a:srgbClr val="AACFDA"/>
            </a:solidFill>
          </a:ln>
        </p:spPr>
      </p:sp>
      <p:sp>
        <p:nvSpPr>
          <p:cNvPr id="41" name="Tạo bản nén&#10;Trích feature">
            <a:extLst xmlns:a="http://schemas.openxmlformats.org/drawingml/2006/main">
              <a:ext uri="{FF2B5EF4-FFF2-40B4-BE49-F238E27FC236}">
                <a16:creationId xmlns:a16="http://schemas.microsoft.com/office/drawing/2014/main" id="{5A045D56-D21D-458C-BC9B-9C6E239E52B4}"/>
              </a:ext>
            </a:extLst>
          </p:cNvPr>
          <p:cNvSpPr>
            <a:spLocks xmlns:a="http://schemas.openxmlformats.org/drawingml/2006/main" noGrp="1"/>
          </p:cNvSpPr>
          <p:nvPr/>
        </p:nvSpPr>
        <p:spPr>
          <a:xfrm xmlns:a="http://schemas.openxmlformats.org/drawingml/2006/main">
            <a:off x="14744700" y="4038600"/>
            <a:ext cx="23241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Compress</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Extract features</a:t>
            </a:r>
          </a:p>
        </p:txBody>
      </p:sp>
      <p:sp>
        <p:nvSpPr>
          <p:cNvPr id="42" name="Mọi phiên bản của cùng clip nằm chu">
            <a:extLst xmlns:a="http://schemas.openxmlformats.org/drawingml/2006/main">
              <a:ext uri="{FF2B5EF4-FFF2-40B4-BE49-F238E27FC236}">
                <a16:creationId xmlns:a16="http://schemas.microsoft.com/office/drawing/2014/main" id="{07F8272F-8325-4D4C-811A-18E6870D7420}"/>
              </a:ext>
            </a:extLst>
          </p:cNvPr>
          <p:cNvSpPr>
            <a:spLocks xmlns:a="http://schemas.openxmlformats.org/drawingml/2006/main" noGrp="1"/>
          </p:cNvSpPr>
          <p:nvPr/>
        </p:nvSpPr>
        <p:spPr>
          <a:xfrm xmlns:a="http://schemas.openxmlformats.org/drawingml/2006/main">
            <a:off x="1047750" y="6334125"/>
            <a:ext cx="1581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0">
                <a:solidFill>
                  <a:srgbClr val="0A2740"/>
                </a:solidFill>
                <a:latin typeface="Anton"/>
                <a:ea typeface="Anton"/>
                <a:cs typeface="Anton"/>
              </a:defRPr>
            </a:pPr>
            <a:r>
              <a:rPr sz="3600" b="0">
                <a:solidFill>
                  <a:srgbClr val="0A2740"/>
                </a:solidFill>
                <a:latin typeface="Anton"/>
                <a:ea typeface="Anton"/>
                <a:cs typeface="Anton"/>
              </a:rPr>
              <a:t>All variants of a clip stay in the same split</a:t>
            </a:r>
          </a:p>
        </p:txBody>
      </p:sp>
      <p:sp>
        <p:nvSpPr>
          <p:cNvPr id="43" name="Video gốc, fake, bản nén và audio t">
            <a:extLst xmlns:a="http://schemas.openxmlformats.org/drawingml/2006/main">
              <a:ext uri="{FF2B5EF4-FFF2-40B4-BE49-F238E27FC236}">
                <a16:creationId xmlns:a16="http://schemas.microsoft.com/office/drawing/2014/main" id="{EE07E679-C7D7-468B-B757-E74D5759038D}"/>
              </a:ext>
            </a:extLst>
          </p:cNvPr>
          <p:cNvSpPr>
            <a:spLocks xmlns:a="http://schemas.openxmlformats.org/drawingml/2006/main" noGrp="1"/>
          </p:cNvSpPr>
          <p:nvPr/>
        </p:nvSpPr>
        <p:spPr>
          <a:xfrm xmlns:a="http://schemas.openxmlformats.org/drawingml/2006/main">
            <a:off x="1047750" y="7286625"/>
            <a:ext cx="15811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455966"/>
                </a:solidFill>
                <a:latin typeface="Aptos"/>
                <a:ea typeface="Aptos"/>
                <a:cs typeface="Aptos"/>
              </a:defRPr>
            </a:pPr>
            <a:r>
              <a:rPr sz="2775" b="0">
                <a:solidFill>
                  <a:srgbClr val="455966"/>
                </a:solidFill>
                <a:latin typeface="Aptos"/>
                <a:ea typeface="Aptos"/>
                <a:cs typeface="Aptos"/>
              </a:rPr>
              <a:t>Originals, fakes, compressed copies and donor audio follow the locked split.</a:t>
            </a:r>
          </a:p>
          <a:p xmlns:a="http://schemas.openxmlformats.org/drawingml/2006/main">
            <a:pPr>
              <a:buNone/>
              <a:defRPr sz="2775" b="0">
                <a:solidFill>
                  <a:srgbClr val="455966"/>
                </a:solidFill>
                <a:latin typeface="Aptos"/>
                <a:ea typeface="Aptos"/>
                <a:cs typeface="Aptos"/>
              </a:defRPr>
            </a:pPr>
            <a:r>
              <a:rPr sz="2775" b="0">
                <a:solidFill>
                  <a:srgbClr val="455966"/>
                </a:solidFill>
                <a:latin typeface="Aptos"/>
                <a:ea typeface="Aptos"/>
                <a:cs typeface="Aptos"/>
              </a:rPr>
              <a:t>Check reuploads and duplicate segments. Keep clips from the same source together.</a:t>
            </a:r>
          </a:p>
        </p:txBody>
      </p:sp>
      <p:sp>
        <p:nvSpPr>
          <p:cNvPr id="44" name="Khi bổ sung người nói: chia theo da">
            <a:extLst xmlns:a="http://schemas.openxmlformats.org/drawingml/2006/main">
              <a:ext uri="{FF2B5EF4-FFF2-40B4-BE49-F238E27FC236}">
                <a16:creationId xmlns:a16="http://schemas.microsoft.com/office/drawing/2014/main" id="{481BAA79-8194-450B-9054-31F469E0D353}"/>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86B8A"/>
                </a:solidFill>
                <a:latin typeface="Aptos"/>
                <a:ea typeface="Aptos"/>
                <a:cs typeface="Aptos"/>
              </a:defRPr>
            </a:pPr>
            <a:r>
              <a:rPr sz="2025" b="0">
                <a:solidFill>
                  <a:srgbClr val="286B8A"/>
                </a:solidFill>
                <a:latin typeface="Aptos"/>
                <a:ea typeface="Aptos"/>
                <a:cs typeface="Aptos"/>
              </a:rPr>
              <a:t>With more speakers: split by identity before generation to evaluate unseen speakers.</a:t>
            </a:r>
          </a:p>
        </p:txBody>
      </p:sp>
    </p:spTree>
    <p:extLst>
      <p:ext uri="{BB962C8B-B14F-4D97-AF65-F5344CB8AC3E}">
        <p14:creationId xmlns:p14="http://schemas.microsoft.com/office/powerpoint/2010/main" val="24918661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f3cc096669964755">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f3cc096669964755">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f3cc096669964755">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78295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f3cc096669964755">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f3cc096669964755">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f3cc096669964755">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06</a:t>
            </a:r>
          </a:p>
        </p:txBody>
      </p:sp>
      <p:sp>
        <p:nvSpPr>
          <p:cNvPr id="31" name="Freeform 31">
            <a:extLst xmlns:a="http://schemas.openxmlformats.org/drawingml/2006/main">
              <a:ext uri="{FF2B5EF4-FFF2-40B4-BE49-F238E27FC236}">
                <a16:creationId xmlns:a16="http://schemas.microsoft.com/office/drawing/2014/main" id="{A5FAAF27-D7D2-455B-B8AA-65BE19596F42}"/>
              </a:ext>
            </a:extLst>
          </p:cNvPr>
          <p:cNvSpPr>
            <a:spLocks xmlns:a="http://schemas.openxmlformats.org/drawingml/2006/main" noGrp="1"/>
          </p:cNvSpPr>
          <p:nvPr/>
        </p:nvSpPr>
        <p:spPr>
          <a:xfrm xmlns:a="http://schemas.openxmlformats.org/drawingml/2006/main" rot="0" flipH="0" flipV="0">
            <a:off x="10191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E7F5F9"/>
          </a:solidFill>
          <a:ln xmlns:a="http://schemas.openxmlformats.org/drawingml/2006/main" w="19050">
            <a:solidFill>
              <a:srgbClr val="CCDDE4"/>
            </a:solidFill>
            <a:prstDash val="solid"/>
          </a:ln>
        </p:spPr>
      </p:sp>
      <p:sp>
        <p:nvSpPr>
          <p:cNvPr id="36" name="Freeform 36">
            <a:extLst xmlns:a="http://schemas.openxmlformats.org/drawingml/2006/main">
              <a:ext uri="{FF2B5EF4-FFF2-40B4-BE49-F238E27FC236}">
                <a16:creationId xmlns:a16="http://schemas.microsoft.com/office/drawing/2014/main" id="{94EE5536-23C1-459D-A092-D21ECE3C57E2}"/>
              </a:ext>
            </a:extLst>
          </p:cNvPr>
          <p:cNvSpPr>
            <a:spLocks xmlns:a="http://schemas.openxmlformats.org/drawingml/2006/main" noGrp="1"/>
          </p:cNvSpPr>
          <p:nvPr/>
        </p:nvSpPr>
        <p:spPr>
          <a:xfrm xmlns:a="http://schemas.openxmlformats.org/drawingml/2006/main" rot="0" flipH="0" flipV="0">
            <a:off x="94392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F4F9FB"/>
          </a:solidFill>
          <a:ln xmlns:a="http://schemas.openxmlformats.org/drawingml/2006/main" w="19050">
            <a:solidFill>
              <a:srgbClr val="CCDDE4"/>
            </a:solidFill>
            <a:prstDash val="solid"/>
          </a:ln>
        </p:spPr>
      </p:sp>
      <p:sp>
        <p:nvSpPr>
          <p:cNvPr id="37" name="06  /  MODEL">
            <a:extLst xmlns:a="http://schemas.openxmlformats.org/drawingml/2006/main">
              <a:ext uri="{FF2B5EF4-FFF2-40B4-BE49-F238E27FC236}">
                <a16:creationId xmlns:a16="http://schemas.microsoft.com/office/drawing/2014/main" id="{FF41A940-0BD0-4B90-9991-79062059E8E4}"/>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06  /  MODEL</a:t>
            </a:r>
          </a:p>
        </p:txBody>
      </p:sp>
      <p:sp>
        <p:nvSpPr>
          <p:cNvPr id="38" name="AV-HUBERT TRONG PROJECT">
            <a:extLst xmlns:a="http://schemas.openxmlformats.org/drawingml/2006/main">
              <a:ext uri="{FF2B5EF4-FFF2-40B4-BE49-F238E27FC236}">
                <a16:creationId xmlns:a16="http://schemas.microsoft.com/office/drawing/2014/main" id="{DF3087BA-73AF-491A-8289-566D7E8B7D2D}"/>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AV-HUBERT IN THIS PROJECT</a:t>
            </a:r>
          </a:p>
        </p:txBody>
      </p:sp>
      <p:sp>
        <p:nvSpPr>
          <p:cNvPr id="39" name="TẬN DỤNG CHECKPOINT">
            <a:extLst xmlns:a="http://schemas.openxmlformats.org/drawingml/2006/main">
              <a:ext uri="{FF2B5EF4-FFF2-40B4-BE49-F238E27FC236}">
                <a16:creationId xmlns:a16="http://schemas.microsoft.com/office/drawing/2014/main" id="{67EA58E3-7B80-4971-AA55-BEB8AFCB54C7}"/>
              </a:ext>
            </a:extLst>
          </p:cNvPr>
          <p:cNvSpPr>
            <a:spLocks xmlns:a="http://schemas.openxmlformats.org/drawingml/2006/main" noGrp="1"/>
          </p:cNvSpPr>
          <p:nvPr/>
        </p:nvSpPr>
        <p:spPr>
          <a:xfrm xmlns:a="http://schemas.openxmlformats.org/drawingml/2006/main">
            <a:off x="1476375"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0A2740"/>
                </a:solidFill>
                <a:latin typeface="Anton"/>
                <a:ea typeface="Anton"/>
                <a:cs typeface="Anton"/>
              </a:defRPr>
            </a:pPr>
            <a:r>
              <a:rPr sz="3675" b="0">
                <a:solidFill>
                  <a:srgbClr val="0A2740"/>
                </a:solidFill>
                <a:latin typeface="Anton"/>
                <a:ea typeface="Anton"/>
                <a:cs typeface="Anton"/>
              </a:rPr>
              <a:t>PRETRAINED FEATURES</a:t>
            </a:r>
          </a:p>
        </p:txBody>
      </p:sp>
      <p:sp>
        <p:nvSpPr>
          <p:cNvPr id="40" name="Base pretrained có sẵn">
            <a:extLst xmlns:a="http://schemas.openxmlformats.org/drawingml/2006/main">
              <a:ext uri="{FF2B5EF4-FFF2-40B4-BE49-F238E27FC236}">
                <a16:creationId xmlns:a16="http://schemas.microsoft.com/office/drawing/2014/main" id="{637BAE33-0EC0-4D44-837E-E4CD789371FD}"/>
              </a:ext>
            </a:extLst>
          </p:cNvPr>
          <p:cNvSpPr>
            <a:spLocks xmlns:a="http://schemas.openxmlformats.org/drawingml/2006/main" noGrp="1"/>
          </p:cNvSpPr>
          <p:nvPr/>
        </p:nvSpPr>
        <p:spPr>
          <a:xfrm xmlns:a="http://schemas.openxmlformats.org/drawingml/2006/main">
            <a:off x="1476375"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Reuse the pretrained Base checkpoint</a:t>
            </a:r>
          </a:p>
        </p:txBody>
      </p:sp>
      <p:sp>
        <p:nvSpPr>
          <p:cNvPr id="41" name="Học biểu diễn âm thanh–hình ảnh">
            <a:extLst xmlns:a="http://schemas.openxmlformats.org/drawingml/2006/main">
              <a:ext uri="{FF2B5EF4-FFF2-40B4-BE49-F238E27FC236}">
                <a16:creationId xmlns:a16="http://schemas.microsoft.com/office/drawing/2014/main" id="{320E3723-A513-4EDE-AEFF-BC06CC7059B7}"/>
              </a:ext>
            </a:extLst>
          </p:cNvPr>
          <p:cNvSpPr>
            <a:spLocks xmlns:a="http://schemas.openxmlformats.org/drawingml/2006/main" noGrp="1"/>
          </p:cNvSpPr>
          <p:nvPr/>
        </p:nvSpPr>
        <p:spPr>
          <a:xfrm xmlns:a="http://schemas.openxmlformats.org/drawingml/2006/main">
            <a:off x="1476375"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Audio–visual speech representations</a:t>
            </a:r>
          </a:p>
        </p:txBody>
      </p:sp>
      <p:sp>
        <p:nvSpPr>
          <p:cNvPr id="42" name="Lấy hai nhánh trước fusion">
            <a:extLst xmlns:a="http://schemas.openxmlformats.org/drawingml/2006/main">
              <a:ext uri="{FF2B5EF4-FFF2-40B4-BE49-F238E27FC236}">
                <a16:creationId xmlns:a16="http://schemas.microsoft.com/office/drawing/2014/main" id="{8249F600-1D7F-4D53-BF2D-FA415A6F440C}"/>
              </a:ext>
            </a:extLst>
          </p:cNvPr>
          <p:cNvSpPr>
            <a:spLocks xmlns:a="http://schemas.openxmlformats.org/drawingml/2006/main" noGrp="1"/>
          </p:cNvSpPr>
          <p:nvPr/>
        </p:nvSpPr>
        <p:spPr>
          <a:xfrm xmlns:a="http://schemas.openxmlformats.org/drawingml/2006/main">
            <a:off x="1476375"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Extract both branches before fusion</a:t>
            </a:r>
          </a:p>
        </p:txBody>
      </p:sp>
      <p:sp>
        <p:nvSpPr>
          <p:cNvPr id="43" name="Đóng băng trọng số khi train head">
            <a:extLst xmlns:a="http://schemas.openxmlformats.org/drawingml/2006/main">
              <a:ext uri="{FF2B5EF4-FFF2-40B4-BE49-F238E27FC236}">
                <a16:creationId xmlns:a16="http://schemas.microsoft.com/office/drawing/2014/main" id="{264F1189-C987-4C9D-AA4D-1AF3B9ADFE26}"/>
              </a:ext>
            </a:extLst>
          </p:cNvPr>
          <p:cNvSpPr>
            <a:spLocks xmlns:a="http://schemas.openxmlformats.org/drawingml/2006/main" noGrp="1"/>
          </p:cNvSpPr>
          <p:nvPr/>
        </p:nvSpPr>
        <p:spPr>
          <a:xfrm xmlns:a="http://schemas.openxmlformats.org/drawingml/2006/main">
            <a:off x="1476375"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Freeze weights while training the head</a:t>
            </a:r>
          </a:p>
        </p:txBody>
      </p:sp>
      <p:sp>
        <p:nvSpPr>
          <p:cNvPr id="44" name="GIỚI HẠN CẦN KIỂM CHỨNG">
            <a:extLst xmlns:a="http://schemas.openxmlformats.org/drawingml/2006/main">
              <a:ext uri="{FF2B5EF4-FFF2-40B4-BE49-F238E27FC236}">
                <a16:creationId xmlns:a16="http://schemas.microsoft.com/office/drawing/2014/main" id="{1AA07134-45A7-4A8C-846E-19C232F71D79}"/>
              </a:ext>
            </a:extLst>
          </p:cNvPr>
          <p:cNvSpPr>
            <a:spLocks xmlns:a="http://schemas.openxmlformats.org/drawingml/2006/main" noGrp="1"/>
          </p:cNvSpPr>
          <p:nvPr/>
        </p:nvSpPr>
        <p:spPr>
          <a:xfrm xmlns:a="http://schemas.openxmlformats.org/drawingml/2006/main">
            <a:off x="9906000"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0A2740"/>
                </a:solidFill>
                <a:latin typeface="Anton"/>
                <a:ea typeface="Anton"/>
                <a:cs typeface="Anton"/>
              </a:defRPr>
            </a:pPr>
            <a:r>
              <a:rPr sz="3675" b="0">
                <a:solidFill>
                  <a:srgbClr val="0A2740"/>
                </a:solidFill>
                <a:latin typeface="Anton"/>
                <a:ea typeface="Anton"/>
                <a:cs typeface="Anton"/>
              </a:rPr>
              <a:t>LIMITS TO EVALUATE</a:t>
            </a:r>
          </a:p>
        </p:txBody>
      </p:sp>
      <p:sp>
        <p:nvSpPr>
          <p:cNvPr id="45" name="Pretrained chủ yếu trên tiếng Anh">
            <a:extLst xmlns:a="http://schemas.openxmlformats.org/drawingml/2006/main">
              <a:ext uri="{FF2B5EF4-FFF2-40B4-BE49-F238E27FC236}">
                <a16:creationId xmlns:a16="http://schemas.microsoft.com/office/drawing/2014/main" id="{623D9238-C1B5-469C-9B59-516E97800B0D}"/>
              </a:ext>
            </a:extLst>
          </p:cNvPr>
          <p:cNvSpPr>
            <a:spLocks xmlns:a="http://schemas.openxmlformats.org/drawingml/2006/main" noGrp="1"/>
          </p:cNvSpPr>
          <p:nvPr/>
        </p:nvSpPr>
        <p:spPr>
          <a:xfrm xmlns:a="http://schemas.openxmlformats.org/drawingml/2006/main">
            <a:off x="9906000"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Checkpoint trained on English speech</a:t>
            </a:r>
          </a:p>
        </p:txBody>
      </p:sp>
      <p:sp>
        <p:nvSpPr>
          <p:cNvPr id="46" name="Chưa chứng minh hiệu quả tiếng Việt">
            <a:extLst xmlns:a="http://schemas.openxmlformats.org/drawingml/2006/main">
              <a:ext uri="{FF2B5EF4-FFF2-40B4-BE49-F238E27FC236}">
                <a16:creationId xmlns:a16="http://schemas.microsoft.com/office/drawing/2014/main" id="{D8807A8A-FF6B-4202-8F1B-137061A041FA}"/>
              </a:ext>
            </a:extLst>
          </p:cNvPr>
          <p:cNvSpPr>
            <a:spLocks xmlns:a="http://schemas.openxmlformats.org/drawingml/2006/main" noGrp="1"/>
          </p:cNvSpPr>
          <p:nvPr/>
        </p:nvSpPr>
        <p:spPr>
          <a:xfrm xmlns:a="http://schemas.openxmlformats.org/drawingml/2006/main">
            <a:off x="9906000"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Vietnamese performance is unproven</a:t>
            </a:r>
          </a:p>
        </p:txBody>
      </p:sp>
      <p:sp>
        <p:nvSpPr>
          <p:cNvPr id="47" name="Chưa dùng Transformer hợp nhất">
            <a:extLst xmlns:a="http://schemas.openxmlformats.org/drawingml/2006/main">
              <a:ext uri="{FF2B5EF4-FFF2-40B4-BE49-F238E27FC236}">
                <a16:creationId xmlns:a16="http://schemas.microsoft.com/office/drawing/2014/main" id="{BD55246F-C0E2-4AFD-92C3-06352D2FEEC9}"/>
              </a:ext>
            </a:extLst>
          </p:cNvPr>
          <p:cNvSpPr>
            <a:spLocks xmlns:a="http://schemas.openxmlformats.org/drawingml/2006/main" noGrp="1"/>
          </p:cNvSpPr>
          <p:nvPr/>
        </p:nvSpPr>
        <p:spPr>
          <a:xfrm xmlns:a="http://schemas.openxmlformats.org/drawingml/2006/main">
            <a:off x="9906000"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Joint Transformer is not used yet</a:t>
            </a:r>
          </a:p>
        </p:txBody>
      </p:sp>
      <p:sp>
        <p:nvSpPr>
          <p:cNvPr id="48" name="AV-HuBERT không tự là detector">
            <a:extLst xmlns:a="http://schemas.openxmlformats.org/drawingml/2006/main">
              <a:ext uri="{FF2B5EF4-FFF2-40B4-BE49-F238E27FC236}">
                <a16:creationId xmlns:a16="http://schemas.microsoft.com/office/drawing/2014/main" id="{95D3B6C3-C411-404B-A234-B208DDB18426}"/>
              </a:ext>
            </a:extLst>
          </p:cNvPr>
          <p:cNvSpPr>
            <a:spLocks xmlns:a="http://schemas.openxmlformats.org/drawingml/2006/main" noGrp="1"/>
          </p:cNvSpPr>
          <p:nvPr/>
        </p:nvSpPr>
        <p:spPr>
          <a:xfrm xmlns:a="http://schemas.openxmlformats.org/drawingml/2006/main">
            <a:off x="9906000"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AV-HuBERT alone is not a detector</a:t>
            </a:r>
          </a:p>
        </p:txBody>
      </p:sp>
      <p:sp>
        <p:nvSpPr>
          <p:cNvPr id="49" name="Checkpoint: base_vox_iter5.pt. Repo">
            <a:extLst xmlns:a="http://schemas.openxmlformats.org/drawingml/2006/main">
              <a:ext uri="{FF2B5EF4-FFF2-40B4-BE49-F238E27FC236}">
                <a16:creationId xmlns:a16="http://schemas.microsoft.com/office/drawing/2014/main" id="{43AD483F-E55B-4C1B-87E5-67A69BE5E48E}"/>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86B8A"/>
                </a:solidFill>
                <a:latin typeface="Aptos"/>
                <a:ea typeface="Aptos"/>
                <a:cs typeface="Aptos"/>
              </a:defRPr>
            </a:pPr>
            <a:r>
              <a:rPr sz="2025" b="0">
                <a:solidFill>
                  <a:srgbClr val="286B8A"/>
                </a:solidFill>
                <a:latin typeface="Aptos"/>
                <a:ea typeface="Aptos"/>
                <a:cs typeface="Aptos"/>
              </a:rPr>
              <a:t>Checkpoint: base_vox_iter5.pt. The two loaded pre-fusion branches contain 11,661,312 parameters.</a:t>
            </a:r>
          </a:p>
        </p:txBody>
      </p:sp>
    </p:spTree>
    <p:extLst>
      <p:ext uri="{BB962C8B-B14F-4D97-AF65-F5344CB8AC3E}">
        <p14:creationId xmlns:p14="http://schemas.microsoft.com/office/powerpoint/2010/main" val="2491866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643898eaf26f48a1">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643898eaf26f48a1">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643898eaf26f48a1">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78295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643898eaf26f48a1">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643898eaf26f48a1">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643898eaf26f48a1">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07</a:t>
            </a:r>
          </a:p>
        </p:txBody>
      </p:sp>
      <p:sp>
        <p:nvSpPr>
          <p:cNvPr id="26" name="07  /  MODEL">
            <a:extLst xmlns:a="http://schemas.openxmlformats.org/drawingml/2006/main">
              <a:ext uri="{FF2B5EF4-FFF2-40B4-BE49-F238E27FC236}">
                <a16:creationId xmlns:a16="http://schemas.microsoft.com/office/drawing/2014/main" id="{13E406AE-376C-474A-A3D3-EC998C5ECEC0}"/>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07  /  MODEL</a:t>
            </a:r>
          </a:p>
        </p:txBody>
      </p:sp>
      <p:sp>
        <p:nvSpPr>
          <p:cNvPr id="27" name="KIẾN TRÚC DETECTOR HIỆN HÀNH">
            <a:extLst xmlns:a="http://schemas.openxmlformats.org/drawingml/2006/main">
              <a:ext uri="{FF2B5EF4-FFF2-40B4-BE49-F238E27FC236}">
                <a16:creationId xmlns:a16="http://schemas.microsoft.com/office/drawing/2014/main" id="{FBDFB419-493F-4490-A1FE-F9DA94F78940}"/>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CURRENT DETECTOR ARCHITECTURE</a:t>
            </a:r>
          </a:p>
        </p:txBody>
      </p:sp>
      <p:sp>
        <p:nvSpPr>
          <p:cNvPr id="28" name="Audio 16 kHz&#10;Acoustic features">
            <a:extLst xmlns:a="http://schemas.openxmlformats.org/drawingml/2006/main">
              <a:ext uri="{FF2B5EF4-FFF2-40B4-BE49-F238E27FC236}">
                <a16:creationId xmlns:a16="http://schemas.microsoft.com/office/drawing/2014/main" id="{06E6E4F6-848C-4C01-81F7-D5AAA29EA880}"/>
              </a:ext>
            </a:extLst>
          </p:cNvPr>
          <p:cNvSpPr>
            <a:spLocks xmlns:a="http://schemas.openxmlformats.org/drawingml/2006/main" noGrp="1"/>
          </p:cNvSpPr>
          <p:nvPr/>
        </p:nvSpPr>
        <p:spPr>
          <a:xfrm xmlns:a="http://schemas.openxmlformats.org/drawingml/2006/main">
            <a:off x="1047750" y="3762375"/>
            <a:ext cx="3571875"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29" name="Audio 16 kHz&#10;Acoustic features">
            <a:extLst xmlns:a="http://schemas.openxmlformats.org/drawingml/2006/main">
              <a:ext uri="{FF2B5EF4-FFF2-40B4-BE49-F238E27FC236}">
                <a16:creationId xmlns:a16="http://schemas.microsoft.com/office/drawing/2014/main" id="{2B5D371B-42D8-4B5B-A1CA-59C5C80C2B1B}"/>
              </a:ext>
            </a:extLst>
          </p:cNvPr>
          <p:cNvSpPr>
            <a:spLocks xmlns:a="http://schemas.openxmlformats.org/drawingml/2006/main" noGrp="1"/>
          </p:cNvSpPr>
          <p:nvPr/>
        </p:nvSpPr>
        <p:spPr>
          <a:xfrm xmlns:a="http://schemas.openxmlformats.org/drawingml/2006/main">
            <a:off x="1219200" y="3943350"/>
            <a:ext cx="3228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Audio 16 kHz</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Acoustic features</a:t>
            </a:r>
          </a:p>
        </p:txBody>
      </p:sp>
      <p:sp>
        <p:nvSpPr>
          <p:cNvPr id="30" name="Nhánh audio&#10;AV-HuBERT">
            <a:extLst xmlns:a="http://schemas.openxmlformats.org/drawingml/2006/main">
              <a:ext uri="{FF2B5EF4-FFF2-40B4-BE49-F238E27FC236}">
                <a16:creationId xmlns:a16="http://schemas.microsoft.com/office/drawing/2014/main" id="{18350692-5219-4D83-80EF-55664A6FF207}"/>
              </a:ext>
            </a:extLst>
          </p:cNvPr>
          <p:cNvSpPr>
            <a:spLocks xmlns:a="http://schemas.openxmlformats.org/drawingml/2006/main" noGrp="1"/>
          </p:cNvSpPr>
          <p:nvPr/>
        </p:nvSpPr>
        <p:spPr>
          <a:xfrm xmlns:a="http://schemas.openxmlformats.org/drawingml/2006/main">
            <a:off x="5524500" y="3762375"/>
            <a:ext cx="3571875"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31" name="Nhánh audio&#10;AV-HuBERT">
            <a:extLst xmlns:a="http://schemas.openxmlformats.org/drawingml/2006/main">
              <a:ext uri="{FF2B5EF4-FFF2-40B4-BE49-F238E27FC236}">
                <a16:creationId xmlns:a16="http://schemas.microsoft.com/office/drawing/2014/main" id="{07F5088F-D9B9-4003-90E9-3CD92C1266F0}"/>
              </a:ext>
            </a:extLst>
          </p:cNvPr>
          <p:cNvSpPr>
            <a:spLocks xmlns:a="http://schemas.openxmlformats.org/drawingml/2006/main" noGrp="1"/>
          </p:cNvSpPr>
          <p:nvPr/>
        </p:nvSpPr>
        <p:spPr>
          <a:xfrm xmlns:a="http://schemas.openxmlformats.org/drawingml/2006/main">
            <a:off x="5695950" y="3943350"/>
            <a:ext cx="3228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AV-HuBERT</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Audio branch</a:t>
            </a:r>
          </a:p>
        </p:txBody>
      </p:sp>
      <p:sp>
        <p:nvSpPr>
          <p:cNvPr id="32" name="Linear audio">
            <a:extLst xmlns:a="http://schemas.openxmlformats.org/drawingml/2006/main">
              <a:ext uri="{FF2B5EF4-FFF2-40B4-BE49-F238E27FC236}">
                <a16:creationId xmlns:a16="http://schemas.microsoft.com/office/drawing/2014/main" id="{5FDC02A7-859F-4230-A0BB-6DCF9C2551A2}"/>
              </a:ext>
            </a:extLst>
          </p:cNvPr>
          <p:cNvSpPr>
            <a:spLocks xmlns:a="http://schemas.openxmlformats.org/drawingml/2006/main" noGrp="1"/>
          </p:cNvSpPr>
          <p:nvPr/>
        </p:nvSpPr>
        <p:spPr>
          <a:xfrm xmlns:a="http://schemas.openxmlformats.org/drawingml/2006/main">
            <a:off x="10096500" y="3762375"/>
            <a:ext cx="2857500"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33" name="Linear audio">
            <a:extLst xmlns:a="http://schemas.openxmlformats.org/drawingml/2006/main">
              <a:ext uri="{FF2B5EF4-FFF2-40B4-BE49-F238E27FC236}">
                <a16:creationId xmlns:a16="http://schemas.microsoft.com/office/drawing/2014/main" id="{024D3C5E-AEC5-42FA-A5C3-FCAE37E78615}"/>
              </a:ext>
            </a:extLst>
          </p:cNvPr>
          <p:cNvSpPr>
            <a:spLocks xmlns:a="http://schemas.openxmlformats.org/drawingml/2006/main" noGrp="1"/>
          </p:cNvSpPr>
          <p:nvPr/>
        </p:nvSpPr>
        <p:spPr>
          <a:xfrm xmlns:a="http://schemas.openxmlformats.org/drawingml/2006/main">
            <a:off x="10267950" y="3943350"/>
            <a:ext cx="2514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Audio Linear</a:t>
            </a:r>
          </a:p>
        </p:txBody>
      </p:sp>
      <p:sp>
        <p:nvSpPr>
          <p:cNvPr id="34" name="">
            <a:extLst xmlns:a="http://schemas.openxmlformats.org/drawingml/2006/main">
              <a:ext uri="{FF2B5EF4-FFF2-40B4-BE49-F238E27FC236}">
                <a16:creationId xmlns:a16="http://schemas.microsoft.com/office/drawing/2014/main" id="{31C34955-46B3-4715-9F5D-4CFC237F2A78}"/>
              </a:ext>
            </a:extLst>
          </p:cNvPr>
          <p:cNvSpPr>
            <a:spLocks xmlns:a="http://schemas.openxmlformats.org/drawingml/2006/main" noGrp="1"/>
          </p:cNvSpPr>
          <p:nvPr/>
        </p:nvSpPr>
        <p:spPr>
          <a:xfrm xmlns:a="http://schemas.openxmlformats.org/drawingml/2006/main">
            <a:off x="4619625" y="4429125"/>
            <a:ext cx="904875" cy="0"/>
          </a:xfrm>
          <a:prstGeom xmlns:a="http://schemas.openxmlformats.org/drawingml/2006/main" prst="line">
            <a:avLst/>
          </a:prstGeom>
          <a:ln xmlns:a="http://schemas.openxmlformats.org/drawingml/2006/main" w="28575">
            <a:solidFill>
              <a:srgbClr val="286B8A"/>
            </a:solidFill>
          </a:ln>
        </p:spPr>
      </p:sp>
      <p:sp>
        <p:nvSpPr>
          <p:cNvPr id="35" name="">
            <a:extLst xmlns:a="http://schemas.openxmlformats.org/drawingml/2006/main">
              <a:ext uri="{FF2B5EF4-FFF2-40B4-BE49-F238E27FC236}">
                <a16:creationId xmlns:a16="http://schemas.microsoft.com/office/drawing/2014/main" id="{62CBBF11-3363-4510-8F2D-035E0045855D}"/>
              </a:ext>
            </a:extLst>
          </p:cNvPr>
          <p:cNvSpPr>
            <a:spLocks xmlns:a="http://schemas.openxmlformats.org/drawingml/2006/main" noGrp="1"/>
          </p:cNvSpPr>
          <p:nvPr/>
        </p:nvSpPr>
        <p:spPr>
          <a:xfrm xmlns:a="http://schemas.openxmlformats.org/drawingml/2006/main">
            <a:off x="9096375" y="4429125"/>
            <a:ext cx="1000125" cy="0"/>
          </a:xfrm>
          <a:prstGeom xmlns:a="http://schemas.openxmlformats.org/drawingml/2006/main" prst="line">
            <a:avLst/>
          </a:prstGeom>
          <a:ln xmlns:a="http://schemas.openxmlformats.org/drawingml/2006/main" w="28575">
            <a:solidFill>
              <a:srgbClr val="286B8A"/>
            </a:solidFill>
          </a:ln>
        </p:spPr>
      </p:sp>
      <p:sp>
        <p:nvSpPr>
          <p:cNvPr id="36" name="Video 25 FPS&#10;Căn mặt, crop miệng">
            <a:extLst xmlns:a="http://schemas.openxmlformats.org/drawingml/2006/main">
              <a:ext uri="{FF2B5EF4-FFF2-40B4-BE49-F238E27FC236}">
                <a16:creationId xmlns:a16="http://schemas.microsoft.com/office/drawing/2014/main" id="{059C21AC-A30D-4CF1-ABC4-B48E1B58841B}"/>
              </a:ext>
            </a:extLst>
          </p:cNvPr>
          <p:cNvSpPr>
            <a:spLocks xmlns:a="http://schemas.openxmlformats.org/drawingml/2006/main" noGrp="1"/>
          </p:cNvSpPr>
          <p:nvPr/>
        </p:nvSpPr>
        <p:spPr>
          <a:xfrm xmlns:a="http://schemas.openxmlformats.org/drawingml/2006/main">
            <a:off x="1047750" y="6143625"/>
            <a:ext cx="3571875"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37" name="Video 25 FPS&#10;Căn mặt, crop miệng">
            <a:extLst xmlns:a="http://schemas.openxmlformats.org/drawingml/2006/main">
              <a:ext uri="{FF2B5EF4-FFF2-40B4-BE49-F238E27FC236}">
                <a16:creationId xmlns:a16="http://schemas.microsoft.com/office/drawing/2014/main" id="{3BF7347F-5AFE-410A-BAC6-B45BDC0F2A7D}"/>
              </a:ext>
            </a:extLst>
          </p:cNvPr>
          <p:cNvSpPr>
            <a:spLocks xmlns:a="http://schemas.openxmlformats.org/drawingml/2006/main" noGrp="1"/>
          </p:cNvSpPr>
          <p:nvPr/>
        </p:nvSpPr>
        <p:spPr>
          <a:xfrm xmlns:a="http://schemas.openxmlformats.org/drawingml/2006/main">
            <a:off x="1219200" y="6324600"/>
            <a:ext cx="3228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Video 25 FPS</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Align face, crop mouth</a:t>
            </a:r>
          </a:p>
        </p:txBody>
      </p:sp>
      <p:sp>
        <p:nvSpPr>
          <p:cNvPr id="38" name="Nhánh visual&#10;AV-HuBERT">
            <a:extLst xmlns:a="http://schemas.openxmlformats.org/drawingml/2006/main">
              <a:ext uri="{FF2B5EF4-FFF2-40B4-BE49-F238E27FC236}">
                <a16:creationId xmlns:a16="http://schemas.microsoft.com/office/drawing/2014/main" id="{51D46089-CAFA-486F-954B-9E5290D891A9}"/>
              </a:ext>
            </a:extLst>
          </p:cNvPr>
          <p:cNvSpPr>
            <a:spLocks xmlns:a="http://schemas.openxmlformats.org/drawingml/2006/main" noGrp="1"/>
          </p:cNvSpPr>
          <p:nvPr/>
        </p:nvSpPr>
        <p:spPr>
          <a:xfrm xmlns:a="http://schemas.openxmlformats.org/drawingml/2006/main">
            <a:off x="5524500" y="6143625"/>
            <a:ext cx="3571875"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39" name="Nhánh visual&#10;AV-HuBERT">
            <a:extLst xmlns:a="http://schemas.openxmlformats.org/drawingml/2006/main">
              <a:ext uri="{FF2B5EF4-FFF2-40B4-BE49-F238E27FC236}">
                <a16:creationId xmlns:a16="http://schemas.microsoft.com/office/drawing/2014/main" id="{3C31F045-E700-4ABB-8527-CBFA5559046A}"/>
              </a:ext>
            </a:extLst>
          </p:cNvPr>
          <p:cNvSpPr>
            <a:spLocks xmlns:a="http://schemas.openxmlformats.org/drawingml/2006/main" noGrp="1"/>
          </p:cNvSpPr>
          <p:nvPr/>
        </p:nvSpPr>
        <p:spPr>
          <a:xfrm xmlns:a="http://schemas.openxmlformats.org/drawingml/2006/main">
            <a:off x="5695950" y="6324600"/>
            <a:ext cx="3228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AV-HuBERT</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Visual branch</a:t>
            </a:r>
          </a:p>
        </p:txBody>
      </p:sp>
      <p:sp>
        <p:nvSpPr>
          <p:cNvPr id="40" name="Linear visual">
            <a:extLst xmlns:a="http://schemas.openxmlformats.org/drawingml/2006/main">
              <a:ext uri="{FF2B5EF4-FFF2-40B4-BE49-F238E27FC236}">
                <a16:creationId xmlns:a16="http://schemas.microsoft.com/office/drawing/2014/main" id="{923813EB-125D-4FF0-8438-5EC1146A5531}"/>
              </a:ext>
            </a:extLst>
          </p:cNvPr>
          <p:cNvSpPr>
            <a:spLocks xmlns:a="http://schemas.openxmlformats.org/drawingml/2006/main" noGrp="1"/>
          </p:cNvSpPr>
          <p:nvPr/>
        </p:nvSpPr>
        <p:spPr>
          <a:xfrm xmlns:a="http://schemas.openxmlformats.org/drawingml/2006/main">
            <a:off x="10096500" y="6143625"/>
            <a:ext cx="2857500" cy="1333500"/>
          </a:xfrm>
          <a:prstGeom xmlns:a="http://schemas.openxmlformats.org/drawingml/2006/main" prst="roundRect">
            <a:avLst>
              <a:gd name="adj" fmla="val 5714"/>
            </a:avLst>
          </a:prstGeom>
          <a:solidFill xmlns:a="http://schemas.openxmlformats.org/drawingml/2006/main">
            <a:srgbClr val="E6F4F8"/>
          </a:solidFill>
          <a:ln xmlns:a="http://schemas.openxmlformats.org/drawingml/2006/main" w="9525">
            <a:solidFill>
              <a:srgbClr val="AACFDA"/>
            </a:solidFill>
          </a:ln>
        </p:spPr>
      </p:sp>
      <p:sp>
        <p:nvSpPr>
          <p:cNvPr id="41" name="Linear visual">
            <a:extLst xmlns:a="http://schemas.openxmlformats.org/drawingml/2006/main">
              <a:ext uri="{FF2B5EF4-FFF2-40B4-BE49-F238E27FC236}">
                <a16:creationId xmlns:a16="http://schemas.microsoft.com/office/drawing/2014/main" id="{1B9B3B0E-1CB0-49C5-A3B9-7D4EC52F777D}"/>
              </a:ext>
            </a:extLst>
          </p:cNvPr>
          <p:cNvSpPr>
            <a:spLocks xmlns:a="http://schemas.openxmlformats.org/drawingml/2006/main" noGrp="1"/>
          </p:cNvSpPr>
          <p:nvPr/>
        </p:nvSpPr>
        <p:spPr>
          <a:xfrm xmlns:a="http://schemas.openxmlformats.org/drawingml/2006/main">
            <a:off x="10267950" y="6324600"/>
            <a:ext cx="2514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Visual Linear</a:t>
            </a:r>
          </a:p>
        </p:txBody>
      </p:sp>
      <p:sp>
        <p:nvSpPr>
          <p:cNvPr id="42" name="">
            <a:extLst xmlns:a="http://schemas.openxmlformats.org/drawingml/2006/main">
              <a:ext uri="{FF2B5EF4-FFF2-40B4-BE49-F238E27FC236}">
                <a16:creationId xmlns:a16="http://schemas.microsoft.com/office/drawing/2014/main" id="{DC7712BF-A0D1-4473-B07C-3E9328E190D9}"/>
              </a:ext>
            </a:extLst>
          </p:cNvPr>
          <p:cNvSpPr>
            <a:spLocks xmlns:a="http://schemas.openxmlformats.org/drawingml/2006/main" noGrp="1"/>
          </p:cNvSpPr>
          <p:nvPr/>
        </p:nvSpPr>
        <p:spPr>
          <a:xfrm xmlns:a="http://schemas.openxmlformats.org/drawingml/2006/main">
            <a:off x="4619625" y="6810375"/>
            <a:ext cx="904875" cy="0"/>
          </a:xfrm>
          <a:prstGeom xmlns:a="http://schemas.openxmlformats.org/drawingml/2006/main" prst="line">
            <a:avLst/>
          </a:prstGeom>
          <a:ln xmlns:a="http://schemas.openxmlformats.org/drawingml/2006/main" w="28575">
            <a:solidFill>
              <a:srgbClr val="286B8A"/>
            </a:solidFill>
          </a:ln>
        </p:spPr>
      </p:sp>
      <p:sp>
        <p:nvSpPr>
          <p:cNvPr id="43" name="">
            <a:extLst xmlns:a="http://schemas.openxmlformats.org/drawingml/2006/main">
              <a:ext uri="{FF2B5EF4-FFF2-40B4-BE49-F238E27FC236}">
                <a16:creationId xmlns:a16="http://schemas.microsoft.com/office/drawing/2014/main" id="{E31235CA-7E98-47B6-8CE3-A5DFE0F3320E}"/>
              </a:ext>
            </a:extLst>
          </p:cNvPr>
          <p:cNvSpPr>
            <a:spLocks xmlns:a="http://schemas.openxmlformats.org/drawingml/2006/main" noGrp="1"/>
          </p:cNvSpPr>
          <p:nvPr/>
        </p:nvSpPr>
        <p:spPr>
          <a:xfrm xmlns:a="http://schemas.openxmlformats.org/drawingml/2006/main">
            <a:off x="9096375" y="6810375"/>
            <a:ext cx="1000125" cy="0"/>
          </a:xfrm>
          <a:prstGeom xmlns:a="http://schemas.openxmlformats.org/drawingml/2006/main" prst="line">
            <a:avLst/>
          </a:prstGeom>
          <a:ln xmlns:a="http://schemas.openxmlformats.org/drawingml/2006/main" w="28575">
            <a:solidFill>
              <a:srgbClr val="286B8A"/>
            </a:solidFill>
          </a:ln>
        </p:spPr>
      </p:sp>
      <p:sp>
        <p:nvSpPr>
          <p:cNvPr id="44" name="">
            <a:extLst xmlns:a="http://schemas.openxmlformats.org/drawingml/2006/main">
              <a:ext uri="{FF2B5EF4-FFF2-40B4-BE49-F238E27FC236}">
                <a16:creationId xmlns:a16="http://schemas.microsoft.com/office/drawing/2014/main" id="{91BA5A75-F009-445B-8067-36121125E365}"/>
              </a:ext>
            </a:extLst>
          </p:cNvPr>
          <p:cNvSpPr>
            <a:spLocks xmlns:a="http://schemas.openxmlformats.org/drawingml/2006/main" noGrp="1"/>
          </p:cNvSpPr>
          <p:nvPr/>
        </p:nvSpPr>
        <p:spPr>
          <a:xfrm xmlns:a="http://schemas.openxmlformats.org/drawingml/2006/main">
            <a:off x="12954000" y="4429125"/>
            <a:ext cx="666750" cy="0"/>
          </a:xfrm>
          <a:prstGeom xmlns:a="http://schemas.openxmlformats.org/drawingml/2006/main" prst="line">
            <a:avLst/>
          </a:prstGeom>
          <a:ln xmlns:a="http://schemas.openxmlformats.org/drawingml/2006/main" w="28575">
            <a:solidFill>
              <a:srgbClr val="286B8A"/>
            </a:solidFill>
          </a:ln>
        </p:spPr>
      </p:sp>
      <p:sp>
        <p:nvSpPr>
          <p:cNvPr id="45" name="">
            <a:extLst xmlns:a="http://schemas.openxmlformats.org/drawingml/2006/main">
              <a:ext uri="{FF2B5EF4-FFF2-40B4-BE49-F238E27FC236}">
                <a16:creationId xmlns:a16="http://schemas.microsoft.com/office/drawing/2014/main" id="{9ECB98F6-E7E8-41F7-941C-7DDB74C0DFC3}"/>
              </a:ext>
            </a:extLst>
          </p:cNvPr>
          <p:cNvSpPr>
            <a:spLocks xmlns:a="http://schemas.openxmlformats.org/drawingml/2006/main" noGrp="1"/>
          </p:cNvSpPr>
          <p:nvPr/>
        </p:nvSpPr>
        <p:spPr>
          <a:xfrm xmlns:a="http://schemas.openxmlformats.org/drawingml/2006/main">
            <a:off x="12954000" y="6810375"/>
            <a:ext cx="666750" cy="0"/>
          </a:xfrm>
          <a:prstGeom xmlns:a="http://schemas.openxmlformats.org/drawingml/2006/main" prst="line">
            <a:avLst/>
          </a:prstGeom>
          <a:ln xmlns:a="http://schemas.openxmlformats.org/drawingml/2006/main" w="28575">
            <a:solidFill>
              <a:srgbClr val="286B8A"/>
            </a:solidFill>
          </a:ln>
        </p:spPr>
      </p:sp>
      <p:sp>
        <p:nvSpPr>
          <p:cNvPr id="46" name="">
            <a:extLst xmlns:a="http://schemas.openxmlformats.org/drawingml/2006/main">
              <a:ext uri="{FF2B5EF4-FFF2-40B4-BE49-F238E27FC236}">
                <a16:creationId xmlns:a16="http://schemas.microsoft.com/office/drawing/2014/main" id="{0B80101E-0979-4FED-85F4-A35A59FA81A5}"/>
              </a:ext>
            </a:extLst>
          </p:cNvPr>
          <p:cNvSpPr>
            <a:spLocks xmlns:a="http://schemas.openxmlformats.org/drawingml/2006/main" noGrp="1"/>
          </p:cNvSpPr>
          <p:nvPr/>
        </p:nvSpPr>
        <p:spPr>
          <a:xfrm xmlns:a="http://schemas.openxmlformats.org/drawingml/2006/main">
            <a:off x="13620750" y="4429125"/>
            <a:ext cx="0" cy="2381250"/>
          </a:xfrm>
          <a:prstGeom xmlns:a="http://schemas.openxmlformats.org/drawingml/2006/main" prst="line">
            <a:avLst/>
          </a:prstGeom>
          <a:ln xmlns:a="http://schemas.openxmlformats.org/drawingml/2006/main" w="28575">
            <a:solidFill>
              <a:srgbClr val="286B8A"/>
            </a:solidFill>
          </a:ln>
        </p:spPr>
      </p:sp>
      <p:sp>
        <p:nvSpPr>
          <p:cNvPr id="47" name="">
            <a:extLst xmlns:a="http://schemas.openxmlformats.org/drawingml/2006/main">
              <a:ext uri="{FF2B5EF4-FFF2-40B4-BE49-F238E27FC236}">
                <a16:creationId xmlns:a16="http://schemas.microsoft.com/office/drawing/2014/main" id="{AF219B92-D297-450B-B5D7-8683241F110C}"/>
              </a:ext>
            </a:extLst>
          </p:cNvPr>
          <p:cNvSpPr>
            <a:spLocks xmlns:a="http://schemas.openxmlformats.org/drawingml/2006/main" noGrp="1"/>
          </p:cNvSpPr>
          <p:nvPr/>
        </p:nvSpPr>
        <p:spPr>
          <a:xfrm xmlns:a="http://schemas.openxmlformats.org/drawingml/2006/main">
            <a:off x="13620750" y="5619750"/>
            <a:ext cx="476250" cy="0"/>
          </a:xfrm>
          <a:prstGeom xmlns:a="http://schemas.openxmlformats.org/drawingml/2006/main" prst="line">
            <a:avLst/>
          </a:prstGeom>
          <a:ln xmlns:a="http://schemas.openxmlformats.org/drawingml/2006/main" w="28575">
            <a:solidFill>
              <a:srgbClr val="286B8A"/>
            </a:solidFill>
          </a:ln>
        </p:spPr>
      </p:sp>
      <p:sp>
        <p:nvSpPr>
          <p:cNvPr id="48" name="Ghép feature&#10;GRU theo thời gian&#10;Phân loại Real / Fake">
            <a:extLst xmlns:a="http://schemas.openxmlformats.org/drawingml/2006/main">
              <a:ext uri="{FF2B5EF4-FFF2-40B4-BE49-F238E27FC236}">
                <a16:creationId xmlns:a16="http://schemas.microsoft.com/office/drawing/2014/main" id="{9C76C142-292F-4664-BA0C-42B580A3DEE0}"/>
              </a:ext>
            </a:extLst>
          </p:cNvPr>
          <p:cNvSpPr>
            <a:spLocks xmlns:a="http://schemas.openxmlformats.org/drawingml/2006/main" noGrp="1"/>
          </p:cNvSpPr>
          <p:nvPr/>
        </p:nvSpPr>
        <p:spPr>
          <a:xfrm xmlns:a="http://schemas.openxmlformats.org/drawingml/2006/main">
            <a:off x="14097000" y="4619625"/>
            <a:ext cx="3143250" cy="1952625"/>
          </a:xfrm>
          <a:prstGeom xmlns:a="http://schemas.openxmlformats.org/drawingml/2006/main" prst="roundRect">
            <a:avLst>
              <a:gd name="adj" fmla="val 3902"/>
            </a:avLst>
          </a:prstGeom>
          <a:solidFill xmlns:a="http://schemas.openxmlformats.org/drawingml/2006/main">
            <a:srgbClr val="E6F4F8"/>
          </a:solidFill>
          <a:ln xmlns:a="http://schemas.openxmlformats.org/drawingml/2006/main" w="9525">
            <a:solidFill>
              <a:srgbClr val="AACFDA"/>
            </a:solidFill>
          </a:ln>
        </p:spPr>
      </p:sp>
      <p:sp>
        <p:nvSpPr>
          <p:cNvPr id="49" name="Ghép feature&#10;GRU theo thời gian&#10;Phâ">
            <a:extLst xmlns:a="http://schemas.openxmlformats.org/drawingml/2006/main">
              <a:ext uri="{FF2B5EF4-FFF2-40B4-BE49-F238E27FC236}">
                <a16:creationId xmlns:a16="http://schemas.microsoft.com/office/drawing/2014/main" id="{AF288A62-97F8-4E56-9F6D-DA1C6CD39BD5}"/>
              </a:ext>
            </a:extLst>
          </p:cNvPr>
          <p:cNvSpPr>
            <a:spLocks xmlns:a="http://schemas.openxmlformats.org/drawingml/2006/main" noGrp="1"/>
          </p:cNvSpPr>
          <p:nvPr/>
        </p:nvSpPr>
        <p:spPr>
          <a:xfrm xmlns:a="http://schemas.openxmlformats.org/drawingml/2006/main">
            <a:off x="14268450" y="4800600"/>
            <a:ext cx="28003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Feature fusion</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Temporal GRU</a:t>
            </a:r>
          </a:p>
          <a:p xmlns:a="http://schemas.openxmlformats.org/drawingml/2006/main">
            <a:pPr>
              <a:buNone/>
              <a:defRPr sz="2400" b="1">
                <a:solidFill>
                  <a:srgbClr val="0A2740"/>
                </a:solidFill>
                <a:latin typeface="Aptos"/>
                <a:ea typeface="Aptos"/>
                <a:cs typeface="Aptos"/>
              </a:defRPr>
            </a:pPr>
            <a:r>
              <a:rPr sz="2400" b="1">
                <a:solidFill>
                  <a:srgbClr val="0A2740"/>
                </a:solidFill>
                <a:latin typeface="Aptos"/>
                <a:ea typeface="Aptos"/>
                <a:cs typeface="Aptos"/>
              </a:rPr>
              <a:t>Real / Fake classifier</a:t>
            </a:r>
          </a:p>
        </p:txBody>
      </p:sp>
      <p:sp>
        <p:nvSpPr>
          <p:cNvPr id="50" name="ĐÓNG BĂNG">
            <a:extLst xmlns:a="http://schemas.openxmlformats.org/drawingml/2006/main">
              <a:ext uri="{FF2B5EF4-FFF2-40B4-BE49-F238E27FC236}">
                <a16:creationId xmlns:a16="http://schemas.microsoft.com/office/drawing/2014/main" id="{F4EB0FF6-E2B5-48BD-830C-BDC6ECA2941E}"/>
              </a:ext>
            </a:extLst>
          </p:cNvPr>
          <p:cNvSpPr>
            <a:spLocks xmlns:a="http://schemas.openxmlformats.org/drawingml/2006/main" noGrp="1"/>
          </p:cNvSpPr>
          <p:nvPr/>
        </p:nvSpPr>
        <p:spPr>
          <a:xfrm xmlns:a="http://schemas.openxmlformats.org/drawingml/2006/main">
            <a:off x="5953125" y="5381625"/>
            <a:ext cx="3476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286B8A"/>
                </a:solidFill>
                <a:latin typeface="Aptos"/>
                <a:ea typeface="Aptos"/>
                <a:cs typeface="Aptos"/>
              </a:defRPr>
            </a:pPr>
            <a:r>
              <a:rPr sz="2325" b="1">
                <a:solidFill>
                  <a:srgbClr val="286B8A"/>
                </a:solidFill>
                <a:latin typeface="Aptos"/>
                <a:ea typeface="Aptos"/>
                <a:cs typeface="Aptos"/>
              </a:rPr>
              <a:t>FROZEN WEIGHTS</a:t>
            </a:r>
          </a:p>
        </p:txBody>
      </p:sp>
      <p:sp>
        <p:nvSpPr>
          <p:cNvPr id="51" name="HUẤN LUYỆN DETECTOR">
            <a:extLst xmlns:a="http://schemas.openxmlformats.org/drawingml/2006/main">
              <a:ext uri="{FF2B5EF4-FFF2-40B4-BE49-F238E27FC236}">
                <a16:creationId xmlns:a16="http://schemas.microsoft.com/office/drawing/2014/main" id="{2C3DB45E-7157-4F4D-A86F-E0D909BB1A8F}"/>
              </a:ext>
            </a:extLst>
          </p:cNvPr>
          <p:cNvSpPr>
            <a:spLocks xmlns:a="http://schemas.openxmlformats.org/drawingml/2006/main" noGrp="1"/>
          </p:cNvSpPr>
          <p:nvPr/>
        </p:nvSpPr>
        <p:spPr>
          <a:xfrm xmlns:a="http://schemas.openxmlformats.org/drawingml/2006/main">
            <a:off x="10477500" y="7762875"/>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286B8A"/>
                </a:solidFill>
                <a:latin typeface="Aptos"/>
                <a:ea typeface="Aptos"/>
                <a:cs typeface="Aptos"/>
              </a:defRPr>
            </a:pPr>
            <a:r>
              <a:rPr sz="2325" b="1">
                <a:solidFill>
                  <a:srgbClr val="286B8A"/>
                </a:solidFill>
                <a:latin typeface="Aptos"/>
                <a:ea typeface="Aptos"/>
                <a:cs typeface="Aptos"/>
              </a:rPr>
              <a:t>TRAINABLE DETECTOR</a:t>
            </a:r>
          </a:p>
        </p:txBody>
      </p:sp>
      <p:sp>
        <p:nvSpPr>
          <p:cNvPr id="52" name="Hai chuỗi feature [T, 768] cùng tim">
            <a:extLst xmlns:a="http://schemas.openxmlformats.org/drawingml/2006/main">
              <a:ext uri="{FF2B5EF4-FFF2-40B4-BE49-F238E27FC236}">
                <a16:creationId xmlns:a16="http://schemas.microsoft.com/office/drawing/2014/main" id="{6BE15FDE-4480-4D67-BEFB-0983517550B8}"/>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86B8A"/>
                </a:solidFill>
                <a:latin typeface="Aptos"/>
                <a:ea typeface="Aptos"/>
                <a:cs typeface="Aptos"/>
              </a:defRPr>
            </a:pPr>
            <a:r>
              <a:rPr sz="2025" b="0">
                <a:solidFill>
                  <a:srgbClr val="286B8A"/>
                </a:solidFill>
                <a:latin typeface="Aptos"/>
                <a:ea typeface="Aptos"/>
                <a:cs typeface="Aptos"/>
              </a:rPr>
              <a:t>Aligned feature streams [T, 768]. Smoke-test example: 2 seconds, 50 frames, T = 50.</a:t>
            </a:r>
          </a:p>
        </p:txBody>
      </p:sp>
    </p:spTree>
    <p:extLst>
      <p:ext uri="{BB962C8B-B14F-4D97-AF65-F5344CB8AC3E}">
        <p14:creationId xmlns:p14="http://schemas.microsoft.com/office/powerpoint/2010/main" val="2491866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4c2f6ffcee6148e2">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4c2f6ffcee6148e2">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4c2f6ffcee6148e2">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7829550"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4c2f6ffcee6148e2">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4c2f6ffcee6148e2">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4c2f6ffcee6148e2">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08</a:t>
            </a:r>
          </a:p>
        </p:txBody>
      </p:sp>
      <p:sp>
        <p:nvSpPr>
          <p:cNvPr id="31" name="Freeform 31">
            <a:extLst xmlns:a="http://schemas.openxmlformats.org/drawingml/2006/main">
              <a:ext uri="{FF2B5EF4-FFF2-40B4-BE49-F238E27FC236}">
                <a16:creationId xmlns:a16="http://schemas.microsoft.com/office/drawing/2014/main" id="{A5FAAF27-D7D2-455B-B8AA-65BE19596F42}"/>
              </a:ext>
            </a:extLst>
          </p:cNvPr>
          <p:cNvSpPr>
            <a:spLocks xmlns:a="http://schemas.openxmlformats.org/drawingml/2006/main" noGrp="1"/>
          </p:cNvSpPr>
          <p:nvPr/>
        </p:nvSpPr>
        <p:spPr>
          <a:xfrm xmlns:a="http://schemas.openxmlformats.org/drawingml/2006/main" rot="0" flipH="0" flipV="0">
            <a:off x="10191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E7F5F9"/>
          </a:solidFill>
          <a:ln xmlns:a="http://schemas.openxmlformats.org/drawingml/2006/main" w="19050">
            <a:solidFill>
              <a:srgbClr val="CCDDE4"/>
            </a:solidFill>
            <a:prstDash val="solid"/>
          </a:ln>
        </p:spPr>
      </p:sp>
      <p:sp>
        <p:nvSpPr>
          <p:cNvPr id="36" name="Freeform 36">
            <a:extLst xmlns:a="http://schemas.openxmlformats.org/drawingml/2006/main">
              <a:ext uri="{FF2B5EF4-FFF2-40B4-BE49-F238E27FC236}">
                <a16:creationId xmlns:a16="http://schemas.microsoft.com/office/drawing/2014/main" id="{94EE5536-23C1-459D-A092-D21ECE3C57E2}"/>
              </a:ext>
            </a:extLst>
          </p:cNvPr>
          <p:cNvSpPr>
            <a:spLocks xmlns:a="http://schemas.openxmlformats.org/drawingml/2006/main" noGrp="1"/>
          </p:cNvSpPr>
          <p:nvPr/>
        </p:nvSpPr>
        <p:spPr>
          <a:xfrm xmlns:a="http://schemas.openxmlformats.org/drawingml/2006/main" rot="0" flipH="0" flipV="0">
            <a:off x="94392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F4F9FB"/>
          </a:solidFill>
          <a:ln xmlns:a="http://schemas.openxmlformats.org/drawingml/2006/main" w="19050">
            <a:solidFill>
              <a:srgbClr val="CCDDE4"/>
            </a:solidFill>
            <a:prstDash val="solid"/>
          </a:ln>
        </p:spPr>
      </p:sp>
      <p:sp>
        <p:nvSpPr>
          <p:cNvPr id="37" name="08  /  MODEL">
            <a:extLst xmlns:a="http://schemas.openxmlformats.org/drawingml/2006/main">
              <a:ext uri="{FF2B5EF4-FFF2-40B4-BE49-F238E27FC236}">
                <a16:creationId xmlns:a16="http://schemas.microsoft.com/office/drawing/2014/main" id="{38CFD8E3-0D06-4E34-A181-A7B60E421705}"/>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08  /  MODEL</a:t>
            </a:r>
          </a:p>
        </p:txBody>
      </p:sp>
      <p:sp>
        <p:nvSpPr>
          <p:cNvPr id="38" name="BASELINE Y &amp; PHƯƠNG PHÁP X">
            <a:extLst xmlns:a="http://schemas.openxmlformats.org/drawingml/2006/main">
              <a:ext uri="{FF2B5EF4-FFF2-40B4-BE49-F238E27FC236}">
                <a16:creationId xmlns:a16="http://schemas.microsoft.com/office/drawing/2014/main" id="{F5DF2B03-A00F-4E26-BCD0-D985643D7203}"/>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BASELINE Y &amp; PROPOSED METHOD X</a:t>
            </a:r>
          </a:p>
        </p:txBody>
      </p:sp>
      <p:sp>
        <p:nvSpPr>
          <p:cNvPr id="39" name="Y  /  PHÂN LOẠI">
            <a:extLst xmlns:a="http://schemas.openxmlformats.org/drawingml/2006/main">
              <a:ext uri="{FF2B5EF4-FFF2-40B4-BE49-F238E27FC236}">
                <a16:creationId xmlns:a16="http://schemas.microsoft.com/office/drawing/2014/main" id="{C706FD81-2AEC-4BB6-8CF1-95FA17541FB8}"/>
              </a:ext>
            </a:extLst>
          </p:cNvPr>
          <p:cNvSpPr>
            <a:spLocks xmlns:a="http://schemas.openxmlformats.org/drawingml/2006/main" noGrp="1"/>
          </p:cNvSpPr>
          <p:nvPr/>
        </p:nvSpPr>
        <p:spPr>
          <a:xfrm xmlns:a="http://schemas.openxmlformats.org/drawingml/2006/main">
            <a:off x="1476375"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0A2740"/>
                </a:solidFill>
                <a:latin typeface="Anton"/>
                <a:ea typeface="Anton"/>
                <a:cs typeface="Anton"/>
              </a:defRPr>
            </a:pPr>
            <a:r>
              <a:rPr sz="3675" b="0">
                <a:solidFill>
                  <a:srgbClr val="0A2740"/>
                </a:solidFill>
                <a:latin typeface="Anton"/>
                <a:ea typeface="Anton"/>
                <a:cs typeface="Anton"/>
              </a:rPr>
              <a:t>Y  /  CLASSIFICATION</a:t>
            </a:r>
          </a:p>
        </p:txBody>
      </p:sp>
      <p:sp>
        <p:nvSpPr>
          <p:cNvPr id="40" name="AV-HuBERT đóng băng">
            <a:extLst xmlns:a="http://schemas.openxmlformats.org/drawingml/2006/main">
              <a:ext uri="{FF2B5EF4-FFF2-40B4-BE49-F238E27FC236}">
                <a16:creationId xmlns:a16="http://schemas.microsoft.com/office/drawing/2014/main" id="{F5C96C8C-92ED-4AFA-9D43-D79AF28C2CB4}"/>
              </a:ext>
            </a:extLst>
          </p:cNvPr>
          <p:cNvSpPr>
            <a:spLocks xmlns:a="http://schemas.openxmlformats.org/drawingml/2006/main" noGrp="1"/>
          </p:cNvSpPr>
          <p:nvPr/>
        </p:nvSpPr>
        <p:spPr>
          <a:xfrm xmlns:a="http://schemas.openxmlformats.org/drawingml/2006/main">
            <a:off x="1476375"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Frozen AV-HuBERT feature branches</a:t>
            </a:r>
          </a:p>
        </p:txBody>
      </p:sp>
      <p:sp>
        <p:nvSpPr>
          <p:cNvPr id="41" name="Linear + GRU + classifier">
            <a:extLst xmlns:a="http://schemas.openxmlformats.org/drawingml/2006/main">
              <a:ext uri="{FF2B5EF4-FFF2-40B4-BE49-F238E27FC236}">
                <a16:creationId xmlns:a16="http://schemas.microsoft.com/office/drawing/2014/main" id="{EDE9C6D0-6F2C-4631-9DA4-312514AAA6C7}"/>
              </a:ext>
            </a:extLst>
          </p:cNvPr>
          <p:cNvSpPr>
            <a:spLocks xmlns:a="http://schemas.openxmlformats.org/drawingml/2006/main" noGrp="1"/>
          </p:cNvSpPr>
          <p:nvPr/>
        </p:nvSpPr>
        <p:spPr>
          <a:xfrm xmlns:a="http://schemas.openxmlformats.org/drawingml/2006/main">
            <a:off x="1476375"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Linear + GRU + classifier</a:t>
            </a:r>
          </a:p>
        </p:txBody>
      </p:sp>
      <p:sp>
        <p:nvSpPr>
          <p:cNvPr id="42" name="Học nhãn Real / Fake">
            <a:extLst xmlns:a="http://schemas.openxmlformats.org/drawingml/2006/main">
              <a:ext uri="{FF2B5EF4-FFF2-40B4-BE49-F238E27FC236}">
                <a16:creationId xmlns:a16="http://schemas.microsoft.com/office/drawing/2014/main" id="{8BB44250-C873-4C2B-9A96-8B1AC93D462A}"/>
              </a:ext>
            </a:extLst>
          </p:cNvPr>
          <p:cNvSpPr>
            <a:spLocks xmlns:a="http://schemas.openxmlformats.org/drawingml/2006/main" noGrp="1"/>
          </p:cNvSpPr>
          <p:nvPr/>
        </p:nvSpPr>
        <p:spPr>
          <a:xfrm xmlns:a="http://schemas.openxmlformats.org/drawingml/2006/main">
            <a:off x="1476375"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Learn Real / Fake labels</a:t>
            </a:r>
          </a:p>
        </p:txBody>
      </p:sp>
      <p:sp>
        <p:nvSpPr>
          <p:cNvPr id="43" name="Thấy các bản nén trong training">
            <a:extLst xmlns:a="http://schemas.openxmlformats.org/drawingml/2006/main">
              <a:ext uri="{FF2B5EF4-FFF2-40B4-BE49-F238E27FC236}">
                <a16:creationId xmlns:a16="http://schemas.microsoft.com/office/drawing/2014/main" id="{BC8DAEEB-3F2E-4D9D-AB26-998DEE9CB302}"/>
              </a:ext>
            </a:extLst>
          </p:cNvPr>
          <p:cNvSpPr>
            <a:spLocks xmlns:a="http://schemas.openxmlformats.org/drawingml/2006/main" noGrp="1"/>
          </p:cNvSpPr>
          <p:nvPr/>
        </p:nvSpPr>
        <p:spPr>
          <a:xfrm xmlns:a="http://schemas.openxmlformats.org/drawingml/2006/main">
            <a:off x="1476375"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Train on the same compressed views</a:t>
            </a:r>
          </a:p>
        </p:txBody>
      </p:sp>
      <p:sp>
        <p:nvSpPr>
          <p:cNvPr id="44" name="X  /  THÊM CONSISTENCY">
            <a:extLst xmlns:a="http://schemas.openxmlformats.org/drawingml/2006/main">
              <a:ext uri="{FF2B5EF4-FFF2-40B4-BE49-F238E27FC236}">
                <a16:creationId xmlns:a16="http://schemas.microsoft.com/office/drawing/2014/main" id="{F2EEEE20-5283-4F9E-95D3-E41D4E6FB8CA}"/>
              </a:ext>
            </a:extLst>
          </p:cNvPr>
          <p:cNvSpPr>
            <a:spLocks xmlns:a="http://schemas.openxmlformats.org/drawingml/2006/main" noGrp="1"/>
          </p:cNvSpPr>
          <p:nvPr/>
        </p:nvSpPr>
        <p:spPr>
          <a:xfrm xmlns:a="http://schemas.openxmlformats.org/drawingml/2006/main">
            <a:off x="9906000"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0A2740"/>
                </a:solidFill>
                <a:latin typeface="Anton"/>
                <a:ea typeface="Anton"/>
                <a:cs typeface="Anton"/>
              </a:defRPr>
            </a:pPr>
            <a:r>
              <a:rPr sz="3675" b="0">
                <a:solidFill>
                  <a:srgbClr val="0A2740"/>
                </a:solidFill>
                <a:latin typeface="Anton"/>
                <a:ea typeface="Anton"/>
                <a:cs typeface="Anton"/>
              </a:rPr>
              <a:t>X  /  ADD CONSISTENCY</a:t>
            </a:r>
          </a:p>
        </p:txBody>
      </p:sp>
      <p:sp>
        <p:nvSpPr>
          <p:cNvPr id="45" name="Cùng kiến trúc với baseline Y">
            <a:extLst xmlns:a="http://schemas.openxmlformats.org/drawingml/2006/main">
              <a:ext uri="{FF2B5EF4-FFF2-40B4-BE49-F238E27FC236}">
                <a16:creationId xmlns:a16="http://schemas.microsoft.com/office/drawing/2014/main" id="{28A9CEE5-D89F-476F-A004-183659C3E119}"/>
              </a:ext>
            </a:extLst>
          </p:cNvPr>
          <p:cNvSpPr>
            <a:spLocks xmlns:a="http://schemas.openxmlformats.org/drawingml/2006/main" noGrp="1"/>
          </p:cNvSpPr>
          <p:nvPr/>
        </p:nvSpPr>
        <p:spPr>
          <a:xfrm xmlns:a="http://schemas.openxmlformats.org/drawingml/2006/main">
            <a:off x="9906000"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Same detector architecture as Y</a:t>
            </a:r>
          </a:p>
        </p:txBody>
      </p:sp>
      <p:sp>
        <p:nvSpPr>
          <p:cNvPr id="46" name="Cùng dữ liệu và các bản nén">
            <a:extLst xmlns:a="http://schemas.openxmlformats.org/drawingml/2006/main">
              <a:ext uri="{FF2B5EF4-FFF2-40B4-BE49-F238E27FC236}">
                <a16:creationId xmlns:a16="http://schemas.microsoft.com/office/drawing/2014/main" id="{36F61FD1-4FA7-4D1E-8BDC-A7C793DD45DB}"/>
              </a:ext>
            </a:extLst>
          </p:cNvPr>
          <p:cNvSpPr>
            <a:spLocks xmlns:a="http://schemas.openxmlformats.org/drawingml/2006/main" noGrp="1"/>
          </p:cNvSpPr>
          <p:nvPr/>
        </p:nvSpPr>
        <p:spPr>
          <a:xfrm xmlns:a="http://schemas.openxmlformats.org/drawingml/2006/main">
            <a:off x="9906000"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Same data and compressed views</a:t>
            </a:r>
          </a:p>
        </p:txBody>
      </p:sp>
      <p:sp>
        <p:nvSpPr>
          <p:cNvPr id="47" name="Vẫn học đúng nhãn Real / Fake">
            <a:extLst xmlns:a="http://schemas.openxmlformats.org/drawingml/2006/main">
              <a:ext uri="{FF2B5EF4-FFF2-40B4-BE49-F238E27FC236}">
                <a16:creationId xmlns:a16="http://schemas.microsoft.com/office/drawing/2014/main" id="{0CA5DE38-E629-4941-9269-6068C5DFD357}"/>
              </a:ext>
            </a:extLst>
          </p:cNvPr>
          <p:cNvSpPr>
            <a:spLocks xmlns:a="http://schemas.openxmlformats.org/drawingml/2006/main" noGrp="1"/>
          </p:cNvSpPr>
          <p:nvPr/>
        </p:nvSpPr>
        <p:spPr>
          <a:xfrm xmlns:a="http://schemas.openxmlformats.org/drawingml/2006/main">
            <a:off x="9906000"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Still learn the correct Real / Fake label</a:t>
            </a:r>
          </a:p>
        </p:txBody>
      </p:sp>
      <p:sp>
        <p:nvSpPr>
          <p:cNvPr id="48" name="Thêm yêu cầu dự đoán nhất quán">
            <a:extLst xmlns:a="http://schemas.openxmlformats.org/drawingml/2006/main">
              <a:ext uri="{FF2B5EF4-FFF2-40B4-BE49-F238E27FC236}">
                <a16:creationId xmlns:a16="http://schemas.microsoft.com/office/drawing/2014/main" id="{BF3C0A3C-9AFC-4568-ACEA-4C3ED291E24F}"/>
              </a:ext>
            </a:extLst>
          </p:cNvPr>
          <p:cNvSpPr>
            <a:spLocks xmlns:a="http://schemas.openxmlformats.org/drawingml/2006/main" noGrp="1"/>
          </p:cNvSpPr>
          <p:nvPr/>
        </p:nvSpPr>
        <p:spPr>
          <a:xfrm xmlns:a="http://schemas.openxmlformats.org/drawingml/2006/main">
            <a:off x="9906000"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Encourage consistent predictions</a:t>
            </a:r>
          </a:p>
        </p:txBody>
      </p:sp>
      <p:sp>
        <p:nvSpPr>
          <p:cNvPr id="49" name="Ghép hai bản nén của cùng clip, cùn">
            <a:extLst xmlns:a="http://schemas.openxmlformats.org/drawingml/2006/main">
              <a:ext uri="{FF2B5EF4-FFF2-40B4-BE49-F238E27FC236}">
                <a16:creationId xmlns:a16="http://schemas.microsoft.com/office/drawing/2014/main" id="{3698C0AB-ABA4-487B-827C-BB9CF4A60367}"/>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86B8A"/>
                </a:solidFill>
                <a:latin typeface="Aptos"/>
                <a:ea typeface="Aptos"/>
                <a:cs typeface="Aptos"/>
              </a:defRPr>
            </a:pPr>
            <a:r>
              <a:rPr sz="2025" b="0">
                <a:solidFill>
                  <a:srgbClr val="286B8A"/>
                </a:solidFill>
                <a:latin typeface="Aptos"/>
                <a:ea typeface="Aptos"/>
                <a:cs typeface="Aptos"/>
              </a:rPr>
              <a:t>Pair compression views of the same clip and label. Do not match Real predictions to Fake predictions.</a:t>
            </a:r>
          </a:p>
        </p:txBody>
      </p:sp>
    </p:spTree>
    <p:extLst>
      <p:ext uri="{BB962C8B-B14F-4D97-AF65-F5344CB8AC3E}">
        <p14:creationId xmlns:p14="http://schemas.microsoft.com/office/powerpoint/2010/main" val="2491866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b5e7287254bc4f3e">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b5e7287254bc4f3e">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b5e7287254bc4f3e">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3954125"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b5e7287254bc4f3e">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b5e7287254bc4f3e">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b5e7287254bc4f3e">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09</a:t>
            </a:r>
          </a:p>
        </p:txBody>
      </p:sp>
      <p:sp>
        <p:nvSpPr>
          <p:cNvPr id="26" name="09  /  ĐÁNH GIÁ">
            <a:extLst xmlns:a="http://schemas.openxmlformats.org/drawingml/2006/main">
              <a:ext uri="{FF2B5EF4-FFF2-40B4-BE49-F238E27FC236}">
                <a16:creationId xmlns:a16="http://schemas.microsoft.com/office/drawing/2014/main" id="{16444420-BEA2-4775-BC8A-4410F53DC521}"/>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09  /  EVALUATION</a:t>
            </a:r>
          </a:p>
        </p:txBody>
      </p:sp>
      <p:sp>
        <p:nvSpPr>
          <p:cNvPr id="27" name="PROTOCOL ĐÁNH GIÁ">
            <a:extLst xmlns:a="http://schemas.openxmlformats.org/drawingml/2006/main">
              <a:ext uri="{FF2B5EF4-FFF2-40B4-BE49-F238E27FC236}">
                <a16:creationId xmlns:a16="http://schemas.microsoft.com/office/drawing/2014/main" id="{6A1659A3-393D-4B4B-9F87-A06EC3972932}"/>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EVALUATION PROTOCOL</a:t>
            </a:r>
          </a:p>
        </p:txBody>
      </p:sp>
      <p:graphicFrame>
        <p:nvGraphicFramePr>
          <p:cNvPr id="48" name=""/>
          <p:cNvGraphicFramePr/>
          <p:nvPr/>
        </p:nvGraphicFramePr>
        <p:xfrm>
          <a:off xmlns:a="http://schemas.openxmlformats.org/drawingml/2006/main" x="1047750" y="3714750"/>
          <a:ext xmlns:a="http://schemas.openxmlformats.org/drawingml/2006/main" cx="16192500" cy="4810125"/>
        </p:xfrm>
        <a:graphic xmlns:a="http://schemas.openxmlformats.org/drawingml/2006/main">
          <a:graphicData uri="http://schemas.openxmlformats.org/drawingml/2006/table">
            <a:tbl>
              <a:tblPr/>
              <a:tblGrid>
                <a:gridCol w="7810500"/>
                <a:gridCol w="8382000"/>
              </a:tblGrid>
              <a:tr h="801688">
                <a:tc>
                  <a:txBody>
                    <a:bodyPr/>
                    <a:lstStyle/>
                    <a:p>
                      <a:r>
                        <a:rPr sz="2475" b="1">
                          <a:solidFill>
                            <a:srgbClr val="FFFFFF"/>
                          </a:solidFill>
                          <a:latin typeface="Aptos"/>
                          <a:ea typeface="Aptos"/>
                          <a:cs typeface="Aptos"/>
                        </a:rPr>
                        <a:t>EXPERIMENT</a:t>
                      </a:r>
                    </a:p>
                  </a:txBody>
                  <a:tcPr marL="91440" marR="91440" marT="45720" marB="45720">
                    <a:solidFill>
                      <a:srgbClr val="0A2740"/>
                    </a:solidFill>
                  </a:tcPr>
                </a:tc>
                <a:tc>
                  <a:txBody>
                    <a:bodyPr/>
                    <a:lstStyle/>
                    <a:p>
                      <a:r>
                        <a:rPr sz="2475" b="1">
                          <a:solidFill>
                            <a:srgbClr val="FFFFFF"/>
                          </a:solidFill>
                          <a:latin typeface="Aptos"/>
                          <a:ea typeface="Aptos"/>
                          <a:cs typeface="Aptos"/>
                        </a:rPr>
                        <a:t>QUESTION</a:t>
                      </a:r>
                    </a:p>
                  </a:txBody>
                  <a:tcPr marL="91440" marR="91440" marT="45720" marB="45720">
                    <a:solidFill>
                      <a:srgbClr val="0A2740"/>
                    </a:solidFill>
                  </a:tcPr>
                </a:tc>
              </a:tr>
              <a:tr h="801688">
                <a:tc>
                  <a:txBody>
                    <a:bodyPr/>
                    <a:lstStyle/>
                    <a:p>
                      <a:r>
                        <a:rPr sz="2475" b="0">
                          <a:solidFill>
                            <a:srgbClr val="0A2740"/>
                          </a:solidFill>
                          <a:latin typeface="Aptos"/>
                          <a:ea typeface="Aptos"/>
                          <a:cs typeface="Aptos"/>
                        </a:rPr>
                        <a:t>Same generator, different sources</a:t>
                      </a:r>
                    </a:p>
                  </a:txBody>
                  <a:tcPr marL="91440" marR="91440" marT="45720" marB="45720">
                    <a:solidFill>
                      <a:srgbClr val="E6F4F8"/>
                    </a:solidFill>
                  </a:tcPr>
                </a:tc>
                <a:tc>
                  <a:txBody>
                    <a:bodyPr/>
                    <a:lstStyle/>
                    <a:p>
                      <a:r>
                        <a:rPr sz="2475" b="0">
                          <a:solidFill>
                            <a:srgbClr val="0A2740"/>
                          </a:solidFill>
                          <a:latin typeface="Aptos"/>
                          <a:ea typeface="Aptos"/>
                          <a:cs typeface="Aptos"/>
                        </a:rPr>
                        <a:t>Detection under familiar conditions?</a:t>
                      </a:r>
                    </a:p>
                  </a:txBody>
                  <a:tcPr marL="91440" marR="91440" marT="45720" marB="45720">
                    <a:solidFill>
                      <a:srgbClr val="E6F4F8"/>
                    </a:solidFill>
                  </a:tcPr>
                </a:tc>
              </a:tr>
              <a:tr h="801688">
                <a:tc>
                  <a:txBody>
                    <a:bodyPr/>
                    <a:lstStyle/>
                    <a:p>
                      <a:r>
                        <a:rPr sz="2475" b="0">
                          <a:solidFill>
                            <a:srgbClr val="0A2740"/>
                          </a:solidFill>
                          <a:latin typeface="Aptos"/>
                          <a:ea typeface="Aptos"/>
                          <a:cs typeface="Aptos"/>
                        </a:rPr>
                        <a:t>Train Wav2Lip, test MuseTalk</a:t>
                      </a:r>
                    </a:p>
                  </a:txBody>
                  <a:tcPr marL="91440" marR="91440" marT="45720" marB="45720">
                    <a:solidFill>
                      <a:srgbClr val="F3F8FA"/>
                    </a:solidFill>
                  </a:tcPr>
                </a:tc>
                <a:tc>
                  <a:txBody>
                    <a:bodyPr/>
                    <a:lstStyle/>
                    <a:p>
                      <a:r>
                        <a:rPr sz="2475" b="0">
                          <a:solidFill>
                            <a:srgbClr val="0A2740"/>
                          </a:solidFill>
                          <a:latin typeface="Aptos"/>
                          <a:ea typeface="Aptos"/>
                          <a:cs typeface="Aptos"/>
                        </a:rPr>
                        <a:t>Transfer to a generator absent from training?</a:t>
                      </a:r>
                    </a:p>
                  </a:txBody>
                  <a:tcPr marL="91440" marR="91440" marT="45720" marB="45720">
                    <a:solidFill>
                      <a:srgbClr val="F3F8FA"/>
                    </a:solidFill>
                  </a:tcPr>
                </a:tc>
              </a:tr>
              <a:tr h="801688">
                <a:tc>
                  <a:txBody>
                    <a:bodyPr/>
                    <a:lstStyle/>
                    <a:p>
                      <a:r>
                        <a:rPr sz="2475" b="0">
                          <a:solidFill>
                            <a:srgbClr val="0A2740"/>
                          </a:solidFill>
                          <a:latin typeface="Aptos"/>
                          <a:ea typeface="Aptos"/>
                          <a:cs typeface="Aptos"/>
                        </a:rPr>
                        <a:t>Train MuseTalk, test Wav2Lip</a:t>
                      </a:r>
                    </a:p>
                  </a:txBody>
                  <a:tcPr marL="91440" marR="91440" marT="45720" marB="45720">
                    <a:solidFill>
                      <a:srgbClr val="E6F4F8"/>
                    </a:solidFill>
                  </a:tcPr>
                </a:tc>
                <a:tc>
                  <a:txBody>
                    <a:bodyPr/>
                    <a:lstStyle/>
                    <a:p>
                      <a:r>
                        <a:rPr sz="2475" b="0">
                          <a:solidFill>
                            <a:srgbClr val="0A2740"/>
                          </a:solidFill>
                          <a:latin typeface="Aptos"/>
                          <a:ea typeface="Aptos"/>
                          <a:cs typeface="Aptos"/>
                        </a:rPr>
                        <a:t>Does transfer work in the reverse direction?</a:t>
                      </a:r>
                    </a:p>
                  </a:txBody>
                  <a:tcPr marL="91440" marR="91440" marT="45720" marB="45720">
                    <a:solidFill>
                      <a:srgbClr val="E6F4F8"/>
                    </a:solidFill>
                  </a:tcPr>
                </a:tc>
              </a:tr>
              <a:tr h="801688">
                <a:tc>
                  <a:txBody>
                    <a:bodyPr/>
                    <a:lstStyle/>
                    <a:p>
                      <a:r>
                        <a:rPr sz="2475" b="0">
                          <a:solidFill>
                            <a:srgbClr val="0A2740"/>
                          </a:solidFill>
                          <a:latin typeface="Aptos"/>
                          <a:ea typeface="Aptos"/>
                          <a:cs typeface="Aptos"/>
                        </a:rPr>
                        <a:t>Original and compressed views</a:t>
                      </a:r>
                    </a:p>
                  </a:txBody>
                  <a:tcPr marL="91440" marR="91440" marT="45720" marB="45720">
                    <a:solidFill>
                      <a:srgbClr val="F3F8FA"/>
                    </a:solidFill>
                  </a:tcPr>
                </a:tc>
                <a:tc>
                  <a:txBody>
                    <a:bodyPr/>
                    <a:lstStyle/>
                    <a:p>
                      <a:r>
                        <a:rPr sz="2475" b="0">
                          <a:solidFill>
                            <a:srgbClr val="0A2740"/>
                          </a:solidFill>
                          <a:latin typeface="Aptos"/>
                          <a:ea typeface="Aptos"/>
                          <a:cs typeface="Aptos"/>
                        </a:rPr>
                        <a:t>How much does compression reduce performance?</a:t>
                      </a:r>
                    </a:p>
                  </a:txBody>
                  <a:tcPr marL="91440" marR="91440" marT="45720" marB="45720">
                    <a:solidFill>
                      <a:srgbClr val="F3F8FA"/>
                    </a:solidFill>
                  </a:tcPr>
                </a:tc>
              </a:tr>
              <a:tr h="801688">
                <a:tc>
                  <a:txBody>
                    <a:bodyPr/>
                    <a:lstStyle/>
                    <a:p>
                      <a:r>
                        <a:rPr sz="2475" b="0">
                          <a:solidFill>
                            <a:srgbClr val="0A2740"/>
                          </a:solidFill>
                          <a:latin typeface="Aptos"/>
                          <a:ea typeface="Aptos"/>
                          <a:cs typeface="Aptos"/>
                        </a:rPr>
                        <a:t>Unseen speakers (extension)</a:t>
                      </a:r>
                    </a:p>
                  </a:txBody>
                  <a:tcPr marL="91440" marR="91440" marT="45720" marB="45720">
                    <a:solidFill>
                      <a:srgbClr val="E6F4F8"/>
                    </a:solidFill>
                  </a:tcPr>
                </a:tc>
                <a:tc>
                  <a:txBody>
                    <a:bodyPr/>
                    <a:lstStyle/>
                    <a:p>
                      <a:r>
                        <a:rPr sz="2475" b="0">
                          <a:solidFill>
                            <a:srgbClr val="0A2740"/>
                          </a:solidFill>
                          <a:latin typeface="Aptos"/>
                          <a:ea typeface="Aptos"/>
                          <a:cs typeface="Aptos"/>
                        </a:rPr>
                        <a:t>Can the detector generalize to new speakers?</a:t>
                      </a:r>
                    </a:p>
                  </a:txBody>
                  <a:tcPr marL="91440" marR="91440" marT="45720" marB="45720">
                    <a:solidFill>
                      <a:srgbClr val="E6F4F8"/>
                    </a:solidFill>
                  </a:tcPr>
                </a:tc>
              </a:tr>
            </a:tbl>
          </a:graphicData>
        </a:graphic>
      </p:graphicFrame>
      <p:sp>
        <p:nvSpPr>
          <p:cNvPr id="29" name="Chọn model và ngưỡng trên validatio">
            <a:extLst xmlns:a="http://schemas.openxmlformats.org/drawingml/2006/main">
              <a:ext uri="{FF2B5EF4-FFF2-40B4-BE49-F238E27FC236}">
                <a16:creationId xmlns:a16="http://schemas.microsoft.com/office/drawing/2014/main" id="{C8DCF60C-F350-4562-97B3-09EC9EC2DEB6}"/>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86B8A"/>
                </a:solidFill>
                <a:latin typeface="Aptos"/>
                <a:ea typeface="Aptos"/>
                <a:cs typeface="Aptos"/>
              </a:defRPr>
            </a:pPr>
            <a:r>
              <a:rPr sz="2025" b="0">
                <a:solidFill>
                  <a:srgbClr val="286B8A"/>
                </a:solidFill>
                <a:latin typeface="Aptos"/>
                <a:ea typeface="Aptos"/>
                <a:cs typeface="Aptos"/>
              </a:rPr>
              <a:t>Select models and thresholds on validation. Freeze settings before the final test.</a:t>
            </a:r>
          </a:p>
        </p:txBody>
      </p:sp>
    </p:spTree>
    <p:extLst>
      <p:ext uri="{BB962C8B-B14F-4D97-AF65-F5344CB8AC3E}">
        <p14:creationId xmlns:p14="http://schemas.microsoft.com/office/powerpoint/2010/main" val="24918661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4d9cf4aa58274287">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4d9cf4aa58274287">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4d9cf4aa58274287">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3954125"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4d9cf4aa58274287">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4d9cf4aa58274287">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4d9cf4aa58274287">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10</a:t>
            </a:r>
          </a:p>
        </p:txBody>
      </p:sp>
      <p:sp>
        <p:nvSpPr>
          <p:cNvPr id="26" name="10  /  ĐÁNH GIÁ">
            <a:extLst xmlns:a="http://schemas.openxmlformats.org/drawingml/2006/main">
              <a:ext uri="{FF2B5EF4-FFF2-40B4-BE49-F238E27FC236}">
                <a16:creationId xmlns:a16="http://schemas.microsoft.com/office/drawing/2014/main" id="{FBAEE896-B537-4FDC-ADA7-028730CAFD6C}"/>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10  /  EVALUATION</a:t>
            </a:r>
          </a:p>
        </p:txBody>
      </p:sp>
      <p:sp>
        <p:nvSpPr>
          <p:cNvPr id="27" name="METRICS ĐÁNH GIÁ">
            <a:extLst xmlns:a="http://schemas.openxmlformats.org/drawingml/2006/main">
              <a:ext uri="{FF2B5EF4-FFF2-40B4-BE49-F238E27FC236}">
                <a16:creationId xmlns:a16="http://schemas.microsoft.com/office/drawing/2014/main" id="{24E75890-0D33-4E5F-B75D-FA88060C0973}"/>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EVALUATION METRICS</a:t>
            </a:r>
          </a:p>
        </p:txBody>
      </p:sp>
      <p:graphicFrame>
        <p:nvGraphicFramePr>
          <p:cNvPr id="48" name=""/>
          <p:cNvGraphicFramePr/>
          <p:nvPr/>
        </p:nvGraphicFramePr>
        <p:xfrm>
          <a:off xmlns:a="http://schemas.openxmlformats.org/drawingml/2006/main" x="1047750" y="3524250"/>
          <a:ext xmlns:a="http://schemas.openxmlformats.org/drawingml/2006/main" cx="16192500" cy="5334000"/>
        </p:xfrm>
        <a:graphic xmlns:a="http://schemas.openxmlformats.org/drawingml/2006/main">
          <a:graphicData uri="http://schemas.openxmlformats.org/drawingml/2006/table">
            <a:tbl>
              <a:tblPr/>
              <a:tblGrid>
                <a:gridCol w="4476750"/>
                <a:gridCol w="9429750"/>
                <a:gridCol w="2286000"/>
              </a:tblGrid>
              <a:tr h="762000">
                <a:tc>
                  <a:txBody>
                    <a:bodyPr/>
                    <a:lstStyle/>
                    <a:p>
                      <a:r>
                        <a:rPr sz="2400" b="1">
                          <a:solidFill>
                            <a:srgbClr val="FFFFFF"/>
                          </a:solidFill>
                          <a:latin typeface="Aptos"/>
                          <a:ea typeface="Aptos"/>
                          <a:cs typeface="Aptos"/>
                        </a:rPr>
                        <a:t>METRIC</a:t>
                      </a:r>
                    </a:p>
                  </a:txBody>
                  <a:tcPr marL="91440" marR="91440" marT="45720" marB="45720">
                    <a:solidFill>
                      <a:srgbClr val="0A2740"/>
                    </a:solidFill>
                  </a:tcPr>
                </a:tc>
                <a:tc>
                  <a:txBody>
                    <a:bodyPr/>
                    <a:lstStyle/>
                    <a:p>
                      <a:r>
                        <a:rPr sz="2400" b="1">
                          <a:solidFill>
                            <a:srgbClr val="FFFFFF"/>
                          </a:solidFill>
                          <a:latin typeface="Aptos"/>
                          <a:ea typeface="Aptos"/>
                          <a:cs typeface="Aptos"/>
                        </a:rPr>
                        <a:t>INTERPRETATION</a:t>
                      </a:r>
                    </a:p>
                  </a:txBody>
                  <a:tcPr marL="91440" marR="91440" marT="45720" marB="45720">
                    <a:solidFill>
                      <a:srgbClr val="0A2740"/>
                    </a:solidFill>
                  </a:tcPr>
                </a:tc>
                <a:tc>
                  <a:txBody>
                    <a:bodyPr/>
                    <a:lstStyle/>
                    <a:p>
                      <a:r>
                        <a:rPr sz="2400" b="1">
                          <a:solidFill>
                            <a:srgbClr val="FFFFFF"/>
                          </a:solidFill>
                          <a:latin typeface="Aptos"/>
                          <a:ea typeface="Aptos"/>
                          <a:cs typeface="Aptos"/>
                        </a:rPr>
                        <a:t>TARGET</a:t>
                      </a:r>
                    </a:p>
                  </a:txBody>
                  <a:tcPr marL="91440" marR="91440" marT="45720" marB="45720">
                    <a:solidFill>
                      <a:srgbClr val="0A2740"/>
                    </a:solidFill>
                  </a:tcPr>
                </a:tc>
              </a:tr>
              <a:tr h="762000">
                <a:tc>
                  <a:txBody>
                    <a:bodyPr/>
                    <a:lstStyle/>
                    <a:p>
                      <a:r>
                        <a:rPr sz="2400" b="0">
                          <a:solidFill>
                            <a:srgbClr val="0A2740"/>
                          </a:solidFill>
                          <a:latin typeface="Aptos"/>
                          <a:ea typeface="Aptos"/>
                          <a:cs typeface="Aptos"/>
                        </a:rPr>
                        <a:t>ROC-AUC (primary)</a:t>
                      </a:r>
                    </a:p>
                  </a:txBody>
                  <a:tcPr marL="91440" marR="91440" marT="45720" marB="45720">
                    <a:solidFill>
                      <a:srgbClr val="E6F4F8"/>
                    </a:solidFill>
                  </a:tcPr>
                </a:tc>
                <a:tc>
                  <a:txBody>
                    <a:bodyPr/>
                    <a:lstStyle/>
                    <a:p>
                      <a:r>
                        <a:rPr sz="2400" b="0">
                          <a:solidFill>
                            <a:srgbClr val="0A2740"/>
                          </a:solidFill>
                          <a:latin typeface="Aptos"/>
                          <a:ea typeface="Aptos"/>
                          <a:cs typeface="Aptos"/>
                        </a:rPr>
                        <a:t>Ranks fake above real across thresholds</a:t>
                      </a:r>
                    </a:p>
                  </a:txBody>
                  <a:tcPr marL="91440" marR="91440" marT="45720" marB="45720">
                    <a:solidFill>
                      <a:srgbClr val="E6F4F8"/>
                    </a:solidFill>
                  </a:tcPr>
                </a:tc>
                <a:tc>
                  <a:txBody>
                    <a:bodyPr/>
                    <a:lstStyle/>
                    <a:p>
                      <a:r>
                        <a:rPr sz="2400" b="0">
                          <a:solidFill>
                            <a:srgbClr val="0A2740"/>
                          </a:solidFill>
                          <a:latin typeface="Aptos"/>
                          <a:ea typeface="Aptos"/>
                          <a:cs typeface="Aptos"/>
                        </a:rPr>
                        <a:t>Higher</a:t>
                      </a:r>
                    </a:p>
                  </a:txBody>
                  <a:tcPr marL="91440" marR="91440" marT="45720" marB="45720">
                    <a:solidFill>
                      <a:srgbClr val="E6F4F8"/>
                    </a:solidFill>
                  </a:tcPr>
                </a:tc>
              </a:tr>
              <a:tr h="762000">
                <a:tc>
                  <a:txBody>
                    <a:bodyPr/>
                    <a:lstStyle/>
                    <a:p>
                      <a:r>
                        <a:rPr sz="2400" b="0">
                          <a:solidFill>
                            <a:srgbClr val="0A2740"/>
                          </a:solidFill>
                          <a:latin typeface="Aptos"/>
                          <a:ea typeface="Aptos"/>
                          <a:cs typeface="Aptos"/>
                        </a:rPr>
                        <a:t>EER</a:t>
                      </a:r>
                    </a:p>
                  </a:txBody>
                  <a:tcPr marL="91440" marR="91440" marT="45720" marB="45720">
                    <a:solidFill>
                      <a:srgbClr val="F3F8FA"/>
                    </a:solidFill>
                  </a:tcPr>
                </a:tc>
                <a:tc>
                  <a:txBody>
                    <a:bodyPr/>
                    <a:lstStyle/>
                    <a:p>
                      <a:r>
                        <a:rPr sz="2400" b="0">
                          <a:solidFill>
                            <a:srgbClr val="0A2740"/>
                          </a:solidFill>
                          <a:latin typeface="Aptos"/>
                          <a:ea typeface="Aptos"/>
                          <a:cs typeface="Aptos"/>
                        </a:rPr>
                        <a:t>Error rate where false positive and false negative rates match</a:t>
                      </a:r>
                    </a:p>
                  </a:txBody>
                  <a:tcPr marL="91440" marR="91440" marT="45720" marB="45720">
                    <a:solidFill>
                      <a:srgbClr val="F3F8FA"/>
                    </a:solidFill>
                  </a:tcPr>
                </a:tc>
                <a:tc>
                  <a:txBody>
                    <a:bodyPr/>
                    <a:lstStyle/>
                    <a:p>
                      <a:r>
                        <a:rPr sz="2400" b="0">
                          <a:solidFill>
                            <a:srgbClr val="0A2740"/>
                          </a:solidFill>
                          <a:latin typeface="Aptos"/>
                          <a:ea typeface="Aptos"/>
                          <a:cs typeface="Aptos"/>
                        </a:rPr>
                        <a:t>Lower</a:t>
                      </a:r>
                    </a:p>
                  </a:txBody>
                  <a:tcPr marL="91440" marR="91440" marT="45720" marB="45720">
                    <a:solidFill>
                      <a:srgbClr val="F3F8FA"/>
                    </a:solidFill>
                  </a:tcPr>
                </a:tc>
              </a:tr>
              <a:tr h="762000">
                <a:tc>
                  <a:txBody>
                    <a:bodyPr/>
                    <a:lstStyle/>
                    <a:p>
                      <a:r>
                        <a:rPr sz="2400" b="0">
                          <a:solidFill>
                            <a:srgbClr val="0A2740"/>
                          </a:solidFill>
                          <a:latin typeface="Aptos"/>
                          <a:ea typeface="Aptos"/>
                          <a:cs typeface="Aptos"/>
                        </a:rPr>
                        <a:t>Precision / Recall</a:t>
                      </a:r>
                    </a:p>
                  </a:txBody>
                  <a:tcPr marL="91440" marR="91440" marT="45720" marB="45720">
                    <a:solidFill>
                      <a:srgbClr val="E6F4F8"/>
                    </a:solidFill>
                  </a:tcPr>
                </a:tc>
                <a:tc>
                  <a:txBody>
                    <a:bodyPr/>
                    <a:lstStyle/>
                    <a:p>
                      <a:r>
                        <a:rPr sz="2400" b="0">
                          <a:solidFill>
                            <a:srgbClr val="0A2740"/>
                          </a:solidFill>
                          <a:latin typeface="Aptos"/>
                          <a:ea typeface="Aptos"/>
                          <a:cs typeface="Aptos"/>
                        </a:rPr>
                        <a:t>Correct fake alerts / proportion of fakes detected</a:t>
                      </a:r>
                    </a:p>
                  </a:txBody>
                  <a:tcPr marL="91440" marR="91440" marT="45720" marB="45720">
                    <a:solidFill>
                      <a:srgbClr val="E6F4F8"/>
                    </a:solidFill>
                  </a:tcPr>
                </a:tc>
                <a:tc>
                  <a:txBody>
                    <a:bodyPr/>
                    <a:lstStyle/>
                    <a:p>
                      <a:r>
                        <a:rPr sz="2400" b="0">
                          <a:solidFill>
                            <a:srgbClr val="0A2740"/>
                          </a:solidFill>
                          <a:latin typeface="Aptos"/>
                          <a:ea typeface="Aptos"/>
                          <a:cs typeface="Aptos"/>
                        </a:rPr>
                        <a:t>Higher</a:t>
                      </a:r>
                    </a:p>
                  </a:txBody>
                  <a:tcPr marL="91440" marR="91440" marT="45720" marB="45720">
                    <a:solidFill>
                      <a:srgbClr val="E6F4F8"/>
                    </a:solidFill>
                  </a:tcPr>
                </a:tc>
              </a:tr>
              <a:tr h="762000">
                <a:tc>
                  <a:txBody>
                    <a:bodyPr/>
                    <a:lstStyle/>
                    <a:p>
                      <a:r>
                        <a:rPr sz="2400" b="0">
                          <a:solidFill>
                            <a:srgbClr val="0A2740"/>
                          </a:solidFill>
                          <a:latin typeface="Aptos"/>
                          <a:ea typeface="Aptos"/>
                          <a:cs typeface="Aptos"/>
                        </a:rPr>
                        <a:t>F1-score</a:t>
                      </a:r>
                    </a:p>
                  </a:txBody>
                  <a:tcPr marL="91440" marR="91440" marT="45720" marB="45720">
                    <a:solidFill>
                      <a:srgbClr val="F3F8FA"/>
                    </a:solidFill>
                  </a:tcPr>
                </a:tc>
                <a:tc>
                  <a:txBody>
                    <a:bodyPr/>
                    <a:lstStyle/>
                    <a:p>
                      <a:r>
                        <a:rPr sz="2400" b="0">
                          <a:solidFill>
                            <a:srgbClr val="0A2740"/>
                          </a:solidFill>
                          <a:latin typeface="Aptos"/>
                          <a:ea typeface="Aptos"/>
                          <a:cs typeface="Aptos"/>
                        </a:rPr>
                        <a:t>Balances Precision and Recall</a:t>
                      </a:r>
                    </a:p>
                  </a:txBody>
                  <a:tcPr marL="91440" marR="91440" marT="45720" marB="45720">
                    <a:solidFill>
                      <a:srgbClr val="F3F8FA"/>
                    </a:solidFill>
                  </a:tcPr>
                </a:tc>
                <a:tc>
                  <a:txBody>
                    <a:bodyPr/>
                    <a:lstStyle/>
                    <a:p>
                      <a:r>
                        <a:rPr sz="2400" b="0">
                          <a:solidFill>
                            <a:srgbClr val="0A2740"/>
                          </a:solidFill>
                          <a:latin typeface="Aptos"/>
                          <a:ea typeface="Aptos"/>
                          <a:cs typeface="Aptos"/>
                        </a:rPr>
                        <a:t>Higher</a:t>
                      </a:r>
                    </a:p>
                  </a:txBody>
                  <a:tcPr marL="91440" marR="91440" marT="45720" marB="45720">
                    <a:solidFill>
                      <a:srgbClr val="F3F8FA"/>
                    </a:solidFill>
                  </a:tcPr>
                </a:tc>
              </a:tr>
              <a:tr h="762000">
                <a:tc>
                  <a:txBody>
                    <a:bodyPr/>
                    <a:lstStyle/>
                    <a:p>
                      <a:r>
                        <a:rPr sz="2400" b="0">
                          <a:solidFill>
                            <a:srgbClr val="0A2740"/>
                          </a:solidFill>
                          <a:latin typeface="Aptos"/>
                          <a:ea typeface="Aptos"/>
                          <a:cs typeface="Aptos"/>
                        </a:rPr>
                        <a:t>False Positive Rate</a:t>
                      </a:r>
                    </a:p>
                  </a:txBody>
                  <a:tcPr marL="91440" marR="91440" marT="45720" marB="45720">
                    <a:solidFill>
                      <a:srgbClr val="E6F4F8"/>
                    </a:solidFill>
                  </a:tcPr>
                </a:tc>
                <a:tc>
                  <a:txBody>
                    <a:bodyPr/>
                    <a:lstStyle/>
                    <a:p>
                      <a:r>
                        <a:rPr sz="2400" b="0">
                          <a:solidFill>
                            <a:srgbClr val="0A2740"/>
                          </a:solidFill>
                          <a:latin typeface="Aptos"/>
                          <a:ea typeface="Aptos"/>
                          <a:cs typeface="Aptos"/>
                        </a:rPr>
                        <a:t>Proportion of real clips flagged as fake</a:t>
                      </a:r>
                    </a:p>
                  </a:txBody>
                  <a:tcPr marL="91440" marR="91440" marT="45720" marB="45720">
                    <a:solidFill>
                      <a:srgbClr val="E6F4F8"/>
                    </a:solidFill>
                  </a:tcPr>
                </a:tc>
                <a:tc>
                  <a:txBody>
                    <a:bodyPr/>
                    <a:lstStyle/>
                    <a:p>
                      <a:r>
                        <a:rPr sz="2400" b="0">
                          <a:solidFill>
                            <a:srgbClr val="0A2740"/>
                          </a:solidFill>
                          <a:latin typeface="Aptos"/>
                          <a:ea typeface="Aptos"/>
                          <a:cs typeface="Aptos"/>
                        </a:rPr>
                        <a:t>Lower</a:t>
                      </a:r>
                    </a:p>
                  </a:txBody>
                  <a:tcPr marL="91440" marR="91440" marT="45720" marB="45720">
                    <a:solidFill>
                      <a:srgbClr val="E6F4F8"/>
                    </a:solidFill>
                  </a:tcPr>
                </a:tc>
              </a:tr>
              <a:tr h="762000">
                <a:tc>
                  <a:txBody>
                    <a:bodyPr/>
                    <a:lstStyle/>
                    <a:p>
                      <a:r>
                        <a:rPr sz="2400" b="0">
                          <a:solidFill>
                            <a:srgbClr val="0A2740"/>
                          </a:solidFill>
                          <a:latin typeface="Aptos"/>
                          <a:ea typeface="Aptos"/>
                          <a:cs typeface="Aptos"/>
                        </a:rPr>
                        <a:t>Balanced Accuracy</a:t>
                      </a:r>
                    </a:p>
                  </a:txBody>
                  <a:tcPr marL="91440" marR="91440" marT="45720" marB="45720">
                    <a:solidFill>
                      <a:srgbClr val="F3F8FA"/>
                    </a:solidFill>
                  </a:tcPr>
                </a:tc>
                <a:tc>
                  <a:txBody>
                    <a:bodyPr/>
                    <a:lstStyle/>
                    <a:p>
                      <a:r>
                        <a:rPr sz="2400" b="0">
                          <a:solidFill>
                            <a:srgbClr val="0A2740"/>
                          </a:solidFill>
                          <a:latin typeface="Aptos"/>
                          <a:ea typeface="Aptos"/>
                          <a:cs typeface="Aptos"/>
                        </a:rPr>
                        <a:t>Average recall across the two classes</a:t>
                      </a:r>
                    </a:p>
                  </a:txBody>
                  <a:tcPr marL="91440" marR="91440" marT="45720" marB="45720">
                    <a:solidFill>
                      <a:srgbClr val="F3F8FA"/>
                    </a:solidFill>
                  </a:tcPr>
                </a:tc>
                <a:tc>
                  <a:txBody>
                    <a:bodyPr/>
                    <a:lstStyle/>
                    <a:p>
                      <a:r>
                        <a:rPr sz="2400" b="0">
                          <a:solidFill>
                            <a:srgbClr val="0A2740"/>
                          </a:solidFill>
                          <a:latin typeface="Aptos"/>
                          <a:ea typeface="Aptos"/>
                          <a:cs typeface="Aptos"/>
                        </a:rPr>
                        <a:t>Higher</a:t>
                      </a:r>
                    </a:p>
                  </a:txBody>
                  <a:tcPr marL="91440" marR="91440" marT="45720" marB="45720">
                    <a:solidFill>
                      <a:srgbClr val="F3F8FA"/>
                    </a:solidFill>
                  </a:tcPr>
                </a:tc>
              </a:tr>
            </a:tbl>
          </a:graphicData>
        </a:graphic>
      </p:graphicFrame>
      <p:sp>
        <p:nvSpPr>
          <p:cNvPr id="29" name="Fake là lớp positive. Báo thêm conf">
            <a:extLst xmlns:a="http://schemas.openxmlformats.org/drawingml/2006/main">
              <a:ext uri="{FF2B5EF4-FFF2-40B4-BE49-F238E27FC236}">
                <a16:creationId xmlns:a16="http://schemas.microsoft.com/office/drawing/2014/main" id="{8442206F-5712-4F1E-8381-FCB2AD5108DE}"/>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86B8A"/>
                </a:solidFill>
                <a:latin typeface="Aptos"/>
                <a:ea typeface="Aptos"/>
                <a:cs typeface="Aptos"/>
              </a:defRPr>
            </a:pPr>
            <a:r>
              <a:rPr sz="2025" b="0">
                <a:solidFill>
                  <a:srgbClr val="286B8A"/>
                </a:solidFill>
                <a:latin typeface="Aptos"/>
                <a:ea typeface="Aptos"/>
                <a:cs typeface="Aptos"/>
              </a:rPr>
              <a:t>Fake is the positive class. Also report confusion matrices, X–Y differences and compression degradation.</a:t>
            </a:r>
          </a:p>
        </p:txBody>
      </p:sp>
    </p:spTree>
    <p:extLst>
      <p:ext uri="{BB962C8B-B14F-4D97-AF65-F5344CB8AC3E}">
        <p14:creationId xmlns:p14="http://schemas.microsoft.com/office/powerpoint/2010/main" val="24918661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78bcb4bbb2a949ff">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78bcb4bbb2a949ff">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78bcb4bbb2a949ff">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3954125"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78bcb4bbb2a949ff">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78bcb4bbb2a949ff">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78bcb4bbb2a949ff">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11</a:t>
            </a:r>
          </a:p>
        </p:txBody>
      </p:sp>
      <p:sp>
        <p:nvSpPr>
          <p:cNvPr id="26" name="11  /  ĐÁNH GIÁ">
            <a:extLst xmlns:a="http://schemas.openxmlformats.org/drawingml/2006/main">
              <a:ext uri="{FF2B5EF4-FFF2-40B4-BE49-F238E27FC236}">
                <a16:creationId xmlns:a16="http://schemas.microsoft.com/office/drawing/2014/main" id="{8C5067CB-D138-42DB-B2FE-5AEDCE0E6C34}"/>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11  /  EVALUATION</a:t>
            </a:r>
          </a:p>
        </p:txBody>
      </p:sp>
      <p:sp>
        <p:nvSpPr>
          <p:cNvPr id="27" name="KIỂM TRA MODEL HỌC TÍN HIỆU GÌ">
            <a:extLst xmlns:a="http://schemas.openxmlformats.org/drawingml/2006/main">
              <a:ext uri="{FF2B5EF4-FFF2-40B4-BE49-F238E27FC236}">
                <a16:creationId xmlns:a16="http://schemas.microsoft.com/office/drawing/2014/main" id="{DA661DF8-2CF1-46A8-8235-493DFF08A848}"/>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ABLATIONS &amp; SHORTCUT CHECKS</a:t>
            </a:r>
          </a:p>
        </p:txBody>
      </p:sp>
      <p:graphicFrame>
        <p:nvGraphicFramePr>
          <p:cNvPr id="49" name=""/>
          <p:cNvGraphicFramePr/>
          <p:nvPr/>
        </p:nvGraphicFramePr>
        <p:xfrm>
          <a:off xmlns:a="http://schemas.openxmlformats.org/drawingml/2006/main" x="1047750" y="3714750"/>
          <a:ext xmlns:a="http://schemas.openxmlformats.org/drawingml/2006/main" cx="16192500" cy="4143375"/>
        </p:xfrm>
        <a:graphic xmlns:a="http://schemas.openxmlformats.org/drawingml/2006/main">
          <a:graphicData uri="http://schemas.openxmlformats.org/drawingml/2006/table">
            <a:tbl>
              <a:tblPr/>
              <a:tblGrid>
                <a:gridCol w="7239000"/>
                <a:gridCol w="8953500"/>
              </a:tblGrid>
              <a:tr h="828675">
                <a:tc>
                  <a:txBody>
                    <a:bodyPr/>
                    <a:lstStyle/>
                    <a:p>
                      <a:r>
                        <a:rPr sz="2625" b="1">
                          <a:solidFill>
                            <a:srgbClr val="FFFFFF"/>
                          </a:solidFill>
                          <a:latin typeface="Aptos"/>
                          <a:ea typeface="Aptos"/>
                          <a:cs typeface="Aptos"/>
                        </a:rPr>
                        <a:t>CONFIGURATION</a:t>
                      </a:r>
                    </a:p>
                  </a:txBody>
                  <a:tcPr marL="91440" marR="91440" marT="45720" marB="45720">
                    <a:solidFill>
                      <a:srgbClr val="0A2740"/>
                    </a:solidFill>
                  </a:tcPr>
                </a:tc>
                <a:tc>
                  <a:txBody>
                    <a:bodyPr/>
                    <a:lstStyle/>
                    <a:p>
                      <a:r>
                        <a:rPr sz="2625" b="1">
                          <a:solidFill>
                            <a:srgbClr val="FFFFFF"/>
                          </a:solidFill>
                          <a:latin typeface="Aptos"/>
                          <a:ea typeface="Aptos"/>
                          <a:cs typeface="Aptos"/>
                        </a:rPr>
                        <a:t>QUESTION</a:t>
                      </a:r>
                    </a:p>
                  </a:txBody>
                  <a:tcPr marL="91440" marR="91440" marT="45720" marB="45720">
                    <a:solidFill>
                      <a:srgbClr val="0A2740"/>
                    </a:solidFill>
                  </a:tcPr>
                </a:tc>
              </a:tr>
              <a:tr h="828675">
                <a:tc>
                  <a:txBody>
                    <a:bodyPr/>
                    <a:lstStyle/>
                    <a:p>
                      <a:r>
                        <a:rPr sz="2625" b="0">
                          <a:solidFill>
                            <a:srgbClr val="0A2740"/>
                          </a:solidFill>
                          <a:latin typeface="Aptos"/>
                          <a:ea typeface="Aptos"/>
                          <a:cs typeface="Aptos"/>
                        </a:rPr>
                        <a:t>Audio only</a:t>
                      </a:r>
                    </a:p>
                  </a:txBody>
                  <a:tcPr marL="91440" marR="91440" marT="45720" marB="45720">
                    <a:solidFill>
                      <a:srgbClr val="E6F4F8"/>
                    </a:solidFill>
                  </a:tcPr>
                </a:tc>
                <a:tc>
                  <a:txBody>
                    <a:bodyPr/>
                    <a:lstStyle/>
                    <a:p>
                      <a:r>
                        <a:rPr sz="2625" b="0">
                          <a:solidFill>
                            <a:srgbClr val="0A2740"/>
                          </a:solidFill>
                          <a:latin typeface="Aptos"/>
                          <a:ea typeface="Aptos"/>
                          <a:cs typeface="Aptos"/>
                        </a:rPr>
                        <a:t>Does audio contain label-specific shortcuts?</a:t>
                      </a:r>
                    </a:p>
                  </a:txBody>
                  <a:tcPr marL="91440" marR="91440" marT="45720" marB="45720">
                    <a:solidFill>
                      <a:srgbClr val="E6F4F8"/>
                    </a:solidFill>
                  </a:tcPr>
                </a:tc>
              </a:tr>
              <a:tr h="828675">
                <a:tc>
                  <a:txBody>
                    <a:bodyPr/>
                    <a:lstStyle/>
                    <a:p>
                      <a:r>
                        <a:rPr sz="2625" b="0">
                          <a:solidFill>
                            <a:srgbClr val="0A2740"/>
                          </a:solidFill>
                          <a:latin typeface="Aptos"/>
                          <a:ea typeface="Aptos"/>
                          <a:cs typeface="Aptos"/>
                        </a:rPr>
                        <a:t>Visual only</a:t>
                      </a:r>
                    </a:p>
                  </a:txBody>
                  <a:tcPr marL="91440" marR="91440" marT="45720" marB="45720">
                    <a:solidFill>
                      <a:srgbClr val="F3F8FA"/>
                    </a:solidFill>
                  </a:tcPr>
                </a:tc>
                <a:tc>
                  <a:txBody>
                    <a:bodyPr/>
                    <a:lstStyle/>
                    <a:p>
                      <a:r>
                        <a:rPr sz="2625" b="0">
                          <a:solidFill>
                            <a:srgbClr val="0A2740"/>
                          </a:solidFill>
                          <a:latin typeface="Aptos"/>
                          <a:ea typeface="Aptos"/>
                          <a:cs typeface="Aptos"/>
                        </a:rPr>
                        <a:t>Is mouth blur enough to distinguish fakes?</a:t>
                      </a:r>
                    </a:p>
                  </a:txBody>
                  <a:tcPr marL="91440" marR="91440" marT="45720" marB="45720">
                    <a:solidFill>
                      <a:srgbClr val="F3F8FA"/>
                    </a:solidFill>
                  </a:tcPr>
                </a:tc>
              </a:tr>
              <a:tr h="828675">
                <a:tc>
                  <a:txBody>
                    <a:bodyPr/>
                    <a:lstStyle/>
                    <a:p>
                      <a:r>
                        <a:rPr sz="2625" b="0">
                          <a:solidFill>
                            <a:srgbClr val="0A2740"/>
                          </a:solidFill>
                          <a:latin typeface="Aptos"/>
                          <a:ea typeface="Aptos"/>
                          <a:cs typeface="Aptos"/>
                        </a:rPr>
                        <a:t>Audio + visual: Y</a:t>
                      </a:r>
                    </a:p>
                  </a:txBody>
                  <a:tcPr marL="91440" marR="91440" marT="45720" marB="45720">
                    <a:solidFill>
                      <a:srgbClr val="E6F4F8"/>
                    </a:solidFill>
                  </a:tcPr>
                </a:tc>
                <a:tc>
                  <a:txBody>
                    <a:bodyPr/>
                    <a:lstStyle/>
                    <a:p>
                      <a:r>
                        <a:rPr sz="2625" b="0">
                          <a:solidFill>
                            <a:srgbClr val="0A2740"/>
                          </a:solidFill>
                          <a:latin typeface="Aptos"/>
                          <a:ea typeface="Aptos"/>
                          <a:cs typeface="Aptos"/>
                        </a:rPr>
                        <a:t>Does audio add value beyond visual features?</a:t>
                      </a:r>
                    </a:p>
                  </a:txBody>
                  <a:tcPr marL="91440" marR="91440" marT="45720" marB="45720">
                    <a:solidFill>
                      <a:srgbClr val="E6F4F8"/>
                    </a:solidFill>
                  </a:tcPr>
                </a:tc>
              </a:tr>
              <a:tr h="828675">
                <a:tc>
                  <a:txBody>
                    <a:bodyPr/>
                    <a:lstStyle/>
                    <a:p>
                      <a:r>
                        <a:rPr sz="2625" b="0">
                          <a:solidFill>
                            <a:srgbClr val="0A2740"/>
                          </a:solidFill>
                          <a:latin typeface="Aptos"/>
                          <a:ea typeface="Aptos"/>
                          <a:cs typeface="Aptos"/>
                        </a:rPr>
                        <a:t>Audio + visual + consistency: X</a:t>
                      </a:r>
                    </a:p>
                  </a:txBody>
                  <a:tcPr marL="91440" marR="91440" marT="45720" marB="45720">
                    <a:solidFill>
                      <a:srgbClr val="F3F8FA"/>
                    </a:solidFill>
                  </a:tcPr>
                </a:tc>
                <a:tc>
                  <a:txBody>
                    <a:bodyPr/>
                    <a:lstStyle/>
                    <a:p>
                      <a:r>
                        <a:rPr sz="2625" b="0">
                          <a:solidFill>
                            <a:srgbClr val="0A2740"/>
                          </a:solidFill>
                          <a:latin typeface="Aptos"/>
                          <a:ea typeface="Aptos"/>
                          <a:cs typeface="Aptos"/>
                        </a:rPr>
                        <a:t>Does consistency improve compression robustness?</a:t>
                      </a:r>
                    </a:p>
                  </a:txBody>
                  <a:tcPr marL="91440" marR="91440" marT="45720" marB="45720">
                    <a:solidFill>
                      <a:srgbClr val="F3F8FA"/>
                    </a:solidFill>
                  </a:tcPr>
                </a:tc>
              </a:tr>
            </a:tbl>
          </a:graphicData>
        </a:graphic>
      </p:graphicFrame>
      <p:sp>
        <p:nvSpPr>
          <p:cNvPr id="29" name="KIỂM SOÁT DẤU VẾT PHỤ">
            <a:extLst xmlns:a="http://schemas.openxmlformats.org/drawingml/2006/main">
              <a:ext uri="{FF2B5EF4-FFF2-40B4-BE49-F238E27FC236}">
                <a16:creationId xmlns:a16="http://schemas.microsoft.com/office/drawing/2014/main" id="{9F7777DC-7A0C-41FE-ACDB-E650C7FAAF90}"/>
              </a:ext>
            </a:extLst>
          </p:cNvPr>
          <p:cNvSpPr>
            <a:spLocks xmlns:a="http://schemas.openxmlformats.org/drawingml/2006/main" noGrp="1"/>
          </p:cNvSpPr>
          <p:nvPr/>
        </p:nvSpPr>
        <p:spPr>
          <a:xfrm xmlns:a="http://schemas.openxmlformats.org/drawingml/2006/main">
            <a:off x="1047750" y="8143875"/>
            <a:ext cx="1524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0A2740"/>
                </a:solidFill>
                <a:latin typeface="Anton"/>
                <a:ea typeface="Anton"/>
                <a:cs typeface="Anton"/>
              </a:defRPr>
            </a:pPr>
            <a:r>
              <a:rPr sz="3150" b="0">
                <a:solidFill>
                  <a:srgbClr val="0A2740"/>
                </a:solidFill>
                <a:latin typeface="Anton"/>
                <a:ea typeface="Anton"/>
                <a:cs typeface="Anton"/>
              </a:rPr>
              <a:t>CONTROL SPURIOUS CUES</a:t>
            </a:r>
          </a:p>
        </p:txBody>
      </p:sp>
      <p:sp>
        <p:nvSpPr>
          <p:cNvPr id="30" name="Cùng policy codec, độ phân giải và ">
            <a:extLst xmlns:a="http://schemas.openxmlformats.org/drawingml/2006/main">
              <a:ext uri="{FF2B5EF4-FFF2-40B4-BE49-F238E27FC236}">
                <a16:creationId xmlns:a16="http://schemas.microsoft.com/office/drawing/2014/main" id="{7C1F1433-C48A-4FF0-AD12-EFC6B12CF4A3}"/>
              </a:ext>
            </a:extLst>
          </p:cNvPr>
          <p:cNvSpPr>
            <a:spLocks xmlns:a="http://schemas.openxmlformats.org/drawingml/2006/main" noGrp="1"/>
          </p:cNvSpPr>
          <p:nvPr/>
        </p:nvSpPr>
        <p:spPr>
          <a:xfrm xmlns:a="http://schemas.openxmlformats.org/drawingml/2006/main">
            <a:off x="1047750" y="8858250"/>
            <a:ext cx="1600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455966"/>
                </a:solidFill>
                <a:latin typeface="Aptos"/>
                <a:ea typeface="Aptos"/>
                <a:cs typeface="Aptos"/>
              </a:defRPr>
            </a:pPr>
            <a:r>
              <a:rPr sz="2400" b="0">
                <a:solidFill>
                  <a:srgbClr val="455966"/>
                </a:solidFill>
                <a:latin typeface="Aptos"/>
                <a:ea typeface="Aptos"/>
                <a:cs typeface="Aptos"/>
              </a:rPr>
              <a:t>Match codec, resolution and audio policies. Report preprocessing failures by label and generator.</a:t>
            </a:r>
          </a:p>
        </p:txBody>
      </p:sp>
    </p:spTree>
    <p:extLst>
      <p:ext uri="{BB962C8B-B14F-4D97-AF65-F5344CB8AC3E}">
        <p14:creationId xmlns:p14="http://schemas.microsoft.com/office/powerpoint/2010/main" val="24918661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D0EA983-E6AD-46C2-B618-02670FFE2CF2}"/>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24384000" h="13716000">
                <a:moveTo>
                  <a:pt x="0" y="0"/>
                </a:moveTo>
                <a:lnTo>
                  <a:pt x="24384000" y="0"/>
                </a:lnTo>
                <a:lnTo>
                  <a:pt x="24384000" y="13716000"/>
                </a:lnTo>
                <a:lnTo>
                  <a:pt x="0" y="13716000"/>
                </a:lnTo>
                <a:close/>
              </a:path>
            </a:pathLst>
          </a:custGeom>
          <a:solidFill xmlns:a="http://schemas.openxmlformats.org/drawingml/2006/main">
            <a:srgbClr val="FFFFFF"/>
          </a:solidFill>
        </p:spPr>
      </p:sp>
      <p:sp>
        <p:nvSpPr>
          <p:cNvPr id="5" name="Freeform 5">
            <a:extLst xmlns:a="http://schemas.openxmlformats.org/drawingml/2006/main">
              <a:ext uri="{FF2B5EF4-FFF2-40B4-BE49-F238E27FC236}">
                <a16:creationId xmlns:a16="http://schemas.microsoft.com/office/drawing/2014/main" id="{0A954C90-11A9-4785-8882-CD6F4D7363F7}"/>
              </a:ext>
            </a:extLst>
          </p:cNvPr>
          <p:cNvSpPr>
            <a:spLocks xmlns:a="http://schemas.openxmlformats.org/drawingml/2006/main" noGrp="1"/>
          </p:cNvSpPr>
          <p:nvPr/>
        </p:nvSpPr>
        <p:spPr>
          <a:xfrm xmlns:a="http://schemas.openxmlformats.org/drawingml/2006/main" rot="0" flipH="0" flipV="0">
            <a:off x="561975" y="333375"/>
            <a:ext cx="17164050" cy="819150"/>
          </a:xfrm>
          <a:custGeom xmlns:a="http://schemas.openxmlformats.org/drawingml/2006/main">
            <a:rect l="l" t="t" r="r" b="b"/>
            <a:pathLst>
              <a:path w="22885400" h="1092200">
                <a:moveTo>
                  <a:pt x="0" y="131064"/>
                </a:moveTo>
                <a:cubicBezTo>
                  <a:pt x="0" y="58674"/>
                  <a:pt x="58674" y="0"/>
                  <a:pt x="131064" y="0"/>
                </a:cubicBezTo>
                <a:lnTo>
                  <a:pt x="22754337" y="0"/>
                </a:lnTo>
                <a:cubicBezTo>
                  <a:pt x="22826726" y="0"/>
                  <a:pt x="22885400" y="58674"/>
                  <a:pt x="22885400" y="131064"/>
                </a:cubicBezTo>
                <a:lnTo>
                  <a:pt x="22885400" y="961136"/>
                </a:lnTo>
                <a:cubicBezTo>
                  <a:pt x="22885400" y="1033526"/>
                  <a:pt x="22826726" y="1092200"/>
                  <a:pt x="22754337" y="1092200"/>
                </a:cubicBezTo>
                <a:lnTo>
                  <a:pt x="131064" y="1092200"/>
                </a:lnTo>
                <a:cubicBezTo>
                  <a:pt x="58674" y="1092200"/>
                  <a:pt x="0" y="1033526"/>
                  <a:pt x="0" y="961136"/>
                </a:cubicBezTo>
                <a:close/>
              </a:path>
            </a:pathLst>
          </a:custGeom>
          <a:solidFill xmlns:a="http://schemas.openxmlformats.org/drawingml/2006/main">
            <a:srgbClr val="FFFFFF"/>
          </a:solidFill>
          <a:ln xmlns:a="http://schemas.openxmlformats.org/drawingml/2006/main" w="19050">
            <a:solidFill>
              <a:srgbClr val="CCDDE4"/>
            </a:solidFill>
            <a:prstDash val="solid"/>
          </a:ln>
        </p:spPr>
      </p:sp>
      <p:sp>
        <p:nvSpPr>
          <p:cNvPr id="7" name="Freeform 7">
            <a:extLst xmlns:a="http://schemas.openxmlformats.org/drawingml/2006/main">
              <a:ext uri="{FF2B5EF4-FFF2-40B4-BE49-F238E27FC236}">
                <a16:creationId xmlns:a16="http://schemas.microsoft.com/office/drawing/2014/main" id="{DEF2EFD9-9D45-47A1-8454-E62E86936912}"/>
              </a:ext>
            </a:extLst>
          </p:cNvPr>
          <p:cNvSpPr>
            <a:spLocks xmlns:a="http://schemas.openxmlformats.org/drawingml/2006/main" noGrp="1"/>
          </p:cNvSpPr>
          <p:nvPr/>
        </p:nvSpPr>
        <p:spPr>
          <a:xfrm xmlns:a="http://schemas.openxmlformats.org/drawingml/2006/main" rot="0" flipH="0" flipV="0">
            <a:off x="1047750" y="552450"/>
            <a:ext cx="2476500" cy="342900"/>
          </a:xfrm>
          <a:custGeom xmlns:a="http://schemas.openxmlformats.org/drawingml/2006/main">
            <a:rect l="l" t="t" r="r" b="b"/>
            <a:pathLst>
              <a:path w="3302000" h="457200">
                <a:moveTo>
                  <a:pt x="0" y="0"/>
                </a:moveTo>
                <a:lnTo>
                  <a:pt x="3302000" y="0"/>
                </a:lnTo>
                <a:lnTo>
                  <a:pt x="3302000" y="457200"/>
                </a:lnTo>
                <a:lnTo>
                  <a:pt x="0" y="457200"/>
                </a:lnTo>
                <a:close/>
              </a:path>
            </a:pathLst>
          </a:custGeom>
          <a:blipFill xmlns:a="http://schemas.openxmlformats.org/drawingml/2006/main">
            <a:blip xmlns:r="http://schemas.openxmlformats.org/officeDocument/2006/relationships" r:embed="Rc7acad7ebfa94ac4">
              <a:alphaModFix amt="0"/>
            </a:blip>
            <a:stretch>
              <a:fillRect l="0" t="-90725" r="0" b="-90725"/>
            </a:stretch>
          </a:blipFill>
        </p:spPr>
      </p:sp>
      <p:sp>
        <p:nvSpPr>
          <p:cNvPr id="8" name="TextBox 8">
            <a:extLst xmlns:a="http://schemas.openxmlformats.org/drawingml/2006/main">
              <a:ext uri="{FF2B5EF4-FFF2-40B4-BE49-F238E27FC236}">
                <a16:creationId xmlns:a16="http://schemas.microsoft.com/office/drawing/2014/main" id="{C9952941-6BDB-46A7-927C-39ED16F0BF60}"/>
              </a:ext>
            </a:extLst>
          </p:cNvPr>
          <p:cNvSpPr>
            <a:spLocks xmlns:a="http://schemas.openxmlformats.org/drawingml/2006/main" noGrp="1"/>
          </p:cNvSpPr>
          <p:nvPr/>
        </p:nvSpPr>
        <p:spPr>
          <a:xfrm xmlns:a="http://schemas.openxmlformats.org/drawingml/2006/main" rot="0" flipH="0" flipV="0">
            <a:off x="1047750" y="552450"/>
            <a:ext cx="2476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PROBLEM</a:t>
            </a:r>
          </a:p>
        </p:txBody>
      </p:sp>
      <p:sp>
        <p:nvSpPr>
          <p:cNvPr id="10" name="Freeform 10">
            <a:extLst xmlns:a="http://schemas.openxmlformats.org/drawingml/2006/main">
              <a:ext uri="{FF2B5EF4-FFF2-40B4-BE49-F238E27FC236}">
                <a16:creationId xmlns:a16="http://schemas.microsoft.com/office/drawing/2014/main" id="{8134547D-0BDD-45A6-BE43-43C2B9BEE066}"/>
              </a:ext>
            </a:extLst>
          </p:cNvPr>
          <p:cNvSpPr>
            <a:spLocks xmlns:a="http://schemas.openxmlformats.org/drawingml/2006/main" noGrp="1"/>
          </p:cNvSpPr>
          <p:nvPr/>
        </p:nvSpPr>
        <p:spPr>
          <a:xfrm xmlns:a="http://schemas.openxmlformats.org/drawingml/2006/main" rot="0" flipH="0" flipV="0">
            <a:off x="4076700" y="552450"/>
            <a:ext cx="2857500" cy="342900"/>
          </a:xfrm>
          <a:custGeom xmlns:a="http://schemas.openxmlformats.org/drawingml/2006/main">
            <a:rect l="l" t="t" r="r" b="b"/>
            <a:pathLst>
              <a:path w="3810000" h="457200">
                <a:moveTo>
                  <a:pt x="0" y="0"/>
                </a:moveTo>
                <a:lnTo>
                  <a:pt x="3810000" y="0"/>
                </a:lnTo>
                <a:lnTo>
                  <a:pt x="3810000" y="457200"/>
                </a:lnTo>
                <a:lnTo>
                  <a:pt x="0" y="457200"/>
                </a:lnTo>
                <a:close/>
              </a:path>
            </a:pathLst>
          </a:custGeom>
          <a:blipFill xmlns:a="http://schemas.openxmlformats.org/drawingml/2006/main">
            <a:blip xmlns:r="http://schemas.openxmlformats.org/officeDocument/2006/relationships" r:embed="Rc7acad7ebfa94ac4">
              <a:alphaModFix amt="0"/>
            </a:blip>
            <a:stretch>
              <a:fillRect l="0" t="-112375" r="0" b="-112375"/>
            </a:stretch>
          </a:blipFill>
        </p:spPr>
      </p:sp>
      <p:sp>
        <p:nvSpPr>
          <p:cNvPr id="11" name="TextBox 11">
            <a:extLst xmlns:a="http://schemas.openxmlformats.org/drawingml/2006/main">
              <a:ext uri="{FF2B5EF4-FFF2-40B4-BE49-F238E27FC236}">
                <a16:creationId xmlns:a16="http://schemas.microsoft.com/office/drawing/2014/main" id="{DFA83E04-EE82-4604-AD01-D91AC9F0A446}"/>
              </a:ext>
            </a:extLst>
          </p:cNvPr>
          <p:cNvSpPr>
            <a:spLocks xmlns:a="http://schemas.openxmlformats.org/drawingml/2006/main" noGrp="1"/>
          </p:cNvSpPr>
          <p:nvPr/>
        </p:nvSpPr>
        <p:spPr>
          <a:xfrm xmlns:a="http://schemas.openxmlformats.org/drawingml/2006/main" rot="0" flipH="0" flipV="0">
            <a:off x="4076700" y="552450"/>
            <a:ext cx="285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SCOPE</a:t>
            </a:r>
          </a:p>
        </p:txBody>
      </p:sp>
      <p:sp>
        <p:nvSpPr>
          <p:cNvPr id="13" name="Freeform 13">
            <a:extLst xmlns:a="http://schemas.openxmlformats.org/drawingml/2006/main">
              <a:ext uri="{FF2B5EF4-FFF2-40B4-BE49-F238E27FC236}">
                <a16:creationId xmlns:a16="http://schemas.microsoft.com/office/drawing/2014/main" id="{9B9B0E7A-B5D0-440D-87C3-C42D6BD12045}"/>
              </a:ext>
            </a:extLst>
          </p:cNvPr>
          <p:cNvSpPr>
            <a:spLocks xmlns:a="http://schemas.openxmlformats.org/drawingml/2006/main" noGrp="1"/>
          </p:cNvSpPr>
          <p:nvPr/>
        </p:nvSpPr>
        <p:spPr>
          <a:xfrm xmlns:a="http://schemas.openxmlformats.org/drawingml/2006/main" rot="0" flipH="0" flipV="0">
            <a:off x="7429500" y="552450"/>
            <a:ext cx="2381250" cy="342900"/>
          </a:xfrm>
          <a:custGeom xmlns:a="http://schemas.openxmlformats.org/drawingml/2006/main">
            <a:rect l="l" t="t" r="r" b="b"/>
            <a:pathLst>
              <a:path w="3175000" h="457200">
                <a:moveTo>
                  <a:pt x="0" y="0"/>
                </a:moveTo>
                <a:lnTo>
                  <a:pt x="3175000" y="0"/>
                </a:lnTo>
                <a:lnTo>
                  <a:pt x="3175000" y="457200"/>
                </a:lnTo>
                <a:lnTo>
                  <a:pt x="0" y="457200"/>
                </a:lnTo>
                <a:close/>
              </a:path>
            </a:pathLst>
          </a:custGeom>
          <a:blipFill xmlns:a="http://schemas.openxmlformats.org/drawingml/2006/main">
            <a:blip xmlns:r="http://schemas.openxmlformats.org/officeDocument/2006/relationships" r:embed="Rc7acad7ebfa94ac4">
              <a:alphaModFix amt="0"/>
            </a:blip>
            <a:stretch>
              <a:fillRect l="0" t="-85312" r="0" b="-85312"/>
            </a:stretch>
          </a:blipFill>
        </p:spPr>
      </p:sp>
      <p:sp>
        <p:nvSpPr>
          <p:cNvPr id="14" name="TextBox 14">
            <a:extLst xmlns:a="http://schemas.openxmlformats.org/drawingml/2006/main">
              <a:ext uri="{FF2B5EF4-FFF2-40B4-BE49-F238E27FC236}">
                <a16:creationId xmlns:a16="http://schemas.microsoft.com/office/drawing/2014/main" id="{08B8798F-BF72-4B52-A568-4B5414E7D435}"/>
              </a:ext>
            </a:extLst>
          </p:cNvPr>
          <p:cNvSpPr>
            <a:spLocks xmlns:a="http://schemas.openxmlformats.org/drawingml/2006/main" noGrp="1"/>
          </p:cNvSpPr>
          <p:nvPr/>
        </p:nvSpPr>
        <p:spPr>
          <a:xfrm xmlns:a="http://schemas.openxmlformats.org/drawingml/2006/main" rot="0" flipH="0" flipV="0">
            <a:off x="7429500" y="552450"/>
            <a:ext cx="2381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MODEL</a:t>
            </a:r>
          </a:p>
        </p:txBody>
      </p:sp>
      <p:sp>
        <p:nvSpPr>
          <p:cNvPr id="16" name="Freeform 16">
            <a:extLst xmlns:a="http://schemas.openxmlformats.org/drawingml/2006/main">
              <a:ext uri="{FF2B5EF4-FFF2-40B4-BE49-F238E27FC236}">
                <a16:creationId xmlns:a16="http://schemas.microsoft.com/office/drawing/2014/main" id="{44D9DE71-315C-448F-9C27-359F009978D6}"/>
              </a:ext>
            </a:extLst>
          </p:cNvPr>
          <p:cNvSpPr>
            <a:spLocks xmlns:a="http://schemas.openxmlformats.org/drawingml/2006/main" noGrp="1"/>
          </p:cNvSpPr>
          <p:nvPr/>
        </p:nvSpPr>
        <p:spPr>
          <a:xfrm xmlns:a="http://schemas.openxmlformats.org/drawingml/2006/main" rot="0" flipH="0" flipV="0">
            <a:off x="13954125" y="1028700"/>
            <a:ext cx="1581150" cy="57150"/>
          </a:xfrm>
          <a:custGeom xmlns:a="http://schemas.openxmlformats.org/drawingml/2006/main">
            <a:rect l="l" t="t" r="r" b="b"/>
            <a:pathLst>
              <a:path w="2108200" h="76200">
                <a:moveTo>
                  <a:pt x="0" y="0"/>
                </a:moveTo>
                <a:lnTo>
                  <a:pt x="2108200" y="0"/>
                </a:lnTo>
                <a:lnTo>
                  <a:pt x="2108200" y="76200"/>
                </a:lnTo>
                <a:lnTo>
                  <a:pt x="0" y="76200"/>
                </a:lnTo>
                <a:close/>
              </a:path>
            </a:pathLst>
          </a:custGeom>
          <a:solidFill xmlns:a="http://schemas.openxmlformats.org/drawingml/2006/main">
            <a:srgbClr val="4DCADE"/>
          </a:solidFill>
        </p:spPr>
      </p:sp>
      <p:sp>
        <p:nvSpPr>
          <p:cNvPr id="18" name="Freeform 18">
            <a:extLst xmlns:a="http://schemas.openxmlformats.org/drawingml/2006/main">
              <a:ext uri="{FF2B5EF4-FFF2-40B4-BE49-F238E27FC236}">
                <a16:creationId xmlns:a16="http://schemas.microsoft.com/office/drawing/2014/main" id="{30CBA242-4643-484E-BCD6-8A48428C3CC7}"/>
              </a:ext>
            </a:extLst>
          </p:cNvPr>
          <p:cNvSpPr>
            <a:spLocks xmlns:a="http://schemas.openxmlformats.org/drawingml/2006/main" noGrp="1"/>
          </p:cNvSpPr>
          <p:nvPr/>
        </p:nvSpPr>
        <p:spPr>
          <a:xfrm xmlns:a="http://schemas.openxmlformats.org/drawingml/2006/main" rot="0" flipH="0" flipV="0">
            <a:off x="10439400" y="552450"/>
            <a:ext cx="2571750" cy="342900"/>
          </a:xfrm>
          <a:custGeom xmlns:a="http://schemas.openxmlformats.org/drawingml/2006/main">
            <a:rect l="l" t="t" r="r" b="b"/>
            <a:pathLst>
              <a:path w="3429000" h="457200">
                <a:moveTo>
                  <a:pt x="0" y="0"/>
                </a:moveTo>
                <a:lnTo>
                  <a:pt x="3429000" y="0"/>
                </a:lnTo>
                <a:lnTo>
                  <a:pt x="3429000" y="457200"/>
                </a:lnTo>
                <a:lnTo>
                  <a:pt x="0" y="457200"/>
                </a:lnTo>
                <a:close/>
              </a:path>
            </a:pathLst>
          </a:custGeom>
          <a:blipFill xmlns:a="http://schemas.openxmlformats.org/drawingml/2006/main">
            <a:blip xmlns:r="http://schemas.openxmlformats.org/officeDocument/2006/relationships" r:embed="Rc7acad7ebfa94ac4">
              <a:alphaModFix amt="0"/>
            </a:blip>
            <a:stretch>
              <a:fillRect l="0" t="-96137" r="0" b="-96137"/>
            </a:stretch>
          </a:blipFill>
        </p:spPr>
      </p:sp>
      <p:sp>
        <p:nvSpPr>
          <p:cNvPr id="19" name="TextBox 19">
            <a:extLst xmlns:a="http://schemas.openxmlformats.org/drawingml/2006/main">
              <a:ext uri="{FF2B5EF4-FFF2-40B4-BE49-F238E27FC236}">
                <a16:creationId xmlns:a16="http://schemas.microsoft.com/office/drawing/2014/main" id="{D156165D-0457-4193-ACEC-D1B5BE3483E2}"/>
              </a:ext>
            </a:extLst>
          </p:cNvPr>
          <p:cNvSpPr>
            <a:spLocks xmlns:a="http://schemas.openxmlformats.org/drawingml/2006/main" noGrp="1"/>
          </p:cNvSpPr>
          <p:nvPr/>
        </p:nvSpPr>
        <p:spPr>
          <a:xfrm xmlns:a="http://schemas.openxmlformats.org/drawingml/2006/main" rot="0" flipH="0" flipV="0">
            <a:off x="10439400" y="552450"/>
            <a:ext cx="25717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DATA</a:t>
            </a:r>
          </a:p>
        </p:txBody>
      </p:sp>
      <p:sp>
        <p:nvSpPr>
          <p:cNvPr id="21" name="Freeform 21">
            <a:extLst xmlns:a="http://schemas.openxmlformats.org/drawingml/2006/main">
              <a:ext uri="{FF2B5EF4-FFF2-40B4-BE49-F238E27FC236}">
                <a16:creationId xmlns:a16="http://schemas.microsoft.com/office/drawing/2014/main" id="{69D62107-3918-4238-8931-F8550C7F94A9}"/>
              </a:ext>
            </a:extLst>
          </p:cNvPr>
          <p:cNvSpPr>
            <a:spLocks xmlns:a="http://schemas.openxmlformats.org/drawingml/2006/main" noGrp="1"/>
          </p:cNvSpPr>
          <p:nvPr/>
        </p:nvSpPr>
        <p:spPr>
          <a:xfrm xmlns:a="http://schemas.openxmlformats.org/drawingml/2006/main" rot="0" flipH="0" flipV="0">
            <a:off x="13639800" y="552450"/>
            <a:ext cx="2286000" cy="342900"/>
          </a:xfrm>
          <a:custGeom xmlns:a="http://schemas.openxmlformats.org/drawingml/2006/main">
            <a:rect l="l" t="t" r="r" b="b"/>
            <a:pathLst>
              <a:path w="3048000" h="457200">
                <a:moveTo>
                  <a:pt x="0" y="0"/>
                </a:moveTo>
                <a:lnTo>
                  <a:pt x="3048000" y="0"/>
                </a:lnTo>
                <a:lnTo>
                  <a:pt x="3048000" y="457200"/>
                </a:lnTo>
                <a:lnTo>
                  <a:pt x="0" y="457200"/>
                </a:lnTo>
                <a:close/>
              </a:path>
            </a:pathLst>
          </a:custGeom>
          <a:blipFill xmlns:a="http://schemas.openxmlformats.org/drawingml/2006/main">
            <a:blip xmlns:r="http://schemas.openxmlformats.org/officeDocument/2006/relationships" r:embed="Rc7acad7ebfa94ac4">
              <a:alphaModFix amt="0"/>
            </a:blip>
            <a:stretch>
              <a:fillRect l="0" t="-79900" r="0" b="-79900"/>
            </a:stretch>
          </a:blipFill>
        </p:spPr>
      </p:sp>
      <p:sp>
        <p:nvSpPr>
          <p:cNvPr id="22" name="TextBox 22">
            <a:extLst xmlns:a="http://schemas.openxmlformats.org/drawingml/2006/main">
              <a:ext uri="{FF2B5EF4-FFF2-40B4-BE49-F238E27FC236}">
                <a16:creationId xmlns:a16="http://schemas.microsoft.com/office/drawing/2014/main" id="{ECB9DC17-7966-424F-BDB3-163961AA236A}"/>
              </a:ext>
            </a:extLst>
          </p:cNvPr>
          <p:cNvSpPr>
            <a:spLocks xmlns:a="http://schemas.openxmlformats.org/drawingml/2006/main" noGrp="1"/>
          </p:cNvSpPr>
          <p:nvPr/>
        </p:nvSpPr>
        <p:spPr>
          <a:xfrm xmlns:a="http://schemas.openxmlformats.org/drawingml/2006/main" rot="0" flipH="0" flipV="0">
            <a:off x="13639800" y="552450"/>
            <a:ext cx="22860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070"/>
              </a:lnSpc>
              <a:buNone/>
              <a:defRPr sz="1725" b="1">
                <a:solidFill>
                  <a:srgbClr val="0A2740"/>
                </a:solidFill>
                <a:latin typeface="Aptos"/>
                <a:ea typeface="Aptos"/>
                <a:cs typeface="Aptos"/>
              </a:defRPr>
            </a:pPr>
            <a:r>
              <a:rPr sz="1725" b="1">
                <a:solidFill>
                  <a:srgbClr val="0A2740"/>
                </a:solidFill>
                <a:latin typeface="Aptos"/>
                <a:ea typeface="Aptos"/>
                <a:cs typeface="Aptos"/>
              </a:rPr>
              <a:t>EVALUATION</a:t>
            </a:r>
          </a:p>
        </p:txBody>
      </p:sp>
      <p:sp>
        <p:nvSpPr>
          <p:cNvPr id="24" name="Freeform 24">
            <a:extLst xmlns:a="http://schemas.openxmlformats.org/drawingml/2006/main">
              <a:ext uri="{FF2B5EF4-FFF2-40B4-BE49-F238E27FC236}">
                <a16:creationId xmlns:a16="http://schemas.microsoft.com/office/drawing/2014/main" id="{BDB555C1-E320-4443-BF13-C497C3A57C0D}"/>
              </a:ext>
            </a:extLst>
          </p:cNvPr>
          <p:cNvSpPr>
            <a:spLocks xmlns:a="http://schemas.openxmlformats.org/drawingml/2006/main" noGrp="1"/>
          </p:cNvSpPr>
          <p:nvPr/>
        </p:nvSpPr>
        <p:spPr>
          <a:xfrm xmlns:a="http://schemas.openxmlformats.org/drawingml/2006/main" rot="0" flipH="0" flipV="0">
            <a:off x="16363950" y="552450"/>
            <a:ext cx="800100" cy="342900"/>
          </a:xfrm>
          <a:custGeom xmlns:a="http://schemas.openxmlformats.org/drawingml/2006/main">
            <a:rect l="l" t="t" r="r" b="b"/>
            <a:pathLst>
              <a:path w="1066800" h="457200">
                <a:moveTo>
                  <a:pt x="0" y="0"/>
                </a:moveTo>
                <a:lnTo>
                  <a:pt x="1066800" y="0"/>
                </a:lnTo>
                <a:lnTo>
                  <a:pt x="1066800" y="457200"/>
                </a:lnTo>
                <a:lnTo>
                  <a:pt x="0" y="457200"/>
                </a:lnTo>
                <a:close/>
              </a:path>
            </a:pathLst>
          </a:custGeom>
          <a:blipFill xmlns:a="http://schemas.openxmlformats.org/drawingml/2006/main">
            <a:blip xmlns:r="http://schemas.openxmlformats.org/officeDocument/2006/relationships" r:embed="Rc7acad7ebfa94ac4">
              <a:alphaModFix amt="0"/>
            </a:blip>
            <a:stretch>
              <a:fillRect l="-4987" t="0" r="-4987" b="0"/>
            </a:stretch>
          </a:blipFill>
        </p:spPr>
      </p:sp>
      <p:sp>
        <p:nvSpPr>
          <p:cNvPr id="25" name="TextBox 25">
            <a:extLst xmlns:a="http://schemas.openxmlformats.org/drawingml/2006/main">
              <a:ext uri="{FF2B5EF4-FFF2-40B4-BE49-F238E27FC236}">
                <a16:creationId xmlns:a16="http://schemas.microsoft.com/office/drawing/2014/main" id="{4C35D53E-9018-4266-AEFE-602E2E2E9ADC}"/>
              </a:ext>
            </a:extLst>
          </p:cNvPr>
          <p:cNvSpPr>
            <a:spLocks xmlns:a="http://schemas.openxmlformats.org/drawingml/2006/main" noGrp="1"/>
          </p:cNvSpPr>
          <p:nvPr/>
        </p:nvSpPr>
        <p:spPr>
          <a:xfrm xmlns:a="http://schemas.openxmlformats.org/drawingml/2006/main" rot="0" flipH="0" flipV="0">
            <a:off x="16363950" y="552450"/>
            <a:ext cx="8001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r">
              <a:lnSpc>
                <a:spcPts val="1889"/>
              </a:lnSpc>
              <a:buNone/>
              <a:defRPr sz="1725" b="1">
                <a:solidFill>
                  <a:srgbClr val="0A2740"/>
                </a:solidFill>
                <a:latin typeface="Aptos"/>
                <a:ea typeface="Aptos"/>
                <a:cs typeface="Aptos"/>
              </a:defRPr>
            </a:pPr>
            <a:r>
              <a:rPr sz="1725" b="1">
                <a:solidFill>
                  <a:srgbClr val="0A2740"/>
                </a:solidFill>
                <a:latin typeface="Aptos"/>
                <a:ea typeface="Aptos"/>
                <a:cs typeface="Aptos"/>
              </a:rPr>
              <a:t>12</a:t>
            </a:r>
          </a:p>
        </p:txBody>
      </p:sp>
      <p:sp>
        <p:nvSpPr>
          <p:cNvPr id="31" name="Freeform 31">
            <a:extLst xmlns:a="http://schemas.openxmlformats.org/drawingml/2006/main">
              <a:ext uri="{FF2B5EF4-FFF2-40B4-BE49-F238E27FC236}">
                <a16:creationId xmlns:a16="http://schemas.microsoft.com/office/drawing/2014/main" id="{A5FAAF27-D7D2-455B-B8AA-65BE19596F42}"/>
              </a:ext>
            </a:extLst>
          </p:cNvPr>
          <p:cNvSpPr>
            <a:spLocks xmlns:a="http://schemas.openxmlformats.org/drawingml/2006/main" noGrp="1"/>
          </p:cNvSpPr>
          <p:nvPr/>
        </p:nvSpPr>
        <p:spPr>
          <a:xfrm xmlns:a="http://schemas.openxmlformats.org/drawingml/2006/main" rot="0" flipH="0" flipV="0">
            <a:off x="10191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E7F5F9"/>
          </a:solidFill>
          <a:ln xmlns:a="http://schemas.openxmlformats.org/drawingml/2006/main" w="19050">
            <a:solidFill>
              <a:srgbClr val="CCDDE4"/>
            </a:solidFill>
            <a:prstDash val="solid"/>
          </a:ln>
        </p:spPr>
      </p:sp>
      <p:sp>
        <p:nvSpPr>
          <p:cNvPr id="36" name="Freeform 36">
            <a:extLst xmlns:a="http://schemas.openxmlformats.org/drawingml/2006/main">
              <a:ext uri="{FF2B5EF4-FFF2-40B4-BE49-F238E27FC236}">
                <a16:creationId xmlns:a16="http://schemas.microsoft.com/office/drawing/2014/main" id="{94EE5536-23C1-459D-A092-D21ECE3C57E2}"/>
              </a:ext>
            </a:extLst>
          </p:cNvPr>
          <p:cNvSpPr>
            <a:spLocks xmlns:a="http://schemas.openxmlformats.org/drawingml/2006/main" noGrp="1"/>
          </p:cNvSpPr>
          <p:nvPr/>
        </p:nvSpPr>
        <p:spPr>
          <a:xfrm xmlns:a="http://schemas.openxmlformats.org/drawingml/2006/main" rot="0" flipH="0" flipV="0">
            <a:off x="9439275" y="3629025"/>
            <a:ext cx="7829550" cy="5448300"/>
          </a:xfrm>
          <a:custGeom xmlns:a="http://schemas.openxmlformats.org/drawingml/2006/main">
            <a:rect l="l" t="t" r="r" b="b"/>
            <a:pathLst>
              <a:path w="10439400" h="7264400">
                <a:moveTo>
                  <a:pt x="0" y="581152"/>
                </a:moveTo>
                <a:cubicBezTo>
                  <a:pt x="0" y="260223"/>
                  <a:pt x="260223" y="0"/>
                  <a:pt x="581152" y="0"/>
                </a:cubicBezTo>
                <a:lnTo>
                  <a:pt x="9858248" y="0"/>
                </a:lnTo>
                <a:cubicBezTo>
                  <a:pt x="10179177" y="0"/>
                  <a:pt x="10439400" y="260223"/>
                  <a:pt x="10439400" y="581152"/>
                </a:cubicBezTo>
                <a:lnTo>
                  <a:pt x="10439400" y="6683248"/>
                </a:lnTo>
                <a:cubicBezTo>
                  <a:pt x="10439400" y="7004177"/>
                  <a:pt x="10179177" y="7264400"/>
                  <a:pt x="9858248" y="7264400"/>
                </a:cubicBezTo>
                <a:lnTo>
                  <a:pt x="581152" y="7264400"/>
                </a:lnTo>
                <a:cubicBezTo>
                  <a:pt x="260223" y="7264400"/>
                  <a:pt x="0" y="7004177"/>
                  <a:pt x="0" y="6683248"/>
                </a:cubicBezTo>
                <a:close/>
              </a:path>
            </a:pathLst>
          </a:custGeom>
          <a:solidFill xmlns:a="http://schemas.openxmlformats.org/drawingml/2006/main">
            <a:srgbClr val="F4F9FB"/>
          </a:solidFill>
          <a:ln xmlns:a="http://schemas.openxmlformats.org/drawingml/2006/main" w="19050">
            <a:solidFill>
              <a:srgbClr val="CCDDE4"/>
            </a:solidFill>
            <a:prstDash val="solid"/>
          </a:ln>
        </p:spPr>
      </p:sp>
      <p:sp>
        <p:nvSpPr>
          <p:cNvPr id="37" name="12  /  ĐÁNH GIÁ">
            <a:extLst xmlns:a="http://schemas.openxmlformats.org/drawingml/2006/main">
              <a:ext uri="{FF2B5EF4-FFF2-40B4-BE49-F238E27FC236}">
                <a16:creationId xmlns:a16="http://schemas.microsoft.com/office/drawing/2014/main" id="{35A19040-0C3B-433B-B8A2-EAF1058E814E}"/>
              </a:ext>
            </a:extLst>
          </p:cNvPr>
          <p:cNvSpPr>
            <a:spLocks xmlns:a="http://schemas.openxmlformats.org/drawingml/2006/main" noGrp="1"/>
          </p:cNvSpPr>
          <p:nvPr/>
        </p:nvSpPr>
        <p:spPr>
          <a:xfrm xmlns:a="http://schemas.openxmlformats.org/drawingml/2006/main">
            <a:off x="1028700" y="1485900"/>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86B8A"/>
                </a:solidFill>
                <a:latin typeface="Aptos"/>
                <a:ea typeface="Aptos"/>
                <a:cs typeface="Aptos"/>
              </a:defRPr>
            </a:pPr>
            <a:r>
              <a:rPr sz="1725" b="1">
                <a:solidFill>
                  <a:srgbClr val="286B8A"/>
                </a:solidFill>
                <a:latin typeface="Aptos"/>
                <a:ea typeface="Aptos"/>
                <a:cs typeface="Aptos"/>
              </a:rPr>
              <a:t>12  /  EVALUATION</a:t>
            </a:r>
          </a:p>
        </p:txBody>
      </p:sp>
      <p:sp>
        <p:nvSpPr>
          <p:cNvPr id="38" name="TIẾN ĐỘ &amp; ĐÓNG GÓP KỲ VỌNG">
            <a:extLst xmlns:a="http://schemas.openxmlformats.org/drawingml/2006/main">
              <a:ext uri="{FF2B5EF4-FFF2-40B4-BE49-F238E27FC236}">
                <a16:creationId xmlns:a16="http://schemas.microsoft.com/office/drawing/2014/main" id="{3A632C72-EFEF-4956-A634-4EC27FBD3572}"/>
              </a:ext>
            </a:extLst>
          </p:cNvPr>
          <p:cNvSpPr>
            <a:spLocks xmlns:a="http://schemas.openxmlformats.org/drawingml/2006/main" noGrp="1"/>
          </p:cNvSpPr>
          <p:nvPr/>
        </p:nvSpPr>
        <p:spPr>
          <a:xfrm xmlns:a="http://schemas.openxmlformats.org/drawingml/2006/main">
            <a:off x="1028700" y="2047875"/>
            <a:ext cx="1619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0">
                <a:solidFill>
                  <a:srgbClr val="0A2740"/>
                </a:solidFill>
                <a:latin typeface="Anton"/>
                <a:ea typeface="Anton"/>
                <a:cs typeface="Anton"/>
              </a:defRPr>
            </a:pPr>
            <a:r>
              <a:rPr sz="5400" b="0">
                <a:solidFill>
                  <a:srgbClr val="0A2740"/>
                </a:solidFill>
                <a:latin typeface="Anton"/>
                <a:ea typeface="Anton"/>
                <a:cs typeface="Anton"/>
              </a:rPr>
              <a:t>PROGRESS &amp; EXPECTED CONTRIBUTIONS</a:t>
            </a:r>
          </a:p>
        </p:txBody>
      </p:sp>
      <p:sp>
        <p:nvSpPr>
          <p:cNvPr id="39" name="ĐÃ TRIỂN KHAI">
            <a:extLst xmlns:a="http://schemas.openxmlformats.org/drawingml/2006/main">
              <a:ext uri="{FF2B5EF4-FFF2-40B4-BE49-F238E27FC236}">
                <a16:creationId xmlns:a16="http://schemas.microsoft.com/office/drawing/2014/main" id="{52E69B13-B285-40B8-98D1-0F9DC0F8F922}"/>
              </a:ext>
            </a:extLst>
          </p:cNvPr>
          <p:cNvSpPr>
            <a:spLocks xmlns:a="http://schemas.openxmlformats.org/drawingml/2006/main" noGrp="1"/>
          </p:cNvSpPr>
          <p:nvPr/>
        </p:nvSpPr>
        <p:spPr>
          <a:xfrm xmlns:a="http://schemas.openxmlformats.org/drawingml/2006/main">
            <a:off x="1476375"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0A2740"/>
                </a:solidFill>
                <a:latin typeface="Anton"/>
                <a:ea typeface="Anton"/>
                <a:cs typeface="Anton"/>
              </a:defRPr>
            </a:pPr>
            <a:r>
              <a:rPr sz="3675" b="0">
                <a:solidFill>
                  <a:srgbClr val="0A2740"/>
                </a:solidFill>
                <a:latin typeface="Anton"/>
                <a:ea typeface="Anton"/>
                <a:cs typeface="Anton"/>
              </a:rPr>
              <a:t>IMPLEMENTED</a:t>
            </a:r>
          </a:p>
        </p:txBody>
      </p:sp>
      <p:sp>
        <p:nvSpPr>
          <p:cNvPr id="40" name="Review và split một người nói">
            <a:extLst xmlns:a="http://schemas.openxmlformats.org/drawingml/2006/main">
              <a:ext uri="{FF2B5EF4-FFF2-40B4-BE49-F238E27FC236}">
                <a16:creationId xmlns:a16="http://schemas.microsoft.com/office/drawing/2014/main" id="{78F26607-11C9-4ADC-8984-C8BEECCEFB65}"/>
              </a:ext>
            </a:extLst>
          </p:cNvPr>
          <p:cNvSpPr>
            <a:spLocks xmlns:a="http://schemas.openxmlformats.org/drawingml/2006/main" noGrp="1"/>
          </p:cNvSpPr>
          <p:nvPr/>
        </p:nvSpPr>
        <p:spPr>
          <a:xfrm xmlns:a="http://schemas.openxmlformats.org/drawingml/2006/main">
            <a:off x="1476375"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Single-speaker review and source split</a:t>
            </a:r>
          </a:p>
        </p:txBody>
      </p:sp>
      <p:sp>
        <p:nvSpPr>
          <p:cNvPr id="41" name="Wav2Lip GAN / MuseTalk chạy thử">
            <a:extLst xmlns:a="http://schemas.openxmlformats.org/drawingml/2006/main">
              <a:ext uri="{FF2B5EF4-FFF2-40B4-BE49-F238E27FC236}">
                <a16:creationId xmlns:a16="http://schemas.microsoft.com/office/drawing/2014/main" id="{8710A667-4440-4755-98D6-58F5352378BD}"/>
              </a:ext>
            </a:extLst>
          </p:cNvPr>
          <p:cNvSpPr>
            <a:spLocks xmlns:a="http://schemas.openxmlformats.org/drawingml/2006/main" noGrp="1"/>
          </p:cNvSpPr>
          <p:nvPr/>
        </p:nvSpPr>
        <p:spPr>
          <a:xfrm xmlns:a="http://schemas.openxmlformats.org/drawingml/2006/main">
            <a:off x="1476375"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Wav2Lip GAN / MuseTalk smoke tests</a:t>
            </a:r>
          </a:p>
        </p:txBody>
      </p:sp>
      <p:sp>
        <p:nvSpPr>
          <p:cNvPr id="42" name="AV-HuBERT trích feature clip thật">
            <a:extLst xmlns:a="http://schemas.openxmlformats.org/drawingml/2006/main">
              <a:ext uri="{FF2B5EF4-FFF2-40B4-BE49-F238E27FC236}">
                <a16:creationId xmlns:a16="http://schemas.microsoft.com/office/drawing/2014/main" id="{97F1F2F9-886C-467D-A092-4038F2F3300A}"/>
              </a:ext>
            </a:extLst>
          </p:cNvPr>
          <p:cNvSpPr>
            <a:spLocks xmlns:a="http://schemas.openxmlformats.org/drawingml/2006/main" noGrp="1"/>
          </p:cNvSpPr>
          <p:nvPr/>
        </p:nvSpPr>
        <p:spPr>
          <a:xfrm xmlns:a="http://schemas.openxmlformats.org/drawingml/2006/main">
            <a:off x="1476375"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AV-HuBERT extraction on a real clip</a:t>
            </a:r>
          </a:p>
        </p:txBody>
      </p:sp>
      <p:sp>
        <p:nvSpPr>
          <p:cNvPr id="43" name="Code detector và training tối thiểu">
            <a:extLst xmlns:a="http://schemas.openxmlformats.org/drawingml/2006/main">
              <a:ext uri="{FF2B5EF4-FFF2-40B4-BE49-F238E27FC236}">
                <a16:creationId xmlns:a16="http://schemas.microsoft.com/office/drawing/2014/main" id="{CA27CCF6-2A54-47C7-8462-5A25686AE01F}"/>
              </a:ext>
            </a:extLst>
          </p:cNvPr>
          <p:cNvSpPr>
            <a:spLocks xmlns:a="http://schemas.openxmlformats.org/drawingml/2006/main" noGrp="1"/>
          </p:cNvSpPr>
          <p:nvPr/>
        </p:nvSpPr>
        <p:spPr>
          <a:xfrm xmlns:a="http://schemas.openxmlformats.org/drawingml/2006/main">
            <a:off x="1476375"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Minimal detector and training code</a:t>
            </a:r>
          </a:p>
        </p:txBody>
      </p:sp>
      <p:sp>
        <p:nvSpPr>
          <p:cNvPr id="44" name="BƯỚC KIỂM CHỨNG TIẾP THEO">
            <a:extLst xmlns:a="http://schemas.openxmlformats.org/drawingml/2006/main">
              <a:ext uri="{FF2B5EF4-FFF2-40B4-BE49-F238E27FC236}">
                <a16:creationId xmlns:a16="http://schemas.microsoft.com/office/drawing/2014/main" id="{0597BD81-9DB6-4CD4-AD70-CF8234B89FA6}"/>
              </a:ext>
            </a:extLst>
          </p:cNvPr>
          <p:cNvSpPr>
            <a:spLocks xmlns:a="http://schemas.openxmlformats.org/drawingml/2006/main" noGrp="1"/>
          </p:cNvSpPr>
          <p:nvPr/>
        </p:nvSpPr>
        <p:spPr>
          <a:xfrm xmlns:a="http://schemas.openxmlformats.org/drawingml/2006/main">
            <a:off x="9906000" y="4000500"/>
            <a:ext cx="657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0A2740"/>
                </a:solidFill>
                <a:latin typeface="Anton"/>
                <a:ea typeface="Anton"/>
                <a:cs typeface="Anton"/>
              </a:defRPr>
            </a:pPr>
            <a:r>
              <a:rPr sz="3675" b="0">
                <a:solidFill>
                  <a:srgbClr val="0A2740"/>
                </a:solidFill>
                <a:latin typeface="Anton"/>
                <a:ea typeface="Anton"/>
                <a:cs typeface="Anton"/>
              </a:rPr>
              <a:t>NEXT EXPERIMENTS</a:t>
            </a:r>
          </a:p>
        </p:txBody>
      </p:sp>
      <p:sp>
        <p:nvSpPr>
          <p:cNvPr id="45" name="Review fake và khóa data protocol">
            <a:extLst xmlns:a="http://schemas.openxmlformats.org/drawingml/2006/main">
              <a:ext uri="{FF2B5EF4-FFF2-40B4-BE49-F238E27FC236}">
                <a16:creationId xmlns:a16="http://schemas.microsoft.com/office/drawing/2014/main" id="{CAA71837-F91B-413A-B843-CB4D66EC1EF3}"/>
              </a:ext>
            </a:extLst>
          </p:cNvPr>
          <p:cNvSpPr>
            <a:spLocks xmlns:a="http://schemas.openxmlformats.org/drawingml/2006/main" noGrp="1"/>
          </p:cNvSpPr>
          <p:nvPr/>
        </p:nvSpPr>
        <p:spPr>
          <a:xfrm xmlns:a="http://schemas.openxmlformats.org/drawingml/2006/main">
            <a:off x="9906000" y="504825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Review fakes and lock the data protocol</a:t>
            </a:r>
          </a:p>
        </p:txBody>
      </p:sp>
      <p:sp>
        <p:nvSpPr>
          <p:cNvPr id="46" name="Train baseline và các ablation">
            <a:extLst xmlns:a="http://schemas.openxmlformats.org/drawingml/2006/main">
              <a:ext uri="{FF2B5EF4-FFF2-40B4-BE49-F238E27FC236}">
                <a16:creationId xmlns:a16="http://schemas.microsoft.com/office/drawing/2014/main" id="{8A0C7CD9-529B-4565-9B2D-7B697DB2D6C5}"/>
              </a:ext>
            </a:extLst>
          </p:cNvPr>
          <p:cNvSpPr>
            <a:spLocks xmlns:a="http://schemas.openxmlformats.org/drawingml/2006/main" noGrp="1"/>
          </p:cNvSpPr>
          <p:nvPr/>
        </p:nvSpPr>
        <p:spPr>
          <a:xfrm xmlns:a="http://schemas.openxmlformats.org/drawingml/2006/main">
            <a:off x="9906000" y="58388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Train the baseline and ablations</a:t>
            </a:r>
          </a:p>
        </p:txBody>
      </p:sp>
      <p:sp>
        <p:nvSpPr>
          <p:cNvPr id="47" name="So X–Y theo generator / mức nén">
            <a:extLst xmlns:a="http://schemas.openxmlformats.org/drawingml/2006/main">
              <a:ext uri="{FF2B5EF4-FFF2-40B4-BE49-F238E27FC236}">
                <a16:creationId xmlns:a16="http://schemas.microsoft.com/office/drawing/2014/main" id="{4C679CDB-8813-48FC-BFD5-B68716548C1F}"/>
              </a:ext>
            </a:extLst>
          </p:cNvPr>
          <p:cNvSpPr>
            <a:spLocks xmlns:a="http://schemas.openxmlformats.org/drawingml/2006/main" noGrp="1"/>
          </p:cNvSpPr>
          <p:nvPr/>
        </p:nvSpPr>
        <p:spPr>
          <a:xfrm xmlns:a="http://schemas.openxmlformats.org/drawingml/2006/main">
            <a:off x="9906000" y="6629400"/>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Compare X–Y by generator / compression</a:t>
            </a:r>
          </a:p>
        </p:txBody>
      </p:sp>
      <p:sp>
        <p:nvSpPr>
          <p:cNvPr id="48" name="Bổ sung người nói, phân tích lỗi">
            <a:extLst xmlns:a="http://schemas.openxmlformats.org/drawingml/2006/main">
              <a:ext uri="{FF2B5EF4-FFF2-40B4-BE49-F238E27FC236}">
                <a16:creationId xmlns:a16="http://schemas.microsoft.com/office/drawing/2014/main" id="{90EFE120-2F92-42F0-B4E5-F5C3C2E8F529}"/>
              </a:ext>
            </a:extLst>
          </p:cNvPr>
          <p:cNvSpPr>
            <a:spLocks xmlns:a="http://schemas.openxmlformats.org/drawingml/2006/main" noGrp="1"/>
          </p:cNvSpPr>
          <p:nvPr/>
        </p:nvSpPr>
        <p:spPr>
          <a:xfrm xmlns:a="http://schemas.openxmlformats.org/drawingml/2006/main">
            <a:off x="9906000" y="741997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55966"/>
                </a:solidFill>
                <a:latin typeface="Aptos"/>
                <a:ea typeface="Aptos"/>
                <a:cs typeface="Aptos"/>
              </a:defRPr>
            </a:pPr>
            <a:r>
              <a:rPr sz="2550" b="0">
                <a:solidFill>
                  <a:srgbClr val="455966"/>
                </a:solidFill>
                <a:latin typeface="Aptos"/>
                <a:ea typeface="Aptos"/>
                <a:cs typeface="Aptos"/>
              </a:rPr>
              <a:t>Add speakers and analyze errors</a:t>
            </a:r>
          </a:p>
        </p:txBody>
      </p:sp>
      <p:sp>
        <p:nvSpPr>
          <p:cNvPr id="49" name="Bàn giao: dữ liệu có provenance, pi">
            <a:extLst xmlns:a="http://schemas.openxmlformats.org/drawingml/2006/main">
              <a:ext uri="{FF2B5EF4-FFF2-40B4-BE49-F238E27FC236}">
                <a16:creationId xmlns:a16="http://schemas.microsoft.com/office/drawing/2014/main" id="{D4943649-2BFE-4AFD-BD51-5D05F160AFE4}"/>
              </a:ext>
            </a:extLst>
          </p:cNvPr>
          <p:cNvSpPr>
            <a:spLocks xmlns:a="http://schemas.openxmlformats.org/drawingml/2006/main" noGrp="1"/>
          </p:cNvSpPr>
          <p:nvPr/>
        </p:nvSpPr>
        <p:spPr>
          <a:xfrm xmlns:a="http://schemas.openxmlformats.org/drawingml/2006/main">
            <a:off x="1047750" y="9286875"/>
            <a:ext cx="160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86B8A"/>
                </a:solidFill>
                <a:latin typeface="Aptos"/>
                <a:ea typeface="Aptos"/>
                <a:cs typeface="Aptos"/>
              </a:defRPr>
            </a:pPr>
            <a:r>
              <a:rPr sz="2025" b="0">
                <a:solidFill>
                  <a:srgbClr val="286B8A"/>
                </a:solidFill>
                <a:latin typeface="Aptos"/>
                <a:ea typeface="Aptos"/>
                <a:cs typeface="Aptos"/>
              </a:rPr>
              <a:t>Deliverables: traceable data, reproducible pipeline, evaluation report and a scoped demo.</a:t>
            </a:r>
          </a:p>
        </p:txBody>
      </p:sp>
    </p:spTree>
    <p:extLst>
      <p:ext uri="{BB962C8B-B14F-4D97-AF65-F5344CB8AC3E}">
        <p14:creationId xmlns:p14="http://schemas.microsoft.com/office/powerpoint/2010/main" val="24918661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2026-09-20T18:42:30.4040000Z</dcterms:created>
  <dcterms:modified xsi:type="dcterms:W3CDTF">2026-09-20T18:42:30.4040000Z</dcterms:modified>
</coreProperties>
</file>