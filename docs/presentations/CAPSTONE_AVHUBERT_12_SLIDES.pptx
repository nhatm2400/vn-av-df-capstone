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1b3263c2d04e34" /><Relationship Type="http://schemas.openxmlformats.org/officeDocument/2006/relationships/extended-properties" Target="/docProps/app.xml" Id="R2e4caf566258413b" /><Relationship Type="http://schemas.openxmlformats.org/officeDocument/2006/relationships/officeDocument" Target="/ppt/presentation.xml" Id="Refe5a641110b4bf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77a1a113f834ba8"/>
  </p:sldMasterIdLst>
  <p:notesMasterIdLst>
    <p:notesMasterId xmlns:r="http://schemas.openxmlformats.org/officeDocument/2006/relationships" r:id="Rb973b947ff6947ea"/>
  </p:notesMasterIdLst>
  <p:sldIdLst>
    <p:sldId xmlns:r="http://schemas.openxmlformats.org/officeDocument/2006/relationships" id="256" r:id="Rb6a78f2dd17e4c61"/>
    <p:sldId xmlns:r="http://schemas.openxmlformats.org/officeDocument/2006/relationships" id="257" r:id="R4d1eee6cc43b42dc"/>
    <p:sldId xmlns:r="http://schemas.openxmlformats.org/officeDocument/2006/relationships" id="258" r:id="R141073b9a6ed4fbc"/>
    <p:sldId xmlns:r="http://schemas.openxmlformats.org/officeDocument/2006/relationships" id="259" r:id="R547d399e52eb4dea"/>
    <p:sldId xmlns:r="http://schemas.openxmlformats.org/officeDocument/2006/relationships" id="260" r:id="R51ccdbd17f664cd6"/>
    <p:sldId xmlns:r="http://schemas.openxmlformats.org/officeDocument/2006/relationships" id="261" r:id="R09e2cdbb9818477e"/>
    <p:sldId xmlns:r="http://schemas.openxmlformats.org/officeDocument/2006/relationships" id="262" r:id="Re0beaa9e1a4245ff"/>
    <p:sldId xmlns:r="http://schemas.openxmlformats.org/officeDocument/2006/relationships" id="263" r:id="R4b3967c68c174f7a"/>
    <p:sldId xmlns:r="http://schemas.openxmlformats.org/officeDocument/2006/relationships" id="264" r:id="Rbddf05146a96463c"/>
    <p:sldId xmlns:r="http://schemas.openxmlformats.org/officeDocument/2006/relationships" id="265" r:id="R279641c575eb4b6c"/>
    <p:sldId xmlns:r="http://schemas.openxmlformats.org/officeDocument/2006/relationships" id="266" r:id="R7f434fb50d814d6c"/>
    <p:sldId xmlns:r="http://schemas.openxmlformats.org/officeDocument/2006/relationships" id="267" r:id="R9f8fffd898514351"/>
  </p:sldIdLst>
  <p:sldSz cx="18288000" cy="10287000"/>
  <p:notesSz cx="6858000" cy="9144000"/>
  <p:embeddedFontLst>
    <p:embeddedFont>
      <p:font typeface="Aptos Bold"/>
      <p:regular xmlns:r="http://schemas.openxmlformats.org/officeDocument/2006/relationships" r:id="R83bd74e9e2b644ff"/>
    </p:embeddedFont>
    <p:embeddedFont>
      <p:font typeface="Anton"/>
      <p:regular xmlns:r="http://schemas.openxmlformats.org/officeDocument/2006/relationships" r:id="Reec31b58baf54bd6"/>
    </p:embeddedFont>
    <p:embeddedFont>
      <p:font typeface="Aptos"/>
      <p:regular xmlns:r="http://schemas.openxmlformats.org/officeDocument/2006/relationships" r:id="R8b3b3e8f7bcc4b36"/>
    </p:embeddedFont>
    <p:embeddedFont>
      <p:font typeface="Calibri (MS) Bold"/>
      <p:regular xmlns:r="http://schemas.openxmlformats.org/officeDocument/2006/relationships" r:id="R8e255721cac2484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6e196488d24a88" /><Relationship Type="http://schemas.openxmlformats.org/officeDocument/2006/relationships/slideMaster" Target="/ppt/slideMasters/slideMaster1.xml" Id="Ra77a1a113f834ba8" /><Relationship Type="http://schemas.openxmlformats.org/officeDocument/2006/relationships/notesMaster" Target="/ppt/notesMasters/notesMaster1.xml" Id="Rb973b947ff6947ea" /><Relationship Type="http://schemas.openxmlformats.org/officeDocument/2006/relationships/presProps" Target="/ppt/presProps.xml" Id="R43446357d56d4a9e" /><Relationship Type="http://schemas.openxmlformats.org/officeDocument/2006/relationships/viewProps" Target="/ppt/viewProps.xml" Id="Rd260e157fb2a42de" /><Relationship Type="http://schemas.openxmlformats.org/officeDocument/2006/relationships/tableStyles" Target="/ppt/tableStyles.xml" Id="R201eb7782b3249ec" /><Relationship Type="http://schemas.openxmlformats.org/officeDocument/2006/relationships/font" Target="/ppt/fonts/font.dat" Id="R83bd74e9e2b644ff" /><Relationship Type="http://schemas.openxmlformats.org/officeDocument/2006/relationships/font" Target="/ppt/fonts/font2.dat" Id="Reec31b58baf54bd6" /><Relationship Type="http://schemas.openxmlformats.org/officeDocument/2006/relationships/font" Target="/ppt/fonts/font3.dat" Id="R8b3b3e8f7bcc4b36" /><Relationship Type="http://schemas.openxmlformats.org/officeDocument/2006/relationships/font" Target="/ppt/fonts/font4.dat" Id="R8e255721cac2484a" /><Relationship Type="http://schemas.openxmlformats.org/officeDocument/2006/relationships/slide" Target="/ppt/slides/slide1.xml" Id="Rb6a78f2dd17e4c61" /><Relationship Type="http://schemas.openxmlformats.org/officeDocument/2006/relationships/slide" Target="/ppt/slides/slide2.xml" Id="R4d1eee6cc43b42dc" /><Relationship Type="http://schemas.openxmlformats.org/officeDocument/2006/relationships/slide" Target="/ppt/slides/slide3.xml" Id="R141073b9a6ed4fbc" /><Relationship Type="http://schemas.openxmlformats.org/officeDocument/2006/relationships/slide" Target="/ppt/slides/slide4.xml" Id="R547d399e52eb4dea" /><Relationship Type="http://schemas.openxmlformats.org/officeDocument/2006/relationships/slide" Target="/ppt/slides/slide5.xml" Id="R51ccdbd17f664cd6" /><Relationship Type="http://schemas.openxmlformats.org/officeDocument/2006/relationships/slide" Target="/ppt/slides/slide6.xml" Id="R09e2cdbb9818477e" /><Relationship Type="http://schemas.openxmlformats.org/officeDocument/2006/relationships/slide" Target="/ppt/slides/slide7.xml" Id="Re0beaa9e1a4245ff" /><Relationship Type="http://schemas.openxmlformats.org/officeDocument/2006/relationships/slide" Target="/ppt/slides/slide8.xml" Id="R4b3967c68c174f7a" /><Relationship Type="http://schemas.openxmlformats.org/officeDocument/2006/relationships/slide" Target="/ppt/slides/slide9.xml" Id="Rbddf05146a96463c" /><Relationship Type="http://schemas.openxmlformats.org/officeDocument/2006/relationships/slide" Target="/ppt/slides/slide10.xml" Id="R279641c575eb4b6c" /><Relationship Type="http://schemas.openxmlformats.org/officeDocument/2006/relationships/slide" Target="/ppt/slides/slide11.xml" Id="R7f434fb50d814d6c" /><Relationship Type="http://schemas.openxmlformats.org/officeDocument/2006/relationships/slide" Target="/ppt/slides/slide12.xml" Id="R9f8fffd8985143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63116689a046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220a5956f4b77" /><Relationship Type="http://schemas.openxmlformats.org/officeDocument/2006/relationships/notesMaster" Target="/ppt/notesMasters/notesMaster1.xml" Id="Rd2105cafde6445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53a5d486ad4f1c" /><Relationship Type="http://schemas.openxmlformats.org/officeDocument/2006/relationships/notesMaster" Target="/ppt/notesMasters/notesMaster1.xml" Id="R6ff6f36699a84c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adceb918d74f95" /><Relationship Type="http://schemas.openxmlformats.org/officeDocument/2006/relationships/notesMaster" Target="/ppt/notesMasters/notesMaster1.xml" Id="R78aab4f0526841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1e3d53d9d04b71" /><Relationship Type="http://schemas.openxmlformats.org/officeDocument/2006/relationships/notesMaster" Target="/ppt/notesMasters/notesMaster1.xml" Id="Rd797e94c57f84e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78b65e9cae4dba" /><Relationship Type="http://schemas.openxmlformats.org/officeDocument/2006/relationships/notesMaster" Target="/ppt/notesMasters/notesMaster1.xml" Id="R8724305e75d14e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01111d48f74eb6" /><Relationship Type="http://schemas.openxmlformats.org/officeDocument/2006/relationships/notesMaster" Target="/ppt/notesMasters/notesMaster1.xml" Id="Rca08a2388e034f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71030d80ee4d42" /><Relationship Type="http://schemas.openxmlformats.org/officeDocument/2006/relationships/notesMaster" Target="/ppt/notesMasters/notesMaster1.xml" Id="Racf3475f102b4c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f08fd3dcf4458d" /><Relationship Type="http://schemas.openxmlformats.org/officeDocument/2006/relationships/notesMaster" Target="/ppt/notesMasters/notesMaster1.xml" Id="R5e5f814c35cf4e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31be8457ef41ed" /><Relationship Type="http://schemas.openxmlformats.org/officeDocument/2006/relationships/notesMaster" Target="/ppt/notesMasters/notesMaster1.xml" Id="R6ffd7edb6f4742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fe5f4069a84c64" /><Relationship Type="http://schemas.openxmlformats.org/officeDocument/2006/relationships/notesMaster" Target="/ppt/notesMasters/notesMaster1.xml" Id="R315a69edfb1047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450708e3e34295" /><Relationship Type="http://schemas.openxmlformats.org/officeDocument/2006/relationships/notesMaster" Target="/ppt/notesMasters/notesMaster1.xml" Id="Rb26c0063cb5448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1081dceb9f4d41" /><Relationship Type="http://schemas.openxmlformats.org/officeDocument/2006/relationships/notesMaster" Target="/ppt/notesMasters/notesMaster1.xml" Id="R9bc2483e6c6849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slide riêng cho hướng nghiên cứu lip-sync audio–visual. Dùng thiết kế của CAPSTONE CHECKPOINT.pptx. Hình bìa là hình minh họa kế thừa từ template, không phải output thực nghiệm.</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Câu hỏi: Trong video một người nói tiếng Việt, phương pháp X có cải thiện phát hiện lip-sync manipulation so với baseline Y trên protocol Z, với kết quả riêng cho generator không dùng trong training và video bị nén? Lip-sync manipulation là tạo/chỉnh sửa chuyển động miệng theo audio. Không giả định mọi fake đều lệch môi–tiếng. Real chỉ có nghĩa không qua manipulation trong quy trình của nhóm. Score chưa được hiệu chỉnh thành xác suất xác thực.</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chính là detection trên đoạn được chỉnh sửa toàn bộ. Không có claim về định vị interval, ước lượng lag hay hệ thống FATE như nội dung trong template nguồn. Một generator mới bất kỳ và mọi nội dung AI nằm ngoài cam kết.</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lượng phản ánh trạng thái repo ngày 19/09, được đọc lại ngày 21/09. Batch quality_10x2s_002 có 10 real, 10 Wav2Lip GAN, 10 MuseTalk, 10 comparison. Clip thử 2 giây là smoke test, chưa khóa độ dài cửa sổ nghiên cứu. Nguồn và quyền sử dụng cần ghi nhận trước khi công bố.</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Chia train/val/test trước khi sinh fake. Donor audio thuộc cùng split với video đích. Khi đánh giá người chưa thấy, nhóm người và nguồn có liên hệ phải giữ cùng split, tránh host chung xuất hiện ở train/test. Metadata cần clip_id, speaker_id, source_id, donor_source_id, label, split, generator, compression và mốc thời gian.</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https://arxiv.org/abs/2201.02184 ; https://facebookresearch.github.io/av_hubert/ ; https://github.com/facebookresearch/av_hubert . AV-HuBERT là mô hình học biểu diễn tiếng nói bằng masked multimodal prediction. Checkpoint LRS3 + VoxCeleb2 English. Repo chỉ sử dụng visual ResEncoder + projection và audio projection. Base sub_encoder_layers=0 nên audio branch không phải một Transformer audio độc lập. Hiệu quả trên tiếng Việt là câu hỏi thực nghiệm. Số 11.661.312 là phần nạp hiện hành, không phải tổng tham số full AV-HuBERT.</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theo src/models/README.md và src/features/README.md. Linear chiếu feature, ghép theo từng thời điểm, GRU học biến đổi theo thời gian, classifier tạo logit rồi sigmoid cho fake score. Padding không góp vào tổng hợp. Chỉ đóng băng hai nhánh pre-fusion, không dùng full Transformer. Audio log-filterbank 26 chiều, ghép 4 frame thành 104 chiều ở 25 Hz. Visual crop 96x96, center-crop thường 88x88. Có code và smoke test, chưa có kết quả training nghiên cứu.</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Biến nghiên cứu chính là consistency weight: Y=0, X&gt;0. Cùng dữ liệu, lịch train, checkpoint selection và ngân sách so sánh. Y cần thấy cùng compression views để không nhầm lợi ích do augmentation với lợi ích consistency. X là giả thuyết chưa chứng minh. Thuật ngữ nén ở đây là re-encoding theo policy, không phải loại bỏ tín hiệu một cách khác nhau cho real/fake.</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generator đã được quan sát trong quá trình phát triển. Chỉ gọi là generator không dùng để train detector, không claim hoàn toàn chưa quan sát trong development. Một kiểm tra nghiêm ngặt hơn cần giữ generator khác tách khỏi lựa chọn phương pháp. Báo riêng từng generator và mức nén. Tất cả phiên bản chung clip giữ cùng split. Chưa có speaker-disjoint với bộ dữ liệu hiện hành.</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 độc lập một ngưỡng quyết định cụ thể. Precision TP/(TP+FP), Recall TP/(TP+FN), FPR FP/(FP+TN). EER mô tả giao điểm FPR và FNR, không dùng threshold chọn từ test để triển khai. Ngưỡng cho confusion matrix, F1, FPR lấy từ validation và khóa. Không dùng accuracy đơn lẻ khi mất cân bằng nhãn. Nếu đủ dữ liệu, bootstrap theo video nguồn, không coi các bản nén cùng clip là mẫu độc lập. Báo độ biến động qua các seed. Các metric này là kế hoạch, chưa có số đo detector.</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khẳng định model học tương quan audio–visual chỉ vì input có cả hai luồng. Visual-only mạnh có thể do artifact miệng mờ, audio-only mạnh bất thường có thể do encode/silence khác nhãn. Ablation cần cùng dữ liệu, split và lựa chọn model công bằng. 10 clip hiện tại đủ debug pipeline, chưa đủ kết luận nghiên cứu.</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Chưa có benchmark detector trên dữ liệu nghiên cứu, chưa có bằng chứng X tốt hơn Y hoặc khả năng chuyển sang người mới. Đóng góp kỳ vọng là protocol tiếng Việt, thí nghiệm kiểm soát lợi ích consistency và phân tích giới hạn, không claim thuật toán hoàn toàn mới.</a:t>
            </a:r>
          </a:p>
          <a:p xmlns:a="http://schemas.openxmlformats.org/drawingml/2006/main">
            <a:r>
              <a:t/>
            </a:r>
          </a:p>
          <a:p xmlns:a="http://schemas.openxmlformats.org/drawingml/2006/main">
            <a:r>
              <a:t>Nguồn nội bộ: PROJECT.md (19/09/2026), src/features/README.md, src/models/README.md, docs/research/HUONG_NGHIEN_CUU_LIP_SYNC_VI.md. Trạng thái kiểm tra ngày 21/09/2026.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c312f1ddc449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2af02b4c444f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43709802ed48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86e7ec54134f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f48dc35eac47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ea8b80291a452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f4dfeeca6d34a7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47aad528e944ae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aff7ae2fcd043c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67ce6932242414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ecdcffe4d1143d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D475CE-6DE3-45DF-A9C6-6A861D90316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823CFA3-E129-45BD-B450-D96CB8937210}"/>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BFE2F1F-1EB7-48CB-B235-8EEA50D7F7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F2368FB-8693-45D1-ACED-2EF7762FA6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D001C8-9C7D-417A-B246-BD211EABB5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157171-EC9E-4DC2-8A56-2D856FC532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6CDA145-FD2F-4026-A9F8-AA7B30C3114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28AC1EC-D611-44BC-B33A-317F0710BD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0591A49-BA4E-41EC-991E-A79D7F7897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64AD489-616E-42FD-A933-288952FC33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8598B2-DE95-4165-AB1E-373F4AFBC88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F461B8F-45CE-43AD-BD17-2BBE32A516E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DDCB46D-36C8-417C-872D-220429E066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4DAD589-E165-4892-BDD8-D4D6BEABC7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C7A9E6-8481-4015-9661-6B77ABB086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1B178B-1502-4AD1-820E-70B0ADA842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04049D8-3FF6-45A6-9120-DE3F2D31EAA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52084647-6080-4237-A682-005B3582F78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B9CAB68-5342-40DA-84A5-D964DF86AC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86EB2143-7085-413D-8DA3-3BFA9F7A3E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4169C21-79BE-47FB-9B5D-0083FA0B9F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2B75AA-3F40-4AAA-A5A0-F9991B034D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203F886-F1E3-4E8C-AC30-5E382EF4458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6B98EE2-162A-48B8-9B8A-2C147C8F2C5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D8107F7-B03B-4054-9FAC-76D0A1038F5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186B067-1526-455E-936E-A404DE85466F}"/>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B795041-EE59-4156-B4B0-2F37E0AE91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6D1F4F02-9F0E-4FAF-9D26-7737E18D0D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9B7F192-AAE6-4A8E-9E94-574B31B3D9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E0B069-2563-4198-B030-AED369ECD8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FA8913EC-85C1-4E31-B9D7-04E8953C3B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9B74E473-E4B8-49BC-9819-B4B6E52CA8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B8800E6-688A-4D8E-949B-EE5518703A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31DA619-CBFC-42CF-A546-2F9B623D22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94B6BEB6-C591-4C82-8635-6E7546F01A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0EBD360-E36D-4EE2-A2E9-22A9822423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79D68C-C88B-45B8-91C5-95D94B8675A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8782A7-AAF8-4F9C-B616-814D38DAA4F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CFAB1D73-0A74-4D08-B463-3D2244EF0F9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85F1725-3D9B-42F0-A6A8-AE4FA9E347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CD7178C-96A4-4387-AB42-E44CBA85C3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CC1E2BB-36F8-49A6-89F0-B3BA878666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790AEA-581A-4F96-B0D4-0CFB831375A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2F81242-A98A-47B9-A3B1-685792370F9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FAE4ED6-12F0-4875-9F8F-A9D0D344416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2FC7B73-E20D-49AC-8C30-69B6A82B2E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42C47334-894F-4E1B-AAED-72CD67A49A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4BE87F8-6C01-4D93-B25A-D86B3332C6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3A1B78-2BC4-4016-815E-938FB9194A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CE35063-44D9-4CC8-A3E4-D5625260B29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FC95596-2D07-4262-AB39-9D29CEEDEA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E139DF82-8C22-4913-B349-2001808EBE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D11E08C-42F9-4D01-8DCB-4BA3E5E728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8570292-0F45-4D4E-A37F-90963AF334E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172E300-C40F-4F25-AA8F-4280EBB69E1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185238E-DCCD-4EAE-BB6B-7ECEAC9D11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3CCE244-1707-4A44-A756-4FF35A42C0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E49C06-AD57-41AA-9ED2-46DB043C1F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45527e200747cc" /><Relationship Type="http://schemas.openxmlformats.org/officeDocument/2006/relationships/slideLayout" Target="/ppt/slideLayouts/slideLayout1.xml" Id="R51abb0e50f4449ef" /><Relationship Type="http://schemas.openxmlformats.org/officeDocument/2006/relationships/slideLayout" Target="/ppt/slideLayouts/slideLayout2.xml" Id="R7b19fcf6d52d4e6f" /><Relationship Type="http://schemas.openxmlformats.org/officeDocument/2006/relationships/slideLayout" Target="/ppt/slideLayouts/slideLayout3.xml" Id="R40f589e1ee594c1e" /><Relationship Type="http://schemas.openxmlformats.org/officeDocument/2006/relationships/slideLayout" Target="/ppt/slideLayouts/slideLayout4.xml" Id="R4af4076746be476a" /><Relationship Type="http://schemas.openxmlformats.org/officeDocument/2006/relationships/slideLayout" Target="/ppt/slideLayouts/slideLayout5.xml" Id="Rd2e24c1e1bd24672" /><Relationship Type="http://schemas.openxmlformats.org/officeDocument/2006/relationships/slideLayout" Target="/ppt/slideLayouts/slideLayout6.xml" Id="Rcff8c45f58204192" /><Relationship Type="http://schemas.openxmlformats.org/officeDocument/2006/relationships/slideLayout" Target="/ppt/slideLayouts/slideLayout7.xml" Id="R6ca2ceb9edf84402" /><Relationship Type="http://schemas.openxmlformats.org/officeDocument/2006/relationships/slideLayout" Target="/ppt/slideLayouts/slideLayout8.xml" Id="Reecee5a56c8e4385" /><Relationship Type="http://schemas.openxmlformats.org/officeDocument/2006/relationships/slideLayout" Target="/ppt/slideLayouts/slideLayout9.xml" Id="Rfa7cbef7fa8c4f1e" /><Relationship Type="http://schemas.openxmlformats.org/officeDocument/2006/relationships/slideLayout" Target="/ppt/slideLayouts/slideLayout10.xml" Id="R9fe5742836994d60" /><Relationship Type="http://schemas.openxmlformats.org/officeDocument/2006/relationships/slideLayout" Target="/ppt/slideLayouts/slideLayout11.xml" Id="Rf9f751f3befa4b3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E962B73-C517-45C7-96C6-BD8902FA4D1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06A956E-4F0D-423E-9D77-C3FB818BBFE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4158F9B-9C25-4F01-9F5C-1AF8175FA04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6A44BE9-3BA7-48EE-9E18-AF35112D9EF5}"/>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A1B1DF-846B-4541-9144-EAEA3DD720C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abb0e50f4449ef"/>
    <p:sldLayoutId xmlns:r="http://schemas.openxmlformats.org/officeDocument/2006/relationships" id="2147483650" r:id="R7b19fcf6d52d4e6f"/>
    <p:sldLayoutId xmlns:r="http://schemas.openxmlformats.org/officeDocument/2006/relationships" id="2147483651" r:id="R40f589e1ee594c1e"/>
    <p:sldLayoutId xmlns:r="http://schemas.openxmlformats.org/officeDocument/2006/relationships" id="2147483652" r:id="R4af4076746be476a"/>
    <p:sldLayoutId xmlns:r="http://schemas.openxmlformats.org/officeDocument/2006/relationships" id="2147483653" r:id="Rd2e24c1e1bd24672"/>
    <p:sldLayoutId xmlns:r="http://schemas.openxmlformats.org/officeDocument/2006/relationships" id="2147483654" r:id="Rcff8c45f58204192"/>
    <p:sldLayoutId xmlns:r="http://schemas.openxmlformats.org/officeDocument/2006/relationships" id="2147483655" r:id="R6ca2ceb9edf84402"/>
    <p:sldLayoutId xmlns:r="http://schemas.openxmlformats.org/officeDocument/2006/relationships" id="2147483656" r:id="Reecee5a56c8e4385"/>
    <p:sldLayoutId xmlns:r="http://schemas.openxmlformats.org/officeDocument/2006/relationships" id="2147483657" r:id="Rfa7cbef7fa8c4f1e"/>
    <p:sldLayoutId xmlns:r="http://schemas.openxmlformats.org/officeDocument/2006/relationships" id="2147483658" r:id="R9fe5742836994d60"/>
    <p:sldLayoutId xmlns:r="http://schemas.openxmlformats.org/officeDocument/2006/relationships" id="2147483659" r:id="Rf9f751f3befa4b3e"/>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0e1fdaf7078450a" /><Relationship Type="http://schemas.openxmlformats.org/officeDocument/2006/relationships/image" Target="/ppt/media/image.png" Id="Rf1229239b2674d6f" /><Relationship Type="http://schemas.openxmlformats.org/officeDocument/2006/relationships/image" Target="/ppt/media/image.jpeg" Id="R23ea04d168664337" /><Relationship Type="http://schemas.openxmlformats.org/officeDocument/2006/relationships/notesSlide" Target="/ppt/notesSlides/notesSlide1.xml" Id="Rbea321613297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5175fdb3d4b4d6a" /><Relationship Type="http://schemas.openxmlformats.org/officeDocument/2006/relationships/image" Target="/ppt/media/image.jpeg" Id="Rb822979be2c64cae" /><Relationship Type="http://schemas.openxmlformats.org/officeDocument/2006/relationships/notesSlide" Target="/ppt/notesSlides/notesSlide2.xml" Id="R48bb5728026444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3c2c58cf675422c" /><Relationship Type="http://schemas.openxmlformats.org/officeDocument/2006/relationships/image" Target="/ppt/media/image.jpeg" Id="R384a81f7ef954c98" /><Relationship Type="http://schemas.openxmlformats.org/officeDocument/2006/relationships/notesSlide" Target="/ppt/notesSlides/notesSlide3.xml" Id="R14664f1264734c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391cb75db904713" /><Relationship Type="http://schemas.openxmlformats.org/officeDocument/2006/relationships/image" Target="/ppt/media/image.jpeg" Id="Rb5dce69b24684091" /><Relationship Type="http://schemas.openxmlformats.org/officeDocument/2006/relationships/notesSlide" Target="/ppt/notesSlides/notesSlide4.xml" Id="R7c842d43625341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f4b7996bea14e86" /><Relationship Type="http://schemas.openxmlformats.org/officeDocument/2006/relationships/image" Target="/ppt/media/image.jpeg" Id="Rc9ae512de4214448" /><Relationship Type="http://schemas.openxmlformats.org/officeDocument/2006/relationships/notesSlide" Target="/ppt/notesSlides/notesSlide5.xml" Id="Ra8ced73c0fa04d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85ba6fd02274088" /><Relationship Type="http://schemas.openxmlformats.org/officeDocument/2006/relationships/image" Target="/ppt/media/image.jpeg" Id="R23efdd1f238648eb" /><Relationship Type="http://schemas.openxmlformats.org/officeDocument/2006/relationships/notesSlide" Target="/ppt/notesSlides/notesSlide6.xml" Id="R9ab076df99a64b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8207fec34d04a71" /><Relationship Type="http://schemas.openxmlformats.org/officeDocument/2006/relationships/image" Target="/ppt/media/image.jpeg" Id="R23614cf910624fbd" /><Relationship Type="http://schemas.openxmlformats.org/officeDocument/2006/relationships/notesSlide" Target="/ppt/notesSlides/notesSlide7.xml" Id="R5d2c71cc64a740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6f659385eab4a6c" /><Relationship Type="http://schemas.openxmlformats.org/officeDocument/2006/relationships/image" Target="/ppt/media/image.jpeg" Id="R1f606eea8b8d4749" /><Relationship Type="http://schemas.openxmlformats.org/officeDocument/2006/relationships/notesSlide" Target="/ppt/notesSlides/notesSlide8.xml" Id="R06369c5ffb284e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85c26ab30612414b" /><Relationship Type="http://schemas.openxmlformats.org/officeDocument/2006/relationships/image" Target="/ppt/media/image.jpeg" Id="R239f6eff81544eab" /><Relationship Type="http://schemas.openxmlformats.org/officeDocument/2006/relationships/notesSlide" Target="/ppt/notesSlides/notesSlide9.xml" Id="R6b0207557c6a42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3eeea468f884ac1" /><Relationship Type="http://schemas.openxmlformats.org/officeDocument/2006/relationships/image" Target="/ppt/media/image.jpeg" Id="R80cefc11a3c546a2" /><Relationship Type="http://schemas.openxmlformats.org/officeDocument/2006/relationships/notesSlide" Target="/ppt/notesSlides/notesSlide10.xml" Id="Rd2317a520d584d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ff7df20cf2ae4e5f" /><Relationship Type="http://schemas.openxmlformats.org/officeDocument/2006/relationships/image" Target="/ppt/media/image.jpeg" Id="Rcd76237412e44bee" /><Relationship Type="http://schemas.openxmlformats.org/officeDocument/2006/relationships/notesSlide" Target="/ppt/notesSlides/notesSlide11.xml" Id="Rdd8194adaee846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3a8306c9f894802" /><Relationship Type="http://schemas.openxmlformats.org/officeDocument/2006/relationships/image" Target="/ppt/media/image.jpeg" Id="Re7619386fb9a4550" /><Relationship Type="http://schemas.openxmlformats.org/officeDocument/2006/relationships/notesSlide" Target="/ppt/notesSlides/notesSlide12.xml" Id="Rf89e176fc2964b2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33BAF19-EB01-4D82-BDAC-0E61AA6682B1}"/>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lnTo>
                  <a:pt x="0" y="0"/>
                </a:lnTo>
                <a:close/>
              </a:path>
            </a:pathLst>
          </a:custGeom>
          <a:blipFill xmlns:a="http://schemas.openxmlformats.org/drawingml/2006/main">
            <a:blip xmlns:r="http://schemas.openxmlformats.org/officeDocument/2006/relationships" r:embed="Rf1229239b2674d6f"/>
            <a:stretch>
              <a:fillRect l="0" t="-26" r="0" b="-26"/>
            </a:stretch>
          </a:blipFill>
        </p:spPr>
      </p:sp>
      <p:sp>
        <p:nvSpPr>
          <p:cNvPr id="5" name="Freeform 5">
            <a:extLst xmlns:a="http://schemas.openxmlformats.org/drawingml/2006/main">
              <a:ext uri="{FF2B5EF4-FFF2-40B4-BE49-F238E27FC236}">
                <a16:creationId xmlns:a16="http://schemas.microsoft.com/office/drawing/2014/main" id="{EACC93F6-B6B4-41EC-9A5C-F4D1466FD840}"/>
              </a:ext>
            </a:extLst>
          </p:cNvPr>
          <p:cNvSpPr>
            <a:spLocks xmlns:a="http://schemas.openxmlformats.org/drawingml/2006/main" noGrp="1"/>
          </p:cNvSpPr>
          <p:nvPr/>
        </p:nvSpPr>
        <p:spPr>
          <a:xfrm xmlns:a="http://schemas.openxmlformats.org/drawingml/2006/main" rot="0" flipH="0" flipV="0">
            <a:off x="0" y="0"/>
            <a:ext cx="11620500" cy="10287000"/>
          </a:xfrm>
          <a:custGeom xmlns:a="http://schemas.openxmlformats.org/drawingml/2006/main">
            <a:rect l="l" t="t" r="r" b="b"/>
            <a:pathLst>
              <a:path w="15494000" h="13716000">
                <a:moveTo>
                  <a:pt x="0" y="0"/>
                </a:moveTo>
                <a:lnTo>
                  <a:pt x="15494000" y="0"/>
                </a:lnTo>
                <a:lnTo>
                  <a:pt x="15494000" y="13716000"/>
                </a:lnTo>
                <a:lnTo>
                  <a:pt x="0" y="13716000"/>
                </a:lnTo>
                <a:close/>
              </a:path>
            </a:pathLst>
          </a:custGeom>
          <a:solidFill xmlns:a="http://schemas.openxmlformats.org/drawingml/2006/main">
            <a:srgbClr val="0A2740">
              <a:alpha val="77255"/>
            </a:srgbClr>
          </a:solidFill>
        </p:spPr>
      </p:sp>
      <p:sp>
        <p:nvSpPr>
          <p:cNvPr id="7" name="Freeform 7">
            <a:extLst xmlns:a="http://schemas.openxmlformats.org/drawingml/2006/main">
              <a:ext uri="{FF2B5EF4-FFF2-40B4-BE49-F238E27FC236}">
                <a16:creationId xmlns:a16="http://schemas.microsoft.com/office/drawing/2014/main" id="{0B5701C5-61AD-4BEB-912E-A843BBF15CF6}"/>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0A2740">
              <a:alpha val="26667"/>
            </a:srgbClr>
          </a:solidFill>
        </p:spPr>
      </p:sp>
      <p:sp>
        <p:nvSpPr>
          <p:cNvPr id="8" name="TextBox 8">
            <a:extLst xmlns:a="http://schemas.openxmlformats.org/drawingml/2006/main">
              <a:ext uri="{FF2B5EF4-FFF2-40B4-BE49-F238E27FC236}">
                <a16:creationId xmlns:a16="http://schemas.microsoft.com/office/drawing/2014/main" id="{372145CF-F692-479E-856D-BD0DA6DFF155}"/>
              </a:ext>
            </a:extLst>
          </p:cNvPr>
          <p:cNvSpPr>
            <a:spLocks xmlns:a="http://schemas.openxmlformats.org/drawingml/2006/main" noGrp="1"/>
          </p:cNvSpPr>
          <p:nvPr/>
        </p:nvSpPr>
        <p:spPr>
          <a:xfrm xmlns:a="http://schemas.openxmlformats.org/drawingml/2006/main" rot="0">
            <a:off x="1104900" y="876300"/>
            <a:ext cx="9144000" cy="2952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340"/>
              </a:lnSpc>
              <a:buNone/>
            </a:pPr>
            <a:r>
              <a:rPr sz="1950" b="1">
                <a:solidFill>
                  <a:srgbClr val="4DCADE"/>
                </a:solidFill>
                <a:latin typeface="Aptos Bold"/>
                <a:ea typeface="Aptos Bold"/>
                <a:cs typeface="Aptos Bold"/>
              </a:rPr>
              <a:t>DSP391M  ·  CAPSTONE CHECKPOINT 1</a:t>
            </a:r>
          </a:p>
        </p:txBody>
      </p:sp>
      <p:sp>
        <p:nvSpPr>
          <p:cNvPr id="10" name="Freeform 10">
            <a:extLst xmlns:a="http://schemas.openxmlformats.org/drawingml/2006/main">
              <a:ext uri="{FF2B5EF4-FFF2-40B4-BE49-F238E27FC236}">
                <a16:creationId xmlns:a16="http://schemas.microsoft.com/office/drawing/2014/main" id="{C888EC66-84E4-4185-8B65-A447B5A72629}"/>
              </a:ext>
            </a:extLst>
          </p:cNvPr>
          <p:cNvSpPr>
            <a:spLocks xmlns:a="http://schemas.openxmlformats.org/drawingml/2006/main" noGrp="1"/>
          </p:cNvSpPr>
          <p:nvPr/>
        </p:nvSpPr>
        <p:spPr>
          <a:xfrm xmlns:a="http://schemas.openxmlformats.org/drawingml/2006/main" rot="0" flipH="0" flipV="0">
            <a:off x="1104900" y="1600200"/>
            <a:ext cx="1371600" cy="95250"/>
          </a:xfrm>
          <a:custGeom xmlns:a="http://schemas.openxmlformats.org/drawingml/2006/main">
            <a:rect l="l" t="t" r="r" b="b"/>
            <a:pathLst>
              <a:path w="1828800" h="127000">
                <a:moveTo>
                  <a:pt x="0" y="0"/>
                </a:moveTo>
                <a:lnTo>
                  <a:pt x="1828800" y="0"/>
                </a:lnTo>
                <a:lnTo>
                  <a:pt x="1828800" y="127000"/>
                </a:lnTo>
                <a:lnTo>
                  <a:pt x="0" y="127000"/>
                </a:lnTo>
                <a:close/>
              </a:path>
            </a:pathLst>
          </a:custGeom>
          <a:solidFill xmlns:a="http://schemas.openxmlformats.org/drawingml/2006/main">
            <a:srgbClr val="4DCADE"/>
          </a:solidFill>
        </p:spPr>
      </p:sp>
      <p:sp>
        <p:nvSpPr>
          <p:cNvPr id="12" name="Freeform 12">
            <a:extLst xmlns:a="http://schemas.openxmlformats.org/drawingml/2006/main">
              <a:ext uri="{FF2B5EF4-FFF2-40B4-BE49-F238E27FC236}">
                <a16:creationId xmlns:a16="http://schemas.microsoft.com/office/drawing/2014/main" id="{DAA11137-5E5E-4E5F-8457-A35AEDF4CD48}"/>
              </a:ext>
            </a:extLst>
          </p:cNvPr>
          <p:cNvSpPr>
            <a:spLocks xmlns:a="http://schemas.openxmlformats.org/drawingml/2006/main" noGrp="1"/>
          </p:cNvSpPr>
          <p:nvPr/>
        </p:nvSpPr>
        <p:spPr>
          <a:xfrm xmlns:a="http://schemas.openxmlformats.org/drawingml/2006/main" rot="0" flipH="0" flipV="0">
            <a:off x="1066800" y="1981200"/>
            <a:ext cx="9735064" cy="4880737"/>
          </a:xfrm>
          <a:custGeom xmlns:a="http://schemas.openxmlformats.org/drawingml/2006/main">
            <a:rect l="l" t="t" r="r" b="b"/>
            <a:pathLst>
              <a:path w="12980086" h="6507649">
                <a:moveTo>
                  <a:pt x="0" y="0"/>
                </a:moveTo>
                <a:lnTo>
                  <a:pt x="12980086" y="0"/>
                </a:lnTo>
                <a:lnTo>
                  <a:pt x="12980086" y="6507649"/>
                </a:lnTo>
                <a:lnTo>
                  <a:pt x="0" y="6507649"/>
                </a:lnTo>
                <a:close/>
              </a:path>
            </a:pathLst>
          </a:custGeom>
          <a:blipFill xmlns:a="http://schemas.openxmlformats.org/drawingml/2006/main">
            <a:blip xmlns:r="http://schemas.openxmlformats.org/officeDocument/2006/relationships" r:embed="R23ea04d168664337">
              <a:alphaModFix amt="0"/>
            </a:blip>
            <a:stretch>
              <a:fillRect l="-2516" t="0" r="-16992" b="7106"/>
            </a:stretch>
          </a:blipFill>
        </p:spPr>
      </p:sp>
      <p:sp>
        <p:nvSpPr>
          <p:cNvPr id="13" name="TextBox 13">
            <a:extLst xmlns:a="http://schemas.openxmlformats.org/drawingml/2006/main">
              <a:ext uri="{FF2B5EF4-FFF2-40B4-BE49-F238E27FC236}">
                <a16:creationId xmlns:a16="http://schemas.microsoft.com/office/drawing/2014/main" id="{37E0223E-F83D-4EA6-A8E3-779585320FE3}"/>
              </a:ext>
            </a:extLst>
          </p:cNvPr>
          <p:cNvSpPr>
            <a:spLocks xmlns:a="http://schemas.openxmlformats.org/drawingml/2006/main" noGrp="1"/>
          </p:cNvSpPr>
          <p:nvPr/>
        </p:nvSpPr>
        <p:spPr>
          <a:xfrm xmlns:a="http://schemas.openxmlformats.org/drawingml/2006/main" rot="0" flipH="0" flipV="0">
            <a:off x="1066800" y="2476500"/>
            <a:ext cx="11049000" cy="4143375"/>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lnSpc>
                <a:spcPts val="8399"/>
              </a:lnSpc>
              <a:buNone/>
              <a:defRPr sz="7950">
                <a:solidFill>
                  <a:srgbClr val="FFFFFF"/>
                </a:solidFill>
                <a:latin typeface="Anton"/>
                <a:ea typeface="Anton"/>
                <a:cs typeface="Anton"/>
              </a:defRPr>
            </a:pPr>
            <a:r>
              <a:rPr sz="7950">
                <a:solidFill>
                  <a:srgbClr val="FFFFFF"/>
                </a:solidFill>
                <a:latin typeface="Anton"/>
                <a:ea typeface="Anton"/>
                <a:cs typeface="Anton"/>
              </a:rPr>
              <a:t>PHÁT HIỆN LIP-SYNC</a:t>
            </a:r>
          </a:p>
          <a:p xmlns:a="http://schemas.openxmlformats.org/drawingml/2006/main">
            <a:pPr algn="l">
              <a:lnSpc>
                <a:spcPts val="8399"/>
              </a:lnSpc>
              <a:buNone/>
              <a:defRPr sz="7950">
                <a:solidFill>
                  <a:srgbClr val="FFFFFF"/>
                </a:solidFill>
                <a:latin typeface="Anton"/>
                <a:ea typeface="Anton"/>
                <a:cs typeface="Anton"/>
              </a:defRPr>
            </a:pPr>
            <a:r>
              <a:rPr sz="7950">
                <a:solidFill>
                  <a:srgbClr val="FFFFFF"/>
                </a:solidFill>
                <a:latin typeface="Anton"/>
                <a:ea typeface="Anton"/>
                <a:cs typeface="Anton"/>
              </a:rPr>
              <a:t>TRONG VIDEO</a:t>
            </a:r>
          </a:p>
          <a:p xmlns:a="http://schemas.openxmlformats.org/drawingml/2006/main">
            <a:pPr algn="l">
              <a:lnSpc>
                <a:spcPts val="8399"/>
              </a:lnSpc>
              <a:buNone/>
              <a:defRPr sz="7950">
                <a:solidFill>
                  <a:srgbClr val="FFFFFF"/>
                </a:solidFill>
                <a:latin typeface="Anton"/>
                <a:ea typeface="Anton"/>
                <a:cs typeface="Anton"/>
              </a:defRPr>
            </a:pPr>
            <a:r>
              <a:rPr sz="7950">
                <a:solidFill>
                  <a:srgbClr val="FFFFFF"/>
                </a:solidFill>
                <a:latin typeface="Anton"/>
                <a:ea typeface="Anton"/>
                <a:cs typeface="Anton"/>
              </a:rPr>
              <a:t>TIẾNG VIỆT</a:t>
            </a:r>
          </a:p>
        </p:txBody>
      </p:sp>
      <p:sp>
        <p:nvSpPr>
          <p:cNvPr id="14" name="TextBox 14">
            <a:extLst xmlns:a="http://schemas.openxmlformats.org/drawingml/2006/main">
              <a:ext uri="{FF2B5EF4-FFF2-40B4-BE49-F238E27FC236}">
                <a16:creationId xmlns:a16="http://schemas.microsoft.com/office/drawing/2014/main" id="{1C037BBF-2AD0-4FDA-A380-7F53463A6490}"/>
              </a:ext>
            </a:extLst>
          </p:cNvPr>
          <p:cNvSpPr>
            <a:spLocks xmlns:a="http://schemas.openxmlformats.org/drawingml/2006/main" noGrp="1"/>
          </p:cNvSpPr>
          <p:nvPr/>
        </p:nvSpPr>
        <p:spPr>
          <a:xfrm xmlns:a="http://schemas.openxmlformats.org/drawingml/2006/main" rot="0">
            <a:off x="1123950" y="7572375"/>
            <a:ext cx="10953750" cy="7620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790"/>
              </a:lnSpc>
              <a:buNone/>
              <a:defRPr sz="2550">
                <a:solidFill>
                  <a:srgbClr val="FFFFFF"/>
                </a:solidFill>
                <a:latin typeface="Aptos"/>
                <a:ea typeface="Aptos"/>
                <a:cs typeface="Aptos"/>
              </a:defRPr>
            </a:pPr>
            <a:r>
              <a:rPr sz="2550">
                <a:solidFill>
                  <a:srgbClr val="FFFFFF"/>
                </a:solidFill>
                <a:latin typeface="Aptos"/>
                <a:ea typeface="Aptos"/>
                <a:cs typeface="Aptos"/>
              </a:rPr>
              <a:t>AV-HuBERT và học nhất quán qua các bản nén</a:t>
            </a:r>
          </a:p>
        </p:txBody>
      </p:sp>
      <p:sp>
        <p:nvSpPr>
          <p:cNvPr id="15" name="TextBox 15">
            <a:extLst xmlns:a="http://schemas.openxmlformats.org/drawingml/2006/main">
              <a:ext uri="{FF2B5EF4-FFF2-40B4-BE49-F238E27FC236}">
                <a16:creationId xmlns:a16="http://schemas.microsoft.com/office/drawing/2014/main" id="{2890F995-BDAF-46DC-B5BF-60717587F739}"/>
              </a:ext>
            </a:extLst>
          </p:cNvPr>
          <p:cNvSpPr>
            <a:spLocks xmlns:a="http://schemas.openxmlformats.org/drawingml/2006/main" noGrp="1"/>
          </p:cNvSpPr>
          <p:nvPr/>
        </p:nvSpPr>
        <p:spPr>
          <a:xfrm xmlns:a="http://schemas.openxmlformats.org/drawingml/2006/main" rot="0">
            <a:off x="1123950" y="9029700"/>
            <a:ext cx="12382500" cy="2571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070"/>
              </a:lnSpc>
              <a:buNone/>
            </a:pPr>
            <a:r>
              <a:rPr sz="1725" b="1">
                <a:solidFill>
                  <a:srgbClr val="FFFFFF"/>
                </a:solidFill>
                <a:latin typeface="Aptos Bold"/>
                <a:ea typeface="Aptos Bold"/>
                <a:cs typeface="Aptos Bold"/>
              </a:rPr>
              <a:t>NGUYEN VAN LINH  ·  NGUYEN LAM ANH  ·  NGUYEN MINH NHAT</a:t>
            </a:r>
          </a:p>
        </p:txBody>
      </p:sp>
      <p:sp>
        <p:nvSpPr>
          <p:cNvPr id="16" name="TextBox 16">
            <a:extLst xmlns:a="http://schemas.openxmlformats.org/drawingml/2006/main">
              <a:ext uri="{FF2B5EF4-FFF2-40B4-BE49-F238E27FC236}">
                <a16:creationId xmlns:a16="http://schemas.microsoft.com/office/drawing/2014/main" id="{D31B9A94-EF95-42AE-BB35-A4D5D67FC569}"/>
              </a:ext>
            </a:extLst>
          </p:cNvPr>
          <p:cNvSpPr>
            <a:spLocks xmlns:a="http://schemas.openxmlformats.org/drawingml/2006/main" noGrp="1"/>
          </p:cNvSpPr>
          <p:nvPr/>
        </p:nvSpPr>
        <p:spPr>
          <a:xfrm xmlns:a="http://schemas.openxmlformats.org/drawingml/2006/main" rot="0">
            <a:off x="1123950" y="9486900"/>
            <a:ext cx="4953000" cy="2381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889"/>
              </a:lnSpc>
              <a:buNone/>
            </a:pPr>
            <a:r>
              <a:rPr sz="1575">
                <a:solidFill>
                  <a:srgbClr val="4DCADE"/>
                </a:solidFill>
                <a:latin typeface="Aptos"/>
                <a:ea typeface="Aptos"/>
                <a:cs typeface="Aptos"/>
              </a:rPr>
              <a:t>FPT UNIVERSITY</a:t>
            </a:r>
          </a:p>
        </p:txBody>
      </p:sp>
    </p:spTree>
    <p:extLst>
      <p:ext uri="{BB962C8B-B14F-4D97-AF65-F5344CB8AC3E}">
        <p14:creationId xmlns:p14="http://schemas.microsoft.com/office/powerpoint/2010/main" val="17262914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b822979be2c64cae">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b822979be2c64cae">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b822979be2c64cae">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52400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b822979be2c64cae">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b822979be2c64cae">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b822979be2c64cae">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02</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2  /  BÀI TOÁN">
            <a:extLst xmlns:a="http://schemas.openxmlformats.org/drawingml/2006/main">
              <a:ext uri="{FF2B5EF4-FFF2-40B4-BE49-F238E27FC236}">
                <a16:creationId xmlns:a16="http://schemas.microsoft.com/office/drawing/2014/main" id="{144A637D-AF10-45F8-8F85-4ADB39819256}"/>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02  /  BÀI TOÁN</a:t>
            </a:r>
          </a:p>
        </p:txBody>
      </p:sp>
      <p:sp>
        <p:nvSpPr>
          <p:cNvPr id="38" name="CÂU HỎI NGHIÊN CỨU">
            <a:extLst xmlns:a="http://schemas.openxmlformats.org/drawingml/2006/main">
              <a:ext uri="{FF2B5EF4-FFF2-40B4-BE49-F238E27FC236}">
                <a16:creationId xmlns:a16="http://schemas.microsoft.com/office/drawing/2014/main" id="{C43737CF-90FA-4EE2-923F-438D183A800A}"/>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CÂU HỎI NGHIÊN CỨU</a:t>
            </a:r>
          </a:p>
        </p:txBody>
      </p:sp>
      <p:sp>
        <p:nvSpPr>
          <p:cNvPr id="39" name="ĐẦU VÀO &amp; ĐẦU RA">
            <a:extLst xmlns:a="http://schemas.openxmlformats.org/drawingml/2006/main">
              <a:ext uri="{FF2B5EF4-FFF2-40B4-BE49-F238E27FC236}">
                <a16:creationId xmlns:a16="http://schemas.microsoft.com/office/drawing/2014/main" id="{7840836A-C4B8-4A26-8E8D-19661FE35162}"/>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ĐẦU VÀO &amp; ĐẦU RA</a:t>
            </a:r>
          </a:p>
        </p:txBody>
      </p:sp>
      <p:sp>
        <p:nvSpPr>
          <p:cNvPr id="40" name="Video một người nói tiếng Việt">
            <a:extLst xmlns:a="http://schemas.openxmlformats.org/drawingml/2006/main">
              <a:ext uri="{FF2B5EF4-FFF2-40B4-BE49-F238E27FC236}">
                <a16:creationId xmlns:a16="http://schemas.microsoft.com/office/drawing/2014/main" id="{A1DB39B3-C722-447E-84A1-26D2FFEAC9AA}"/>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Video một người nói tiếng Việt</a:t>
            </a:r>
          </a:p>
        </p:txBody>
      </p:sp>
      <p:sp>
        <p:nvSpPr>
          <p:cNvPr id="41" name="Có audio và nhìn thấy vùng miệng">
            <a:extLst xmlns:a="http://schemas.openxmlformats.org/drawingml/2006/main">
              <a:ext uri="{FF2B5EF4-FFF2-40B4-BE49-F238E27FC236}">
                <a16:creationId xmlns:a16="http://schemas.microsoft.com/office/drawing/2014/main" id="{1735F44C-6414-4EFD-A014-D290DFB8DCD2}"/>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Có audio và nhìn thấy vùng miệng</a:t>
            </a:r>
          </a:p>
        </p:txBody>
      </p:sp>
      <p:sp>
        <p:nvSpPr>
          <p:cNvPr id="42" name="Phân loại đoạn video Real / Fake">
            <a:extLst xmlns:a="http://schemas.openxmlformats.org/drawingml/2006/main">
              <a:ext uri="{FF2B5EF4-FFF2-40B4-BE49-F238E27FC236}">
                <a16:creationId xmlns:a16="http://schemas.microsoft.com/office/drawing/2014/main" id="{8FDC33A9-A971-47F4-9F75-3BA39C2276B7}"/>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Phân loại đoạn video Real / Fake</a:t>
            </a:r>
          </a:p>
        </p:txBody>
      </p:sp>
      <p:sp>
        <p:nvSpPr>
          <p:cNvPr id="43" name="Điểm fake theo ngưỡng validation">
            <a:extLst xmlns:a="http://schemas.openxmlformats.org/drawingml/2006/main">
              <a:ext uri="{FF2B5EF4-FFF2-40B4-BE49-F238E27FC236}">
                <a16:creationId xmlns:a16="http://schemas.microsoft.com/office/drawing/2014/main" id="{8928AF5F-F6AB-427F-8956-F0F9B1B0AD20}"/>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Điểm fake theo ngưỡng validation</a:t>
            </a:r>
          </a:p>
        </p:txBody>
      </p:sp>
      <p:sp>
        <p:nvSpPr>
          <p:cNvPr id="44" name="GIẢ THUYẾT CẦN KIỂM CHỨNG">
            <a:extLst xmlns:a="http://schemas.openxmlformats.org/drawingml/2006/main">
              <a:ext uri="{FF2B5EF4-FFF2-40B4-BE49-F238E27FC236}">
                <a16:creationId xmlns:a16="http://schemas.microsoft.com/office/drawing/2014/main" id="{74C73F63-D373-4750-A672-9EBE5563AC11}"/>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GIẢ THUYẾT CẦN KIỂM CHỨNG</a:t>
            </a:r>
          </a:p>
        </p:txBody>
      </p:sp>
      <p:sp>
        <p:nvSpPr>
          <p:cNvPr id="45" name="Kết hợp audio và hình ảnh vùng miện">
            <a:extLst xmlns:a="http://schemas.openxmlformats.org/drawingml/2006/main">
              <a:ext uri="{FF2B5EF4-FFF2-40B4-BE49-F238E27FC236}">
                <a16:creationId xmlns:a16="http://schemas.microsoft.com/office/drawing/2014/main" id="{CC4D9BC3-8ABA-4C5B-AE46-7CD9B607C4E8}"/>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Kết hợp audio và hình ảnh vùng miệng</a:t>
            </a:r>
          </a:p>
        </p:txBody>
      </p:sp>
      <p:sp>
        <p:nvSpPr>
          <p:cNvPr id="46" name="X thêm yêu cầu nhất quán qua nén">
            <a:extLst xmlns:a="http://schemas.openxmlformats.org/drawingml/2006/main">
              <a:ext uri="{FF2B5EF4-FFF2-40B4-BE49-F238E27FC236}">
                <a16:creationId xmlns:a16="http://schemas.microsoft.com/office/drawing/2014/main" id="{3D97503B-F183-4216-9C32-95584E47D791}"/>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X thêm yêu cầu nhất quán qua nén</a:t>
            </a:r>
          </a:p>
        </p:txBody>
      </p:sp>
      <p:sp>
        <p:nvSpPr>
          <p:cNvPr id="47" name="So với cùng detector baseline Y">
            <a:extLst xmlns:a="http://schemas.openxmlformats.org/drawingml/2006/main">
              <a:ext uri="{FF2B5EF4-FFF2-40B4-BE49-F238E27FC236}">
                <a16:creationId xmlns:a16="http://schemas.microsoft.com/office/drawing/2014/main" id="{18A0BC20-1B36-45BC-866D-C45154F4D0EC}"/>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So với cùng detector baseline Y</a:t>
            </a:r>
          </a:p>
        </p:txBody>
      </p:sp>
      <p:sp>
        <p:nvSpPr>
          <p:cNvPr id="48" name="Test riêng generator và mức nén">
            <a:extLst xmlns:a="http://schemas.openxmlformats.org/drawingml/2006/main">
              <a:ext uri="{FF2B5EF4-FFF2-40B4-BE49-F238E27FC236}">
                <a16:creationId xmlns:a16="http://schemas.microsoft.com/office/drawing/2014/main" id="{2A8A7A4B-5A58-427B-81DD-062832AC05A6}"/>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Test riêng generator và mức nén</a:t>
            </a:r>
          </a:p>
        </p:txBody>
      </p:sp>
      <p:sp>
        <p:nvSpPr>
          <p:cNvPr id="49" name="Mục tiêu: kiểm chứng lợi ích của X ">
            <a:extLst xmlns:a="http://schemas.openxmlformats.org/drawingml/2006/main">
              <a:ext uri="{FF2B5EF4-FFF2-40B4-BE49-F238E27FC236}">
                <a16:creationId xmlns:a16="http://schemas.microsoft.com/office/drawing/2014/main" id="{4035F8AC-4697-45AB-A4DF-D8AD930A9227}"/>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Mục tiêu: kiểm chứng lợi ích của X trên protocol đã khóa. Chưa có kết quả detector.</a:t>
            </a:r>
          </a:p>
        </p:txBody>
      </p:sp>
    </p:spTree>
    <p:extLst>
      <p:ext uri="{BB962C8B-B14F-4D97-AF65-F5344CB8AC3E}">
        <p14:creationId xmlns:p14="http://schemas.microsoft.com/office/powerpoint/2010/main" val="24918661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384a81f7ef954c98">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384a81f7ef954c98">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384a81f7ef954c98">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46672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384a81f7ef954c98">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384a81f7ef954c98">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384a81f7ef954c98">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03</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3  /  PHẠM VI">
            <a:extLst xmlns:a="http://schemas.openxmlformats.org/drawingml/2006/main">
              <a:ext uri="{FF2B5EF4-FFF2-40B4-BE49-F238E27FC236}">
                <a16:creationId xmlns:a16="http://schemas.microsoft.com/office/drawing/2014/main" id="{7C310714-467D-40FA-9F20-B6B3517DF501}"/>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03  /  PHẠM VI</a:t>
            </a:r>
          </a:p>
        </p:txBody>
      </p:sp>
      <p:sp>
        <p:nvSpPr>
          <p:cNvPr id="38" name="PHẠM VI NGHIÊN CỨU">
            <a:extLst xmlns:a="http://schemas.openxmlformats.org/drawingml/2006/main">
              <a:ext uri="{FF2B5EF4-FFF2-40B4-BE49-F238E27FC236}">
                <a16:creationId xmlns:a16="http://schemas.microsoft.com/office/drawing/2014/main" id="{64DD08F7-61C4-4D54-8A67-3AFE79ADE8CD}"/>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PHẠM VI NGHIÊN CỨU</a:t>
            </a:r>
          </a:p>
        </p:txBody>
      </p:sp>
      <p:sp>
        <p:nvSpPr>
          <p:cNvPr id="39" name="IN SCOPE">
            <a:extLst xmlns:a="http://schemas.openxmlformats.org/drawingml/2006/main">
              <a:ext uri="{FF2B5EF4-FFF2-40B4-BE49-F238E27FC236}">
                <a16:creationId xmlns:a16="http://schemas.microsoft.com/office/drawing/2014/main" id="{2C28BF50-8FDB-4A38-A49B-60894236E881}"/>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IN SCOPE</a:t>
            </a:r>
          </a:p>
        </p:txBody>
      </p:sp>
      <p:sp>
        <p:nvSpPr>
          <p:cNvPr id="40" name="Một người nói, vùng miệng rõ">
            <a:extLst xmlns:a="http://schemas.openxmlformats.org/drawingml/2006/main">
              <a:ext uri="{FF2B5EF4-FFF2-40B4-BE49-F238E27FC236}">
                <a16:creationId xmlns:a16="http://schemas.microsoft.com/office/drawing/2014/main" id="{0A57A988-AF20-4706-AD24-10675A370A35}"/>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Một người nói, vùng miệng rõ</a:t>
            </a:r>
          </a:p>
        </p:txBody>
      </p:sp>
      <p:sp>
        <p:nvSpPr>
          <p:cNvPr id="41" name="Lip-sync manipulation tiếng Việt">
            <a:extLst xmlns:a="http://schemas.openxmlformats.org/drawingml/2006/main">
              <a:ext uri="{FF2B5EF4-FFF2-40B4-BE49-F238E27FC236}">
                <a16:creationId xmlns:a16="http://schemas.microsoft.com/office/drawing/2014/main" id="{9DBD1211-C0BF-4907-9BA5-9AE61EB31102}"/>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Lip-sync manipulation tiếng Việt</a:t>
            </a:r>
          </a:p>
        </p:txBody>
      </p:sp>
      <p:sp>
        <p:nvSpPr>
          <p:cNvPr id="42" name="Audio–visual, phân loại theo đoạn">
            <a:extLst xmlns:a="http://schemas.openxmlformats.org/drawingml/2006/main">
              <a:ext uri="{FF2B5EF4-FFF2-40B4-BE49-F238E27FC236}">
                <a16:creationId xmlns:a16="http://schemas.microsoft.com/office/drawing/2014/main" id="{04E28FA2-9033-4E8A-9BC4-F09B8396C96B}"/>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Audio–visual, phân loại theo đoạn</a:t>
            </a:r>
          </a:p>
        </p:txBody>
      </p:sp>
      <p:sp>
        <p:nvSpPr>
          <p:cNvPr id="43" name="Offline, nguồn tối đa 1080p">
            <a:extLst xmlns:a="http://schemas.openxmlformats.org/drawingml/2006/main">
              <a:ext uri="{FF2B5EF4-FFF2-40B4-BE49-F238E27FC236}">
                <a16:creationId xmlns:a16="http://schemas.microsoft.com/office/drawing/2014/main" id="{2FFE87AC-9E84-4EB1-87EF-741650FD6453}"/>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Offline, nguồn tối đa 1080p</a:t>
            </a:r>
          </a:p>
        </p:txBody>
      </p:sp>
      <p:sp>
        <p:nvSpPr>
          <p:cNvPr id="44" name="Generator khác và video bị nén">
            <a:extLst xmlns:a="http://schemas.openxmlformats.org/drawingml/2006/main">
              <a:ext uri="{FF2B5EF4-FFF2-40B4-BE49-F238E27FC236}">
                <a16:creationId xmlns:a16="http://schemas.microsoft.com/office/drawing/2014/main" id="{967220C9-9055-478B-A10E-40F2A5340437}"/>
              </a:ext>
            </a:extLst>
          </p:cNvPr>
          <p:cNvSpPr>
            <a:spLocks xmlns:a="http://schemas.openxmlformats.org/drawingml/2006/main" noGrp="1"/>
          </p:cNvSpPr>
          <p:nvPr/>
        </p:nvSpPr>
        <p:spPr>
          <a:xfrm xmlns:a="http://schemas.openxmlformats.org/drawingml/2006/main">
            <a:off x="1476375" y="82105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Generator khác và video bị nén</a:t>
            </a:r>
          </a:p>
        </p:txBody>
      </p:sp>
      <p:sp>
        <p:nvSpPr>
          <p:cNvPr id="45" name="OUT OF SCOPE">
            <a:extLst xmlns:a="http://schemas.openxmlformats.org/drawingml/2006/main">
              <a:ext uri="{FF2B5EF4-FFF2-40B4-BE49-F238E27FC236}">
                <a16:creationId xmlns:a16="http://schemas.microsoft.com/office/drawing/2014/main" id="{4830D17E-42F0-4131-8C2C-789A77196AC7}"/>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OUT OF SCOPE</a:t>
            </a:r>
          </a:p>
        </p:txBody>
      </p:sp>
      <p:sp>
        <p:nvSpPr>
          <p:cNvPr id="46" name="Mọi loại deepfake / video AI">
            <a:extLst xmlns:a="http://schemas.openxmlformats.org/drawingml/2006/main">
              <a:ext uri="{FF2B5EF4-FFF2-40B4-BE49-F238E27FC236}">
                <a16:creationId xmlns:a16="http://schemas.microsoft.com/office/drawing/2014/main" id="{FB85BC36-1434-4461-932F-B012B949CAF4}"/>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Mọi loại deepfake / video AI</a:t>
            </a:r>
          </a:p>
        </p:txBody>
      </p:sp>
      <p:sp>
        <p:nvSpPr>
          <p:cNvPr id="47" name="Face swap và giả giọng độc lập">
            <a:extLst xmlns:a="http://schemas.openxmlformats.org/drawingml/2006/main">
              <a:ext uri="{FF2B5EF4-FFF2-40B4-BE49-F238E27FC236}">
                <a16:creationId xmlns:a16="http://schemas.microsoft.com/office/drawing/2014/main" id="{5E1D6018-F094-4FD6-8F0B-34F6FDF448B5}"/>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Face swap và giả giọng độc lập</a:t>
            </a:r>
          </a:p>
        </p:txBody>
      </p:sp>
      <p:sp>
        <p:nvSpPr>
          <p:cNvPr id="48" name="Định vị chính xác frame bị sửa">
            <a:extLst xmlns:a="http://schemas.openxmlformats.org/drawingml/2006/main">
              <a:ext uri="{FF2B5EF4-FFF2-40B4-BE49-F238E27FC236}">
                <a16:creationId xmlns:a16="http://schemas.microsoft.com/office/drawing/2014/main" id="{DFBA6925-ACD7-4F7C-B1D8-2160D2A7C1CD}"/>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Định vị chính xác frame bị sửa</a:t>
            </a:r>
          </a:p>
        </p:txBody>
      </p:sp>
      <p:sp>
        <p:nvSpPr>
          <p:cNvPr id="49" name="4K, thời gian thực, nhiều người">
            <a:extLst xmlns:a="http://schemas.openxmlformats.org/drawingml/2006/main">
              <a:ext uri="{FF2B5EF4-FFF2-40B4-BE49-F238E27FC236}">
                <a16:creationId xmlns:a16="http://schemas.microsoft.com/office/drawing/2014/main" id="{A1C5D9FA-DF5E-4196-A73F-84276BC20A35}"/>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4K, thời gian thực, nhiều người</a:t>
            </a:r>
          </a:p>
        </p:txBody>
      </p:sp>
      <p:sp>
        <p:nvSpPr>
          <p:cNvPr id="50" name="Pretrain backbone / generator">
            <a:extLst xmlns:a="http://schemas.openxmlformats.org/drawingml/2006/main">
              <a:ext uri="{FF2B5EF4-FFF2-40B4-BE49-F238E27FC236}">
                <a16:creationId xmlns:a16="http://schemas.microsoft.com/office/drawing/2014/main" id="{592F9ABD-53A5-4DD3-ABDB-7CB9E28B9622}"/>
              </a:ext>
            </a:extLst>
          </p:cNvPr>
          <p:cNvSpPr>
            <a:spLocks xmlns:a="http://schemas.openxmlformats.org/drawingml/2006/main" noGrp="1"/>
          </p:cNvSpPr>
          <p:nvPr/>
        </p:nvSpPr>
        <p:spPr>
          <a:xfrm xmlns:a="http://schemas.openxmlformats.org/drawingml/2006/main">
            <a:off x="9906000" y="82105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Pretrain backbone / generator</a:t>
            </a:r>
          </a:p>
        </p:txBody>
      </p:sp>
    </p:spTree>
    <p:extLst>
      <p:ext uri="{BB962C8B-B14F-4D97-AF65-F5344CB8AC3E}">
        <p14:creationId xmlns:p14="http://schemas.microsoft.com/office/powerpoint/2010/main" val="24918661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b5dce69b24684091">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b5dce69b24684091">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b5dce69b24684091">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09537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b5dce69b24684091">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b5dce69b24684091">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b5dce69b24684091">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04</a:t>
            </a:r>
          </a:p>
        </p:txBody>
      </p:sp>
      <p:sp>
        <p:nvSpPr>
          <p:cNvPr id="26" name="04  /  DỮ LIỆU">
            <a:extLst xmlns:a="http://schemas.openxmlformats.org/drawingml/2006/main">
              <a:ext uri="{FF2B5EF4-FFF2-40B4-BE49-F238E27FC236}">
                <a16:creationId xmlns:a16="http://schemas.microsoft.com/office/drawing/2014/main" id="{118088BA-5AF6-4507-8B49-4C9661857F42}"/>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04  /  DỮ LIỆU</a:t>
            </a:r>
          </a:p>
        </p:txBody>
      </p:sp>
      <p:sp>
        <p:nvSpPr>
          <p:cNvPr id="27" name="DỮ LIỆU HIỆN TẠI">
            <a:extLst xmlns:a="http://schemas.openxmlformats.org/drawingml/2006/main">
              <a:ext uri="{FF2B5EF4-FFF2-40B4-BE49-F238E27FC236}">
                <a16:creationId xmlns:a16="http://schemas.microsoft.com/office/drawing/2014/main" id="{5D2F8D4A-BE7B-4C71-9E20-94E92C381057}"/>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DỮ LIỆU HIỆN TẠI</a:t>
            </a:r>
          </a:p>
        </p:txBody>
      </p:sp>
      <p:graphicFrame>
        <p:nvGraphicFramePr>
          <p:cNvPr id="47" name=""/>
          <p:cNvGraphicFramePr/>
          <p:nvPr/>
        </p:nvGraphicFramePr>
        <p:xfrm>
          <a:off xmlns:a="http://schemas.openxmlformats.org/drawingml/2006/main" x="1047750" y="3714750"/>
          <a:ext xmlns:a="http://schemas.openxmlformats.org/drawingml/2006/main" cx="16192500" cy="4857750"/>
        </p:xfrm>
        <a:graphic xmlns:a="http://schemas.openxmlformats.org/drawingml/2006/main">
          <a:graphicData uri="http://schemas.openxmlformats.org/drawingml/2006/table">
            <a:tbl>
              <a:tblPr/>
              <a:tblGrid>
                <a:gridCol w="5429250"/>
                <a:gridCol w="3810000"/>
                <a:gridCol w="6953250"/>
              </a:tblGrid>
              <a:tr h="809625">
                <a:tc>
                  <a:txBody>
                    <a:bodyPr/>
                    <a:lstStyle/>
                    <a:p>
                      <a:r>
                        <a:rPr sz="2475" b="1">
                          <a:solidFill>
                            <a:srgbClr val="FFFFFF"/>
                          </a:solidFill>
                          <a:latin typeface="Aptos"/>
                          <a:ea typeface="Aptos"/>
                          <a:cs typeface="Aptos"/>
                        </a:rPr>
                        <a:t>NGUỒN &amp; REVIEW</a:t>
                      </a:r>
                    </a:p>
                  </a:txBody>
                  <a:tcPr marL="91440" marR="91440" marT="45720" marB="45720">
                    <a:solidFill>
                      <a:srgbClr val="0A2740"/>
                    </a:solidFill>
                  </a:tcPr>
                </a:tc>
                <a:tc>
                  <a:txBody>
                    <a:bodyPr/>
                    <a:lstStyle/>
                    <a:p>
                      <a:r>
                        <a:rPr sz="2475" b="1">
                          <a:solidFill>
                            <a:srgbClr val="FFFFFF"/>
                          </a:solidFill>
                          <a:latin typeface="Aptos"/>
                          <a:ea typeface="Aptos"/>
                          <a:cs typeface="Aptos"/>
                        </a:rPr>
                        <a:t>SỐ LƯỢNG</a:t>
                      </a:r>
                    </a:p>
                  </a:txBody>
                  <a:tcPr marL="91440" marR="91440" marT="45720" marB="45720">
                    <a:solidFill>
                      <a:srgbClr val="0A2740"/>
                    </a:solidFill>
                  </a:tcPr>
                </a:tc>
                <a:tc>
                  <a:txBody>
                    <a:bodyPr/>
                    <a:lstStyle/>
                    <a:p>
                      <a:r>
                        <a:rPr sz="2475" b="1">
                          <a:solidFill>
                            <a:srgbClr val="FFFFFF"/>
                          </a:solidFill>
                          <a:latin typeface="Aptos"/>
                          <a:ea typeface="Aptos"/>
                          <a:cs typeface="Aptos"/>
                        </a:rPr>
                        <a:t>GIỚI HẠN</a:t>
                      </a:r>
                    </a:p>
                  </a:txBody>
                  <a:tcPr marL="91440" marR="91440" marT="45720" marB="45720">
                    <a:solidFill>
                      <a:srgbClr val="0A2740"/>
                    </a:solidFill>
                  </a:tcPr>
                </a:tc>
              </a:tr>
              <a:tr h="809625">
                <a:tc>
                  <a:txBody>
                    <a:bodyPr/>
                    <a:lstStyle/>
                    <a:p>
                      <a:r>
                        <a:rPr sz="2475" b="0">
                          <a:solidFill>
                            <a:srgbClr val="0A2740"/>
                          </a:solidFill>
                          <a:latin typeface="Aptos"/>
                          <a:ea typeface="Aptos"/>
                          <a:cs typeface="Aptos"/>
                        </a:rPr>
                        <a:t>Video nguồn</a:t>
                      </a:r>
                    </a:p>
                  </a:txBody>
                  <a:tcPr marL="91440" marR="91440" marT="45720" marB="45720">
                    <a:solidFill>
                      <a:srgbClr val="E6F4F8"/>
                    </a:solidFill>
                  </a:tcPr>
                </a:tc>
                <a:tc>
                  <a:txBody>
                    <a:bodyPr/>
                    <a:lstStyle/>
                    <a:p>
                      <a:r>
                        <a:rPr sz="2475" b="0">
                          <a:solidFill>
                            <a:srgbClr val="0A2740"/>
                          </a:solidFill>
                          <a:latin typeface="Aptos"/>
                          <a:ea typeface="Aptos"/>
                          <a:cs typeface="Aptos"/>
                        </a:rPr>
                        <a:t>18</a:t>
                      </a:r>
                    </a:p>
                  </a:txBody>
                  <a:tcPr marL="91440" marR="91440" marT="45720" marB="45720">
                    <a:solidFill>
                      <a:srgbClr val="E6F4F8"/>
                    </a:solidFill>
                  </a:tcPr>
                </a:tc>
                <a:tc>
                  <a:txBody>
                    <a:bodyPr/>
                    <a:lstStyle/>
                    <a:p>
                      <a:r>
                        <a:rPr sz="2475" b="0">
                          <a:solidFill>
                            <a:srgbClr val="0A2740"/>
                          </a:solidFill>
                          <a:latin typeface="Aptos"/>
                          <a:ea typeface="Aptos"/>
                          <a:cs typeface="Aptos"/>
                        </a:rPr>
                        <a:t>Cùng một người nói</a:t>
                      </a:r>
                    </a:p>
                  </a:txBody>
                  <a:tcPr marL="91440" marR="91440" marT="45720" marB="45720">
                    <a:solidFill>
                      <a:srgbClr val="E6F4F8"/>
                    </a:solidFill>
                  </a:tcPr>
                </a:tc>
              </a:tr>
              <a:tr h="809625">
                <a:tc>
                  <a:txBody>
                    <a:bodyPr/>
                    <a:lstStyle/>
                    <a:p>
                      <a:r>
                        <a:rPr sz="2475" b="0">
                          <a:solidFill>
                            <a:srgbClr val="0A2740"/>
                          </a:solidFill>
                          <a:latin typeface="Aptos"/>
                          <a:ea typeface="Aptos"/>
                          <a:cs typeface="Aptos"/>
                        </a:rPr>
                        <a:t>Clip đã review</a:t>
                      </a:r>
                    </a:p>
                  </a:txBody>
                  <a:tcPr marL="91440" marR="91440" marT="45720" marB="45720">
                    <a:solidFill>
                      <a:srgbClr val="F3F8FA"/>
                    </a:solidFill>
                  </a:tcPr>
                </a:tc>
                <a:tc>
                  <a:txBody>
                    <a:bodyPr/>
                    <a:lstStyle/>
                    <a:p>
                      <a:r>
                        <a:rPr sz="2475" b="0">
                          <a:solidFill>
                            <a:srgbClr val="0A2740"/>
                          </a:solidFill>
                          <a:latin typeface="Aptos"/>
                          <a:ea typeface="Aptos"/>
                          <a:cs typeface="Aptos"/>
                        </a:rPr>
                        <a:t>2.252</a:t>
                      </a:r>
                    </a:p>
                  </a:txBody>
                  <a:tcPr marL="91440" marR="91440" marT="45720" marB="45720">
                    <a:solidFill>
                      <a:srgbClr val="F3F8FA"/>
                    </a:solidFill>
                  </a:tcPr>
                </a:tc>
                <a:tc>
                  <a:txBody>
                    <a:bodyPr/>
                    <a:lstStyle/>
                    <a:p>
                      <a:r>
                        <a:rPr sz="2475" b="0">
                          <a:solidFill>
                            <a:srgbClr val="0A2740"/>
                          </a:solidFill>
                          <a:latin typeface="Aptos"/>
                          <a:ea typeface="Aptos"/>
                          <a:cs typeface="Aptos"/>
                        </a:rPr>
                        <a:t>Ba thành viên đã gộp kết quả</a:t>
                      </a:r>
                    </a:p>
                  </a:txBody>
                  <a:tcPr marL="91440" marR="91440" marT="45720" marB="45720">
                    <a:solidFill>
                      <a:srgbClr val="F3F8FA"/>
                    </a:solidFill>
                  </a:tcPr>
                </a:tc>
              </a:tr>
              <a:tr h="809625">
                <a:tc>
                  <a:txBody>
                    <a:bodyPr/>
                    <a:lstStyle/>
                    <a:p>
                      <a:r>
                        <a:rPr sz="2475" b="0">
                          <a:solidFill>
                            <a:srgbClr val="0A2740"/>
                          </a:solidFill>
                          <a:latin typeface="Aptos"/>
                          <a:ea typeface="Aptos"/>
                          <a:cs typeface="Aptos"/>
                        </a:rPr>
                        <a:t>Keep / Reject</a:t>
                      </a:r>
                    </a:p>
                  </a:txBody>
                  <a:tcPr marL="91440" marR="91440" marT="45720" marB="45720">
                    <a:solidFill>
                      <a:srgbClr val="E6F4F8"/>
                    </a:solidFill>
                  </a:tcPr>
                </a:tc>
                <a:tc>
                  <a:txBody>
                    <a:bodyPr/>
                    <a:lstStyle/>
                    <a:p>
                      <a:r>
                        <a:rPr sz="2475" b="0">
                          <a:solidFill>
                            <a:srgbClr val="0A2740"/>
                          </a:solidFill>
                          <a:latin typeface="Aptos"/>
                          <a:ea typeface="Aptos"/>
                          <a:cs typeface="Aptos"/>
                        </a:rPr>
                        <a:t>1.143 / 1.109</a:t>
                      </a:r>
                    </a:p>
                  </a:txBody>
                  <a:tcPr marL="91440" marR="91440" marT="45720" marB="45720">
                    <a:solidFill>
                      <a:srgbClr val="E6F4F8"/>
                    </a:solidFill>
                  </a:tcPr>
                </a:tc>
                <a:tc>
                  <a:txBody>
                    <a:bodyPr/>
                    <a:lstStyle/>
                    <a:p>
                      <a:r>
                        <a:rPr sz="2475" b="0">
                          <a:solidFill>
                            <a:srgbClr val="0A2740"/>
                          </a:solidFill>
                          <a:latin typeface="Aptos"/>
                          <a:ea typeface="Aptos"/>
                          <a:cs typeface="Aptos"/>
                        </a:rPr>
                        <a:t>Chưa dùng toàn bộ để train</a:t>
                      </a:r>
                    </a:p>
                  </a:txBody>
                  <a:tcPr marL="91440" marR="91440" marT="45720" marB="45720">
                    <a:solidFill>
                      <a:srgbClr val="E6F4F8"/>
                    </a:solidFill>
                  </a:tcPr>
                </a:tc>
              </a:tr>
              <a:tr h="809625">
                <a:tc>
                  <a:txBody>
                    <a:bodyPr/>
                    <a:lstStyle/>
                    <a:p>
                      <a:r>
                        <a:rPr sz="2475" b="0">
                          <a:solidFill>
                            <a:srgbClr val="0A2740"/>
                          </a:solidFill>
                          <a:latin typeface="Aptos"/>
                          <a:ea typeface="Aptos"/>
                          <a:cs typeface="Aptos"/>
                        </a:rPr>
                        <a:t>Train / Val / Test</a:t>
                      </a:r>
                    </a:p>
                  </a:txBody>
                  <a:tcPr marL="91440" marR="91440" marT="45720" marB="45720">
                    <a:solidFill>
                      <a:srgbClr val="F3F8FA"/>
                    </a:solidFill>
                  </a:tcPr>
                </a:tc>
                <a:tc>
                  <a:txBody>
                    <a:bodyPr/>
                    <a:lstStyle/>
                    <a:p>
                      <a:r>
                        <a:rPr sz="2475" b="0">
                          <a:solidFill>
                            <a:srgbClr val="0A2740"/>
                          </a:solidFill>
                          <a:latin typeface="Aptos"/>
                          <a:ea typeface="Aptos"/>
                          <a:cs typeface="Aptos"/>
                        </a:rPr>
                        <a:t>786 / 192 / 165</a:t>
                      </a:r>
                    </a:p>
                  </a:txBody>
                  <a:tcPr marL="91440" marR="91440" marT="45720" marB="45720">
                    <a:solidFill>
                      <a:srgbClr val="F3F8FA"/>
                    </a:solidFill>
                  </a:tcPr>
                </a:tc>
                <a:tc>
                  <a:txBody>
                    <a:bodyPr/>
                    <a:lstStyle/>
                    <a:p>
                      <a:r>
                        <a:rPr sz="2475" b="0">
                          <a:solidFill>
                            <a:srgbClr val="0A2740"/>
                          </a:solidFill>
                          <a:latin typeface="Aptos"/>
                          <a:ea typeface="Aptos"/>
                          <a:cs typeface="Aptos"/>
                        </a:rPr>
                        <a:t>Tách theo video nguồn</a:t>
                      </a:r>
                    </a:p>
                  </a:txBody>
                  <a:tcPr marL="91440" marR="91440" marT="45720" marB="45720">
                    <a:solidFill>
                      <a:srgbClr val="F3F8FA"/>
                    </a:solidFill>
                  </a:tcPr>
                </a:tc>
              </a:tr>
              <a:tr h="809625">
                <a:tc>
                  <a:txBody>
                    <a:bodyPr/>
                    <a:lstStyle/>
                    <a:p>
                      <a:r>
                        <a:rPr sz="2475" b="0">
                          <a:solidFill>
                            <a:srgbClr val="0A2740"/>
                          </a:solidFill>
                          <a:latin typeface="Aptos"/>
                          <a:ea typeface="Aptos"/>
                          <a:cs typeface="Aptos"/>
                        </a:rPr>
                        <a:t>Fake thử nghiệm</a:t>
                      </a:r>
                    </a:p>
                  </a:txBody>
                  <a:tcPr marL="91440" marR="91440" marT="45720" marB="45720">
                    <a:solidFill>
                      <a:srgbClr val="E6F4F8"/>
                    </a:solidFill>
                  </a:tcPr>
                </a:tc>
                <a:tc>
                  <a:txBody>
                    <a:bodyPr/>
                    <a:lstStyle/>
                    <a:p>
                      <a:r>
                        <a:rPr sz="2475" b="0">
                          <a:solidFill>
                            <a:srgbClr val="0A2740"/>
                          </a:solidFill>
                          <a:latin typeface="Aptos"/>
                          <a:ea typeface="Aptos"/>
                          <a:cs typeface="Aptos"/>
                        </a:rPr>
                        <a:t>10 clip × 2 generator</a:t>
                      </a:r>
                    </a:p>
                  </a:txBody>
                  <a:tcPr marL="91440" marR="91440" marT="45720" marB="45720">
                    <a:solidFill>
                      <a:srgbClr val="E6F4F8"/>
                    </a:solidFill>
                  </a:tcPr>
                </a:tc>
                <a:tc>
                  <a:txBody>
                    <a:bodyPr/>
                    <a:lstStyle/>
                    <a:p>
                      <a:r>
                        <a:rPr sz="2475" b="0">
                          <a:solidFill>
                            <a:srgbClr val="0A2740"/>
                          </a:solidFill>
                          <a:latin typeface="Aptos"/>
                          <a:ea typeface="Aptos"/>
                          <a:cs typeface="Aptos"/>
                        </a:rPr>
                        <a:t>Mỗi clip 2 giây</a:t>
                      </a:r>
                    </a:p>
                  </a:txBody>
                  <a:tcPr marL="91440" marR="91440" marT="45720" marB="45720">
                    <a:solidFill>
                      <a:srgbClr val="E6F4F8"/>
                    </a:solidFill>
                  </a:tcPr>
                </a:tc>
              </a:tr>
            </a:tbl>
          </a:graphicData>
        </a:graphic>
      </p:graphicFrame>
      <p:sp>
        <p:nvSpPr>
          <p:cNvPr id="29" name="Nguồn: PROJECT.md. Hiện là khác ngu">
            <a:extLst xmlns:a="http://schemas.openxmlformats.org/drawingml/2006/main">
              <a:ext uri="{FF2B5EF4-FFF2-40B4-BE49-F238E27FC236}">
                <a16:creationId xmlns:a16="http://schemas.microsoft.com/office/drawing/2014/main" id="{DC620D5D-0C8C-4A61-BE38-4BE19489365F}"/>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Nguồn: PROJECT.md. Hiện là khác nguồn, cùng người nói. Chưa phải test người nói mới.</a:t>
            </a:r>
          </a:p>
        </p:txBody>
      </p:sp>
    </p:spTree>
    <p:extLst>
      <p:ext uri="{BB962C8B-B14F-4D97-AF65-F5344CB8AC3E}">
        <p14:creationId xmlns:p14="http://schemas.microsoft.com/office/powerpoint/2010/main" val="24918661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c9ae512de4214448">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c9ae512de4214448">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c9ae512de4214448">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09537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c9ae512de4214448">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c9ae512de4214448">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c9ae512de4214448">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05</a:t>
            </a:r>
          </a:p>
        </p:txBody>
      </p:sp>
      <p:sp>
        <p:nvSpPr>
          <p:cNvPr id="26" name="05  /  DỮ LIỆU">
            <a:extLst xmlns:a="http://schemas.openxmlformats.org/drawingml/2006/main">
              <a:ext uri="{FF2B5EF4-FFF2-40B4-BE49-F238E27FC236}">
                <a16:creationId xmlns:a16="http://schemas.microsoft.com/office/drawing/2014/main" id="{12044366-5BA0-4E7D-9F30-7CC68B2CA35B}"/>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05  /  DỮ LIỆU</a:t>
            </a:r>
          </a:p>
        </p:txBody>
      </p:sp>
      <p:sp>
        <p:nvSpPr>
          <p:cNvPr id="27" name="PIPELINE DỮ LIỆU &amp; CHỐNG LEAKAGE">
            <a:extLst xmlns:a="http://schemas.openxmlformats.org/drawingml/2006/main">
              <a:ext uri="{FF2B5EF4-FFF2-40B4-BE49-F238E27FC236}">
                <a16:creationId xmlns:a16="http://schemas.microsoft.com/office/drawing/2014/main" id="{EBC4F41D-594F-4502-BAB2-35FF4D2DC479}"/>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PIPELINE DỮ LIỆU &amp; CHỐNG LEAKAGE</a:t>
            </a:r>
          </a:p>
        </p:txBody>
      </p:sp>
      <p:sp>
        <p:nvSpPr>
          <p:cNvPr id="28" name="Tuyển nguồn&#10;Lưu metadata">
            <a:extLst xmlns:a="http://schemas.openxmlformats.org/drawingml/2006/main">
              <a:ext uri="{FF2B5EF4-FFF2-40B4-BE49-F238E27FC236}">
                <a16:creationId xmlns:a16="http://schemas.microsoft.com/office/drawing/2014/main" id="{1E976D4A-187B-4EF3-835E-D4EB50B55F67}"/>
              </a:ext>
            </a:extLst>
          </p:cNvPr>
          <p:cNvSpPr>
            <a:spLocks xmlns:a="http://schemas.openxmlformats.org/drawingml/2006/main" noGrp="1"/>
          </p:cNvSpPr>
          <p:nvPr/>
        </p:nvSpPr>
        <p:spPr>
          <a:xfrm xmlns:a="http://schemas.openxmlformats.org/drawingml/2006/main">
            <a:off x="1047750"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29" name="Tuyển nguồn&#10;Lưu metadata">
            <a:extLst xmlns:a="http://schemas.openxmlformats.org/drawingml/2006/main">
              <a:ext uri="{FF2B5EF4-FFF2-40B4-BE49-F238E27FC236}">
                <a16:creationId xmlns:a16="http://schemas.microsoft.com/office/drawing/2014/main" id="{8935846C-3E21-4854-94BC-84B21390F05C}"/>
              </a:ext>
            </a:extLst>
          </p:cNvPr>
          <p:cNvSpPr>
            <a:spLocks xmlns:a="http://schemas.openxmlformats.org/drawingml/2006/main" noGrp="1"/>
          </p:cNvSpPr>
          <p:nvPr/>
        </p:nvSpPr>
        <p:spPr>
          <a:xfrm xmlns:a="http://schemas.openxmlformats.org/drawingml/2006/main">
            <a:off x="1219200"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Tuyển nguồn</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Lưu metadata</a:t>
            </a:r>
          </a:p>
        </p:txBody>
      </p:sp>
      <p:sp>
        <p:nvSpPr>
          <p:cNvPr id="30" name="">
            <a:extLst xmlns:a="http://schemas.openxmlformats.org/drawingml/2006/main">
              <a:ext uri="{FF2B5EF4-FFF2-40B4-BE49-F238E27FC236}">
                <a16:creationId xmlns:a16="http://schemas.microsoft.com/office/drawing/2014/main" id="{FC3E5B46-C3B3-4BD5-B679-27B0E5899EF4}"/>
              </a:ext>
            </a:extLst>
          </p:cNvPr>
          <p:cNvSpPr>
            <a:spLocks xmlns:a="http://schemas.openxmlformats.org/drawingml/2006/main" noGrp="1"/>
          </p:cNvSpPr>
          <p:nvPr/>
        </p:nvSpPr>
        <p:spPr>
          <a:xfrm xmlns:a="http://schemas.openxmlformats.org/drawingml/2006/main">
            <a:off x="3714750" y="4762500"/>
            <a:ext cx="714375" cy="0"/>
          </a:xfrm>
          <a:prstGeom xmlns:a="http://schemas.openxmlformats.org/drawingml/2006/main" prst="line">
            <a:avLst/>
          </a:prstGeom>
          <a:ln xmlns:a="http://schemas.openxmlformats.org/drawingml/2006/main" w="28575">
            <a:solidFill>
              <a:srgbClr val="286B8A"/>
            </a:solidFill>
          </a:ln>
        </p:spPr>
      </p:sp>
      <p:sp>
        <p:nvSpPr>
          <p:cNvPr id="31" name="Cắt clip&#10;Review">
            <a:extLst xmlns:a="http://schemas.openxmlformats.org/drawingml/2006/main">
              <a:ext uri="{FF2B5EF4-FFF2-40B4-BE49-F238E27FC236}">
                <a16:creationId xmlns:a16="http://schemas.microsoft.com/office/drawing/2014/main" id="{CADA617F-8387-4732-9B9B-272158B18185}"/>
              </a:ext>
            </a:extLst>
          </p:cNvPr>
          <p:cNvSpPr>
            <a:spLocks xmlns:a="http://schemas.openxmlformats.org/drawingml/2006/main" noGrp="1"/>
          </p:cNvSpPr>
          <p:nvPr/>
        </p:nvSpPr>
        <p:spPr>
          <a:xfrm xmlns:a="http://schemas.openxmlformats.org/drawingml/2006/main">
            <a:off x="4429125"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32" name="Cắt clip&#10;Review">
            <a:extLst xmlns:a="http://schemas.openxmlformats.org/drawingml/2006/main">
              <a:ext uri="{FF2B5EF4-FFF2-40B4-BE49-F238E27FC236}">
                <a16:creationId xmlns:a16="http://schemas.microsoft.com/office/drawing/2014/main" id="{203E94EE-3078-4A77-8246-BB9D9C7A2135}"/>
              </a:ext>
            </a:extLst>
          </p:cNvPr>
          <p:cNvSpPr>
            <a:spLocks xmlns:a="http://schemas.openxmlformats.org/drawingml/2006/main" noGrp="1"/>
          </p:cNvSpPr>
          <p:nvPr/>
        </p:nvSpPr>
        <p:spPr>
          <a:xfrm xmlns:a="http://schemas.openxmlformats.org/drawingml/2006/main">
            <a:off x="4600575"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Cắt clip</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Review</a:t>
            </a:r>
          </a:p>
        </p:txBody>
      </p:sp>
      <p:sp>
        <p:nvSpPr>
          <p:cNvPr id="33" name="">
            <a:extLst xmlns:a="http://schemas.openxmlformats.org/drawingml/2006/main">
              <a:ext uri="{FF2B5EF4-FFF2-40B4-BE49-F238E27FC236}">
                <a16:creationId xmlns:a16="http://schemas.microsoft.com/office/drawing/2014/main" id="{B8019B29-48F4-4408-B92F-9F243170A917}"/>
              </a:ext>
            </a:extLst>
          </p:cNvPr>
          <p:cNvSpPr>
            <a:spLocks xmlns:a="http://schemas.openxmlformats.org/drawingml/2006/main" noGrp="1"/>
          </p:cNvSpPr>
          <p:nvPr/>
        </p:nvSpPr>
        <p:spPr>
          <a:xfrm xmlns:a="http://schemas.openxmlformats.org/drawingml/2006/main">
            <a:off x="7096125" y="4762500"/>
            <a:ext cx="714375" cy="0"/>
          </a:xfrm>
          <a:prstGeom xmlns:a="http://schemas.openxmlformats.org/drawingml/2006/main" prst="line">
            <a:avLst/>
          </a:prstGeom>
          <a:ln xmlns:a="http://schemas.openxmlformats.org/drawingml/2006/main" w="28575">
            <a:solidFill>
              <a:srgbClr val="286B8A"/>
            </a:solidFill>
          </a:ln>
        </p:spPr>
      </p:sp>
      <p:sp>
        <p:nvSpPr>
          <p:cNvPr id="34" name="Khóa split&#10;Theo nguồn">
            <a:extLst xmlns:a="http://schemas.openxmlformats.org/drawingml/2006/main">
              <a:ext uri="{FF2B5EF4-FFF2-40B4-BE49-F238E27FC236}">
                <a16:creationId xmlns:a16="http://schemas.microsoft.com/office/drawing/2014/main" id="{A8CE5CBF-A73E-486D-A61D-66751AE24813}"/>
              </a:ext>
            </a:extLst>
          </p:cNvPr>
          <p:cNvSpPr>
            <a:spLocks xmlns:a="http://schemas.openxmlformats.org/drawingml/2006/main" noGrp="1"/>
          </p:cNvSpPr>
          <p:nvPr/>
        </p:nvSpPr>
        <p:spPr>
          <a:xfrm xmlns:a="http://schemas.openxmlformats.org/drawingml/2006/main">
            <a:off x="7810500"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35" name="Khóa split&#10;Theo nguồn">
            <a:extLst xmlns:a="http://schemas.openxmlformats.org/drawingml/2006/main">
              <a:ext uri="{FF2B5EF4-FFF2-40B4-BE49-F238E27FC236}">
                <a16:creationId xmlns:a16="http://schemas.microsoft.com/office/drawing/2014/main" id="{EC690A26-2DF7-4C91-B0D1-62CAB5E1F496}"/>
              </a:ext>
            </a:extLst>
          </p:cNvPr>
          <p:cNvSpPr>
            <a:spLocks xmlns:a="http://schemas.openxmlformats.org/drawingml/2006/main" noGrp="1"/>
          </p:cNvSpPr>
          <p:nvPr/>
        </p:nvSpPr>
        <p:spPr>
          <a:xfrm xmlns:a="http://schemas.openxmlformats.org/drawingml/2006/main">
            <a:off x="7981950"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Khóa split</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Theo nguồn</a:t>
            </a:r>
          </a:p>
        </p:txBody>
      </p:sp>
      <p:sp>
        <p:nvSpPr>
          <p:cNvPr id="36" name="">
            <a:extLst xmlns:a="http://schemas.openxmlformats.org/drawingml/2006/main">
              <a:ext uri="{FF2B5EF4-FFF2-40B4-BE49-F238E27FC236}">
                <a16:creationId xmlns:a16="http://schemas.microsoft.com/office/drawing/2014/main" id="{AE6EAE19-C8B3-4B39-AC33-C894A9599E39}"/>
              </a:ext>
            </a:extLst>
          </p:cNvPr>
          <p:cNvSpPr>
            <a:spLocks xmlns:a="http://schemas.openxmlformats.org/drawingml/2006/main" noGrp="1"/>
          </p:cNvSpPr>
          <p:nvPr/>
        </p:nvSpPr>
        <p:spPr>
          <a:xfrm xmlns:a="http://schemas.openxmlformats.org/drawingml/2006/main">
            <a:off x="10477500" y="4762500"/>
            <a:ext cx="714375" cy="0"/>
          </a:xfrm>
          <a:prstGeom xmlns:a="http://schemas.openxmlformats.org/drawingml/2006/main" prst="line">
            <a:avLst/>
          </a:prstGeom>
          <a:ln xmlns:a="http://schemas.openxmlformats.org/drawingml/2006/main" w="28575">
            <a:solidFill>
              <a:srgbClr val="286B8A"/>
            </a:solidFill>
          </a:ln>
        </p:spPr>
      </p:sp>
      <p:sp>
        <p:nvSpPr>
          <p:cNvPr id="37" name="Tạo fake&#10;Trong split">
            <a:extLst xmlns:a="http://schemas.openxmlformats.org/drawingml/2006/main">
              <a:ext uri="{FF2B5EF4-FFF2-40B4-BE49-F238E27FC236}">
                <a16:creationId xmlns:a16="http://schemas.microsoft.com/office/drawing/2014/main" id="{FD755DF8-697E-41A5-8455-CC46EA073371}"/>
              </a:ext>
            </a:extLst>
          </p:cNvPr>
          <p:cNvSpPr>
            <a:spLocks xmlns:a="http://schemas.openxmlformats.org/drawingml/2006/main" noGrp="1"/>
          </p:cNvSpPr>
          <p:nvPr/>
        </p:nvSpPr>
        <p:spPr>
          <a:xfrm xmlns:a="http://schemas.openxmlformats.org/drawingml/2006/main">
            <a:off x="11191875"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38" name="Tạo fake&#10;Trong split">
            <a:extLst xmlns:a="http://schemas.openxmlformats.org/drawingml/2006/main">
              <a:ext uri="{FF2B5EF4-FFF2-40B4-BE49-F238E27FC236}">
                <a16:creationId xmlns:a16="http://schemas.microsoft.com/office/drawing/2014/main" id="{147C5461-FBC0-4738-88F2-67AA09C7250C}"/>
              </a:ext>
            </a:extLst>
          </p:cNvPr>
          <p:cNvSpPr>
            <a:spLocks xmlns:a="http://schemas.openxmlformats.org/drawingml/2006/main" noGrp="1"/>
          </p:cNvSpPr>
          <p:nvPr/>
        </p:nvSpPr>
        <p:spPr>
          <a:xfrm xmlns:a="http://schemas.openxmlformats.org/drawingml/2006/main">
            <a:off x="11363325"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Tạo fake</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Trong split</a:t>
            </a:r>
          </a:p>
        </p:txBody>
      </p:sp>
      <p:sp>
        <p:nvSpPr>
          <p:cNvPr id="39" name="">
            <a:extLst xmlns:a="http://schemas.openxmlformats.org/drawingml/2006/main">
              <a:ext uri="{FF2B5EF4-FFF2-40B4-BE49-F238E27FC236}">
                <a16:creationId xmlns:a16="http://schemas.microsoft.com/office/drawing/2014/main" id="{E8BC5D83-1CCF-4991-B46C-276E30E653D3}"/>
              </a:ext>
            </a:extLst>
          </p:cNvPr>
          <p:cNvSpPr>
            <a:spLocks xmlns:a="http://schemas.openxmlformats.org/drawingml/2006/main" noGrp="1"/>
          </p:cNvSpPr>
          <p:nvPr/>
        </p:nvSpPr>
        <p:spPr>
          <a:xfrm xmlns:a="http://schemas.openxmlformats.org/drawingml/2006/main">
            <a:off x="13858875" y="4762500"/>
            <a:ext cx="714375" cy="0"/>
          </a:xfrm>
          <a:prstGeom xmlns:a="http://schemas.openxmlformats.org/drawingml/2006/main" prst="line">
            <a:avLst/>
          </a:prstGeom>
          <a:ln xmlns:a="http://schemas.openxmlformats.org/drawingml/2006/main" w="28575">
            <a:solidFill>
              <a:srgbClr val="286B8A"/>
            </a:solidFill>
          </a:ln>
        </p:spPr>
      </p:sp>
      <p:sp>
        <p:nvSpPr>
          <p:cNvPr id="40" name="Tạo bản nén&#10;Trích feature">
            <a:extLst xmlns:a="http://schemas.openxmlformats.org/drawingml/2006/main">
              <a:ext uri="{FF2B5EF4-FFF2-40B4-BE49-F238E27FC236}">
                <a16:creationId xmlns:a16="http://schemas.microsoft.com/office/drawing/2014/main" id="{45395821-4A89-4439-866C-F2955637A9B3}"/>
              </a:ext>
            </a:extLst>
          </p:cNvPr>
          <p:cNvSpPr>
            <a:spLocks xmlns:a="http://schemas.openxmlformats.org/drawingml/2006/main" noGrp="1"/>
          </p:cNvSpPr>
          <p:nvPr/>
        </p:nvSpPr>
        <p:spPr>
          <a:xfrm xmlns:a="http://schemas.openxmlformats.org/drawingml/2006/main">
            <a:off x="14573250"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41" name="Tạo bản nén&#10;Trích feature">
            <a:extLst xmlns:a="http://schemas.openxmlformats.org/drawingml/2006/main">
              <a:ext uri="{FF2B5EF4-FFF2-40B4-BE49-F238E27FC236}">
                <a16:creationId xmlns:a16="http://schemas.microsoft.com/office/drawing/2014/main" id="{5A045D56-D21D-458C-BC9B-9C6E239E52B4}"/>
              </a:ext>
            </a:extLst>
          </p:cNvPr>
          <p:cNvSpPr>
            <a:spLocks xmlns:a="http://schemas.openxmlformats.org/drawingml/2006/main" noGrp="1"/>
          </p:cNvSpPr>
          <p:nvPr/>
        </p:nvSpPr>
        <p:spPr>
          <a:xfrm xmlns:a="http://schemas.openxmlformats.org/drawingml/2006/main">
            <a:off x="14744700"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Tạo bản nén</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Trích feature</a:t>
            </a:r>
          </a:p>
        </p:txBody>
      </p:sp>
      <p:sp>
        <p:nvSpPr>
          <p:cNvPr id="42" name="Mọi phiên bản của cùng clip nằm chu">
            <a:extLst xmlns:a="http://schemas.openxmlformats.org/drawingml/2006/main">
              <a:ext uri="{FF2B5EF4-FFF2-40B4-BE49-F238E27FC236}">
                <a16:creationId xmlns:a16="http://schemas.microsoft.com/office/drawing/2014/main" id="{07F8272F-8325-4D4C-811A-18E6870D7420}"/>
              </a:ext>
            </a:extLst>
          </p:cNvPr>
          <p:cNvSpPr>
            <a:spLocks xmlns:a="http://schemas.openxmlformats.org/drawingml/2006/main" noGrp="1"/>
          </p:cNvSpPr>
          <p:nvPr/>
        </p:nvSpPr>
        <p:spPr>
          <a:xfrm xmlns:a="http://schemas.openxmlformats.org/drawingml/2006/main">
            <a:off x="1047750" y="6334125"/>
            <a:ext cx="1581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0A2740"/>
                </a:solidFill>
                <a:latin typeface="Anton"/>
                <a:ea typeface="Anton"/>
                <a:cs typeface="Anton"/>
              </a:defRPr>
            </a:pPr>
            <a:r>
              <a:rPr sz="3600" b="0">
                <a:solidFill>
                  <a:srgbClr val="0A2740"/>
                </a:solidFill>
                <a:latin typeface="Anton"/>
                <a:ea typeface="Anton"/>
                <a:cs typeface="Anton"/>
              </a:rPr>
              <a:t>Mọi phiên bản của cùng clip nằm chung split</a:t>
            </a:r>
          </a:p>
        </p:txBody>
      </p:sp>
      <p:sp>
        <p:nvSpPr>
          <p:cNvPr id="43" name="Video gốc, fake, bản nén và audio t">
            <a:extLst xmlns:a="http://schemas.openxmlformats.org/drawingml/2006/main">
              <a:ext uri="{FF2B5EF4-FFF2-40B4-BE49-F238E27FC236}">
                <a16:creationId xmlns:a16="http://schemas.microsoft.com/office/drawing/2014/main" id="{EE07E679-C7D7-468B-B757-E74D5759038D}"/>
              </a:ext>
            </a:extLst>
          </p:cNvPr>
          <p:cNvSpPr>
            <a:spLocks xmlns:a="http://schemas.openxmlformats.org/drawingml/2006/main" noGrp="1"/>
          </p:cNvSpPr>
          <p:nvPr/>
        </p:nvSpPr>
        <p:spPr>
          <a:xfrm xmlns:a="http://schemas.openxmlformats.org/drawingml/2006/main">
            <a:off x="1047750" y="7286625"/>
            <a:ext cx="1581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455966"/>
                </a:solidFill>
                <a:latin typeface="Aptos"/>
                <a:ea typeface="Aptos"/>
                <a:cs typeface="Aptos"/>
              </a:defRPr>
            </a:pPr>
            <a:r>
              <a:rPr sz="2775" b="0">
                <a:solidFill>
                  <a:srgbClr val="455966"/>
                </a:solidFill>
                <a:latin typeface="Aptos"/>
                <a:ea typeface="Aptos"/>
                <a:cs typeface="Aptos"/>
              </a:rPr>
              <a:t>Video gốc, fake, bản nén và audio thay thế đều tuân theo split đã khóa.</a:t>
            </a:r>
          </a:p>
          <a:p xmlns:a="http://schemas.openxmlformats.org/drawingml/2006/main">
            <a:pPr>
              <a:defRPr sz="2775" b="0">
                <a:solidFill>
                  <a:srgbClr val="455966"/>
                </a:solidFill>
                <a:latin typeface="Aptos"/>
                <a:ea typeface="Aptos"/>
                <a:cs typeface="Aptos"/>
              </a:defRPr>
            </a:pPr>
            <a:r>
              <a:rPr sz="2775" b="0">
                <a:solidFill>
                  <a:srgbClr val="455966"/>
                </a:solidFill>
                <a:latin typeface="Aptos"/>
                <a:ea typeface="Aptos"/>
                <a:cs typeface="Aptos"/>
              </a:rPr>
              <a:t>Kiểm tra nguồn đăng lại và đoạn trùng. Không chia ngẫu nhiên các clip cùng nguồn.</a:t>
            </a:r>
          </a:p>
        </p:txBody>
      </p:sp>
      <p:sp>
        <p:nvSpPr>
          <p:cNvPr id="44" name="Khi bổ sung người nói: chia theo da">
            <a:extLst xmlns:a="http://schemas.openxmlformats.org/drawingml/2006/main">
              <a:ext uri="{FF2B5EF4-FFF2-40B4-BE49-F238E27FC236}">
                <a16:creationId xmlns:a16="http://schemas.microsoft.com/office/drawing/2014/main" id="{481BAA79-8194-450B-9054-31F469E0D353}"/>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Khi bổ sung người nói: chia theo danh tính trước khi tạo fake để đánh giá người chưa thấy.</a:t>
            </a:r>
          </a:p>
        </p:txBody>
      </p:sp>
    </p:spTree>
    <p:extLst>
      <p:ext uri="{BB962C8B-B14F-4D97-AF65-F5344CB8AC3E}">
        <p14:creationId xmlns:p14="http://schemas.microsoft.com/office/powerpoint/2010/main" val="2491866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23efdd1f238648eb">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23efdd1f238648eb">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23efdd1f238648eb">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78295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23efdd1f238648eb">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23efdd1f238648eb">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23efdd1f238648eb">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06</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6  /  MODEL">
            <a:extLst xmlns:a="http://schemas.openxmlformats.org/drawingml/2006/main">
              <a:ext uri="{FF2B5EF4-FFF2-40B4-BE49-F238E27FC236}">
                <a16:creationId xmlns:a16="http://schemas.microsoft.com/office/drawing/2014/main" id="{FF41A940-0BD0-4B90-9991-79062059E8E4}"/>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06  /  MODEL</a:t>
            </a:r>
          </a:p>
        </p:txBody>
      </p:sp>
      <p:sp>
        <p:nvSpPr>
          <p:cNvPr id="38" name="AV-HUBERT TRONG PROJECT">
            <a:extLst xmlns:a="http://schemas.openxmlformats.org/drawingml/2006/main">
              <a:ext uri="{FF2B5EF4-FFF2-40B4-BE49-F238E27FC236}">
                <a16:creationId xmlns:a16="http://schemas.microsoft.com/office/drawing/2014/main" id="{DF3087BA-73AF-491A-8289-566D7E8B7D2D}"/>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AV-HUBERT TRONG PROJECT</a:t>
            </a:r>
          </a:p>
        </p:txBody>
      </p:sp>
      <p:sp>
        <p:nvSpPr>
          <p:cNvPr id="39" name="TẬN DỤNG CHECKPOINT">
            <a:extLst xmlns:a="http://schemas.openxmlformats.org/drawingml/2006/main">
              <a:ext uri="{FF2B5EF4-FFF2-40B4-BE49-F238E27FC236}">
                <a16:creationId xmlns:a16="http://schemas.microsoft.com/office/drawing/2014/main" id="{67EA58E3-7B80-4971-AA55-BEB8AFCB54C7}"/>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TẬN DỤNG CHECKPOINT</a:t>
            </a:r>
          </a:p>
        </p:txBody>
      </p:sp>
      <p:sp>
        <p:nvSpPr>
          <p:cNvPr id="40" name="Base pretrained có sẵn">
            <a:extLst xmlns:a="http://schemas.openxmlformats.org/drawingml/2006/main">
              <a:ext uri="{FF2B5EF4-FFF2-40B4-BE49-F238E27FC236}">
                <a16:creationId xmlns:a16="http://schemas.microsoft.com/office/drawing/2014/main" id="{637BAE33-0EC0-4D44-837E-E4CD789371FD}"/>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Base pretrained có sẵn</a:t>
            </a:r>
          </a:p>
        </p:txBody>
      </p:sp>
      <p:sp>
        <p:nvSpPr>
          <p:cNvPr id="41" name="Học biểu diễn âm thanh–hình ảnh">
            <a:extLst xmlns:a="http://schemas.openxmlformats.org/drawingml/2006/main">
              <a:ext uri="{FF2B5EF4-FFF2-40B4-BE49-F238E27FC236}">
                <a16:creationId xmlns:a16="http://schemas.microsoft.com/office/drawing/2014/main" id="{320E3723-A513-4EDE-AEFF-BC06CC7059B7}"/>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Học biểu diễn âm thanh–hình ảnh</a:t>
            </a:r>
          </a:p>
        </p:txBody>
      </p:sp>
      <p:sp>
        <p:nvSpPr>
          <p:cNvPr id="42" name="Lấy hai nhánh trước fusion">
            <a:extLst xmlns:a="http://schemas.openxmlformats.org/drawingml/2006/main">
              <a:ext uri="{FF2B5EF4-FFF2-40B4-BE49-F238E27FC236}">
                <a16:creationId xmlns:a16="http://schemas.microsoft.com/office/drawing/2014/main" id="{8249F600-1D7F-4D53-BF2D-FA415A6F440C}"/>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Lấy hai nhánh trước fusion</a:t>
            </a:r>
          </a:p>
        </p:txBody>
      </p:sp>
      <p:sp>
        <p:nvSpPr>
          <p:cNvPr id="43" name="Đóng băng trọng số khi train head">
            <a:extLst xmlns:a="http://schemas.openxmlformats.org/drawingml/2006/main">
              <a:ext uri="{FF2B5EF4-FFF2-40B4-BE49-F238E27FC236}">
                <a16:creationId xmlns:a16="http://schemas.microsoft.com/office/drawing/2014/main" id="{264F1189-C987-4C9D-AA4D-1AF3B9ADFE26}"/>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Đóng băng trọng số khi train head</a:t>
            </a:r>
          </a:p>
        </p:txBody>
      </p:sp>
      <p:sp>
        <p:nvSpPr>
          <p:cNvPr id="44" name="GIỚI HẠN CẦN KIỂM CHỨNG">
            <a:extLst xmlns:a="http://schemas.openxmlformats.org/drawingml/2006/main">
              <a:ext uri="{FF2B5EF4-FFF2-40B4-BE49-F238E27FC236}">
                <a16:creationId xmlns:a16="http://schemas.microsoft.com/office/drawing/2014/main" id="{1AA07134-45A7-4A8C-846E-19C232F71D79}"/>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GIỚI HẠN CẦN KIỂM CHỨNG</a:t>
            </a:r>
          </a:p>
        </p:txBody>
      </p:sp>
      <p:sp>
        <p:nvSpPr>
          <p:cNvPr id="45" name="Pretrained chủ yếu trên tiếng Anh">
            <a:extLst xmlns:a="http://schemas.openxmlformats.org/drawingml/2006/main">
              <a:ext uri="{FF2B5EF4-FFF2-40B4-BE49-F238E27FC236}">
                <a16:creationId xmlns:a16="http://schemas.microsoft.com/office/drawing/2014/main" id="{623D9238-C1B5-469C-9B59-516E97800B0D}"/>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Pretrained chủ yếu trên tiếng Anh</a:t>
            </a:r>
          </a:p>
        </p:txBody>
      </p:sp>
      <p:sp>
        <p:nvSpPr>
          <p:cNvPr id="46" name="Chưa chứng minh hiệu quả tiếng Việt">
            <a:extLst xmlns:a="http://schemas.openxmlformats.org/drawingml/2006/main">
              <a:ext uri="{FF2B5EF4-FFF2-40B4-BE49-F238E27FC236}">
                <a16:creationId xmlns:a16="http://schemas.microsoft.com/office/drawing/2014/main" id="{D8807A8A-FF6B-4202-8F1B-137061A041FA}"/>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Chưa chứng minh hiệu quả tiếng Việt</a:t>
            </a:r>
          </a:p>
        </p:txBody>
      </p:sp>
      <p:sp>
        <p:nvSpPr>
          <p:cNvPr id="47" name="Chưa dùng Transformer hợp nhất">
            <a:extLst xmlns:a="http://schemas.openxmlformats.org/drawingml/2006/main">
              <a:ext uri="{FF2B5EF4-FFF2-40B4-BE49-F238E27FC236}">
                <a16:creationId xmlns:a16="http://schemas.microsoft.com/office/drawing/2014/main" id="{BD55246F-C0E2-4AFD-92C3-06352D2FEEC9}"/>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Chưa dùng Transformer hợp nhất</a:t>
            </a:r>
          </a:p>
        </p:txBody>
      </p:sp>
      <p:sp>
        <p:nvSpPr>
          <p:cNvPr id="48" name="AV-HuBERT không tự là detector">
            <a:extLst xmlns:a="http://schemas.openxmlformats.org/drawingml/2006/main">
              <a:ext uri="{FF2B5EF4-FFF2-40B4-BE49-F238E27FC236}">
                <a16:creationId xmlns:a16="http://schemas.microsoft.com/office/drawing/2014/main" id="{95D3B6C3-C411-404B-A234-B208DDB18426}"/>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AV-HuBERT không tự là detector</a:t>
            </a:r>
          </a:p>
        </p:txBody>
      </p:sp>
      <p:sp>
        <p:nvSpPr>
          <p:cNvPr id="49" name="Checkpoint: base_vox_iter5.pt. Repo">
            <a:extLst xmlns:a="http://schemas.openxmlformats.org/drawingml/2006/main">
              <a:ext uri="{FF2B5EF4-FFF2-40B4-BE49-F238E27FC236}">
                <a16:creationId xmlns:a16="http://schemas.microsoft.com/office/drawing/2014/main" id="{43AD483F-E55B-4C1B-87E5-67A69BE5E48E}"/>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Checkpoint: base_vox_iter5.pt. Repo nạp 11.661.312 tham số của hai nhánh trước fusion.</a:t>
            </a:r>
          </a:p>
        </p:txBody>
      </p:sp>
    </p:spTree>
    <p:extLst>
      <p:ext uri="{BB962C8B-B14F-4D97-AF65-F5344CB8AC3E}">
        <p14:creationId xmlns:p14="http://schemas.microsoft.com/office/powerpoint/2010/main" val="2491866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23614cf910624fbd">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23614cf910624fbd">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23614cf910624fbd">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78295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23614cf910624fbd">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23614cf910624fbd">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23614cf910624fbd">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07</a:t>
            </a:r>
          </a:p>
        </p:txBody>
      </p:sp>
      <p:sp>
        <p:nvSpPr>
          <p:cNvPr id="26" name="07  /  MODEL">
            <a:extLst xmlns:a="http://schemas.openxmlformats.org/drawingml/2006/main">
              <a:ext uri="{FF2B5EF4-FFF2-40B4-BE49-F238E27FC236}">
                <a16:creationId xmlns:a16="http://schemas.microsoft.com/office/drawing/2014/main" id="{13E406AE-376C-474A-A3D3-EC998C5ECEC0}"/>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07  /  MODEL</a:t>
            </a:r>
          </a:p>
        </p:txBody>
      </p:sp>
      <p:sp>
        <p:nvSpPr>
          <p:cNvPr id="27" name="KIẾN TRÚC DETECTOR HIỆN HÀNH">
            <a:extLst xmlns:a="http://schemas.openxmlformats.org/drawingml/2006/main">
              <a:ext uri="{FF2B5EF4-FFF2-40B4-BE49-F238E27FC236}">
                <a16:creationId xmlns:a16="http://schemas.microsoft.com/office/drawing/2014/main" id="{FBDFB419-493F-4490-A1FE-F9DA94F78940}"/>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KIẾN TRÚC DETECTOR HIỆN HÀNH</a:t>
            </a:r>
          </a:p>
        </p:txBody>
      </p:sp>
      <p:sp>
        <p:nvSpPr>
          <p:cNvPr id="28" name="Audio 16 kHz&#10;Acoustic features">
            <a:extLst xmlns:a="http://schemas.openxmlformats.org/drawingml/2006/main">
              <a:ext uri="{FF2B5EF4-FFF2-40B4-BE49-F238E27FC236}">
                <a16:creationId xmlns:a16="http://schemas.microsoft.com/office/drawing/2014/main" id="{06E6E4F6-848C-4C01-81F7-D5AAA29EA880}"/>
              </a:ext>
            </a:extLst>
          </p:cNvPr>
          <p:cNvSpPr>
            <a:spLocks xmlns:a="http://schemas.openxmlformats.org/drawingml/2006/main" noGrp="1"/>
          </p:cNvSpPr>
          <p:nvPr/>
        </p:nvSpPr>
        <p:spPr>
          <a:xfrm xmlns:a="http://schemas.openxmlformats.org/drawingml/2006/main">
            <a:off x="1047750" y="376237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29" name="Audio 16 kHz&#10;Acoustic features">
            <a:extLst xmlns:a="http://schemas.openxmlformats.org/drawingml/2006/main">
              <a:ext uri="{FF2B5EF4-FFF2-40B4-BE49-F238E27FC236}">
                <a16:creationId xmlns:a16="http://schemas.microsoft.com/office/drawing/2014/main" id="{2B5D371B-42D8-4B5B-A1CA-59C5C80C2B1B}"/>
              </a:ext>
            </a:extLst>
          </p:cNvPr>
          <p:cNvSpPr>
            <a:spLocks xmlns:a="http://schemas.openxmlformats.org/drawingml/2006/main" noGrp="1"/>
          </p:cNvSpPr>
          <p:nvPr/>
        </p:nvSpPr>
        <p:spPr>
          <a:xfrm xmlns:a="http://schemas.openxmlformats.org/drawingml/2006/main">
            <a:off x="1219200" y="394335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Audio 16 kHz</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Acoustic features</a:t>
            </a:r>
          </a:p>
        </p:txBody>
      </p:sp>
      <p:sp>
        <p:nvSpPr>
          <p:cNvPr id="30" name="Nhánh audio&#10;AV-HuBERT">
            <a:extLst xmlns:a="http://schemas.openxmlformats.org/drawingml/2006/main">
              <a:ext uri="{FF2B5EF4-FFF2-40B4-BE49-F238E27FC236}">
                <a16:creationId xmlns:a16="http://schemas.microsoft.com/office/drawing/2014/main" id="{18350692-5219-4D83-80EF-55664A6FF207}"/>
              </a:ext>
            </a:extLst>
          </p:cNvPr>
          <p:cNvSpPr>
            <a:spLocks xmlns:a="http://schemas.openxmlformats.org/drawingml/2006/main" noGrp="1"/>
          </p:cNvSpPr>
          <p:nvPr/>
        </p:nvSpPr>
        <p:spPr>
          <a:xfrm xmlns:a="http://schemas.openxmlformats.org/drawingml/2006/main">
            <a:off x="5524500" y="376237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1" name="Nhánh audio&#10;AV-HuBERT">
            <a:extLst xmlns:a="http://schemas.openxmlformats.org/drawingml/2006/main">
              <a:ext uri="{FF2B5EF4-FFF2-40B4-BE49-F238E27FC236}">
                <a16:creationId xmlns:a16="http://schemas.microsoft.com/office/drawing/2014/main" id="{07F5088F-D9B9-4003-90E9-3CD92C1266F0}"/>
              </a:ext>
            </a:extLst>
          </p:cNvPr>
          <p:cNvSpPr>
            <a:spLocks xmlns:a="http://schemas.openxmlformats.org/drawingml/2006/main" noGrp="1"/>
          </p:cNvSpPr>
          <p:nvPr/>
        </p:nvSpPr>
        <p:spPr>
          <a:xfrm xmlns:a="http://schemas.openxmlformats.org/drawingml/2006/main">
            <a:off x="5695950" y="394335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Nhánh audio</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AV-HuBERT</a:t>
            </a:r>
          </a:p>
        </p:txBody>
      </p:sp>
      <p:sp>
        <p:nvSpPr>
          <p:cNvPr id="32" name="Linear audio">
            <a:extLst xmlns:a="http://schemas.openxmlformats.org/drawingml/2006/main">
              <a:ext uri="{FF2B5EF4-FFF2-40B4-BE49-F238E27FC236}">
                <a16:creationId xmlns:a16="http://schemas.microsoft.com/office/drawing/2014/main" id="{5FDC02A7-859F-4230-A0BB-6DCF9C2551A2}"/>
              </a:ext>
            </a:extLst>
          </p:cNvPr>
          <p:cNvSpPr>
            <a:spLocks xmlns:a="http://schemas.openxmlformats.org/drawingml/2006/main" noGrp="1"/>
          </p:cNvSpPr>
          <p:nvPr/>
        </p:nvSpPr>
        <p:spPr>
          <a:xfrm xmlns:a="http://schemas.openxmlformats.org/drawingml/2006/main">
            <a:off x="10096500" y="3762375"/>
            <a:ext cx="2857500"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3" name="Linear audio">
            <a:extLst xmlns:a="http://schemas.openxmlformats.org/drawingml/2006/main">
              <a:ext uri="{FF2B5EF4-FFF2-40B4-BE49-F238E27FC236}">
                <a16:creationId xmlns:a16="http://schemas.microsoft.com/office/drawing/2014/main" id="{024D3C5E-AEC5-42FA-A5C3-FCAE37E78615}"/>
              </a:ext>
            </a:extLst>
          </p:cNvPr>
          <p:cNvSpPr>
            <a:spLocks xmlns:a="http://schemas.openxmlformats.org/drawingml/2006/main" noGrp="1"/>
          </p:cNvSpPr>
          <p:nvPr/>
        </p:nvSpPr>
        <p:spPr>
          <a:xfrm xmlns:a="http://schemas.openxmlformats.org/drawingml/2006/main">
            <a:off x="10267950" y="3943350"/>
            <a:ext cx="2514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Linear audio</a:t>
            </a:r>
          </a:p>
        </p:txBody>
      </p:sp>
      <p:sp>
        <p:nvSpPr>
          <p:cNvPr id="34" name="">
            <a:extLst xmlns:a="http://schemas.openxmlformats.org/drawingml/2006/main">
              <a:ext uri="{FF2B5EF4-FFF2-40B4-BE49-F238E27FC236}">
                <a16:creationId xmlns:a16="http://schemas.microsoft.com/office/drawing/2014/main" id="{31C34955-46B3-4715-9F5D-4CFC237F2A78}"/>
              </a:ext>
            </a:extLst>
          </p:cNvPr>
          <p:cNvSpPr>
            <a:spLocks xmlns:a="http://schemas.openxmlformats.org/drawingml/2006/main" noGrp="1"/>
          </p:cNvSpPr>
          <p:nvPr/>
        </p:nvSpPr>
        <p:spPr>
          <a:xfrm xmlns:a="http://schemas.openxmlformats.org/drawingml/2006/main">
            <a:off x="4619625" y="4429125"/>
            <a:ext cx="904875" cy="0"/>
          </a:xfrm>
          <a:prstGeom xmlns:a="http://schemas.openxmlformats.org/drawingml/2006/main" prst="line">
            <a:avLst/>
          </a:prstGeom>
          <a:ln xmlns:a="http://schemas.openxmlformats.org/drawingml/2006/main" w="28575">
            <a:solidFill>
              <a:srgbClr val="286B8A"/>
            </a:solidFill>
          </a:ln>
        </p:spPr>
      </p:sp>
      <p:sp>
        <p:nvSpPr>
          <p:cNvPr id="35" name="">
            <a:extLst xmlns:a="http://schemas.openxmlformats.org/drawingml/2006/main">
              <a:ext uri="{FF2B5EF4-FFF2-40B4-BE49-F238E27FC236}">
                <a16:creationId xmlns:a16="http://schemas.microsoft.com/office/drawing/2014/main" id="{62CBBF11-3363-4510-8F2D-035E0045855D}"/>
              </a:ext>
            </a:extLst>
          </p:cNvPr>
          <p:cNvSpPr>
            <a:spLocks xmlns:a="http://schemas.openxmlformats.org/drawingml/2006/main" noGrp="1"/>
          </p:cNvSpPr>
          <p:nvPr/>
        </p:nvSpPr>
        <p:spPr>
          <a:xfrm xmlns:a="http://schemas.openxmlformats.org/drawingml/2006/main">
            <a:off x="9096375" y="4429125"/>
            <a:ext cx="1000125" cy="0"/>
          </a:xfrm>
          <a:prstGeom xmlns:a="http://schemas.openxmlformats.org/drawingml/2006/main" prst="line">
            <a:avLst/>
          </a:prstGeom>
          <a:ln xmlns:a="http://schemas.openxmlformats.org/drawingml/2006/main" w="28575">
            <a:solidFill>
              <a:srgbClr val="286B8A"/>
            </a:solidFill>
          </a:ln>
        </p:spPr>
      </p:sp>
      <p:sp>
        <p:nvSpPr>
          <p:cNvPr id="36" name="Video 25 FPS&#10;Căn mặt, crop miệng">
            <a:extLst xmlns:a="http://schemas.openxmlformats.org/drawingml/2006/main">
              <a:ext uri="{FF2B5EF4-FFF2-40B4-BE49-F238E27FC236}">
                <a16:creationId xmlns:a16="http://schemas.microsoft.com/office/drawing/2014/main" id="{059C21AC-A30D-4CF1-ABC4-B48E1B58841B}"/>
              </a:ext>
            </a:extLst>
          </p:cNvPr>
          <p:cNvSpPr>
            <a:spLocks xmlns:a="http://schemas.openxmlformats.org/drawingml/2006/main" noGrp="1"/>
          </p:cNvSpPr>
          <p:nvPr/>
        </p:nvSpPr>
        <p:spPr>
          <a:xfrm xmlns:a="http://schemas.openxmlformats.org/drawingml/2006/main">
            <a:off x="1047750" y="614362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7" name="Video 25 FPS&#10;Căn mặt, crop miệng">
            <a:extLst xmlns:a="http://schemas.openxmlformats.org/drawingml/2006/main">
              <a:ext uri="{FF2B5EF4-FFF2-40B4-BE49-F238E27FC236}">
                <a16:creationId xmlns:a16="http://schemas.microsoft.com/office/drawing/2014/main" id="{3BF7347F-5AFE-410A-BAC6-B45BDC0F2A7D}"/>
              </a:ext>
            </a:extLst>
          </p:cNvPr>
          <p:cNvSpPr>
            <a:spLocks xmlns:a="http://schemas.openxmlformats.org/drawingml/2006/main" noGrp="1"/>
          </p:cNvSpPr>
          <p:nvPr/>
        </p:nvSpPr>
        <p:spPr>
          <a:xfrm xmlns:a="http://schemas.openxmlformats.org/drawingml/2006/main">
            <a:off x="1219200" y="632460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Video 25 FPS</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Căn mặt, crop miệng</a:t>
            </a:r>
          </a:p>
        </p:txBody>
      </p:sp>
      <p:sp>
        <p:nvSpPr>
          <p:cNvPr id="38" name="Nhánh visual&#10;AV-HuBERT">
            <a:extLst xmlns:a="http://schemas.openxmlformats.org/drawingml/2006/main">
              <a:ext uri="{FF2B5EF4-FFF2-40B4-BE49-F238E27FC236}">
                <a16:creationId xmlns:a16="http://schemas.microsoft.com/office/drawing/2014/main" id="{51D46089-CAFA-486F-954B-9E5290D891A9}"/>
              </a:ext>
            </a:extLst>
          </p:cNvPr>
          <p:cNvSpPr>
            <a:spLocks xmlns:a="http://schemas.openxmlformats.org/drawingml/2006/main" noGrp="1"/>
          </p:cNvSpPr>
          <p:nvPr/>
        </p:nvSpPr>
        <p:spPr>
          <a:xfrm xmlns:a="http://schemas.openxmlformats.org/drawingml/2006/main">
            <a:off x="5524500" y="614362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9" name="Nhánh visual&#10;AV-HuBERT">
            <a:extLst xmlns:a="http://schemas.openxmlformats.org/drawingml/2006/main">
              <a:ext uri="{FF2B5EF4-FFF2-40B4-BE49-F238E27FC236}">
                <a16:creationId xmlns:a16="http://schemas.microsoft.com/office/drawing/2014/main" id="{3C31F045-E700-4ABB-8527-CBFA5559046A}"/>
              </a:ext>
            </a:extLst>
          </p:cNvPr>
          <p:cNvSpPr>
            <a:spLocks xmlns:a="http://schemas.openxmlformats.org/drawingml/2006/main" noGrp="1"/>
          </p:cNvSpPr>
          <p:nvPr/>
        </p:nvSpPr>
        <p:spPr>
          <a:xfrm xmlns:a="http://schemas.openxmlformats.org/drawingml/2006/main">
            <a:off x="5695950" y="632460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Nhánh visual</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AV-HuBERT</a:t>
            </a:r>
          </a:p>
        </p:txBody>
      </p:sp>
      <p:sp>
        <p:nvSpPr>
          <p:cNvPr id="40" name="Linear visual">
            <a:extLst xmlns:a="http://schemas.openxmlformats.org/drawingml/2006/main">
              <a:ext uri="{FF2B5EF4-FFF2-40B4-BE49-F238E27FC236}">
                <a16:creationId xmlns:a16="http://schemas.microsoft.com/office/drawing/2014/main" id="{923813EB-125D-4FF0-8438-5EC1146A5531}"/>
              </a:ext>
            </a:extLst>
          </p:cNvPr>
          <p:cNvSpPr>
            <a:spLocks xmlns:a="http://schemas.openxmlformats.org/drawingml/2006/main" noGrp="1"/>
          </p:cNvSpPr>
          <p:nvPr/>
        </p:nvSpPr>
        <p:spPr>
          <a:xfrm xmlns:a="http://schemas.openxmlformats.org/drawingml/2006/main">
            <a:off x="10096500" y="6143625"/>
            <a:ext cx="2857500"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41" name="Linear visual">
            <a:extLst xmlns:a="http://schemas.openxmlformats.org/drawingml/2006/main">
              <a:ext uri="{FF2B5EF4-FFF2-40B4-BE49-F238E27FC236}">
                <a16:creationId xmlns:a16="http://schemas.microsoft.com/office/drawing/2014/main" id="{1B9B3B0E-1CB0-49C5-A3B9-7D4EC52F777D}"/>
              </a:ext>
            </a:extLst>
          </p:cNvPr>
          <p:cNvSpPr>
            <a:spLocks xmlns:a="http://schemas.openxmlformats.org/drawingml/2006/main" noGrp="1"/>
          </p:cNvSpPr>
          <p:nvPr/>
        </p:nvSpPr>
        <p:spPr>
          <a:xfrm xmlns:a="http://schemas.openxmlformats.org/drawingml/2006/main">
            <a:off x="10267950" y="6324600"/>
            <a:ext cx="2514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Linear visual</a:t>
            </a:r>
          </a:p>
        </p:txBody>
      </p:sp>
      <p:sp>
        <p:nvSpPr>
          <p:cNvPr id="42" name="">
            <a:extLst xmlns:a="http://schemas.openxmlformats.org/drawingml/2006/main">
              <a:ext uri="{FF2B5EF4-FFF2-40B4-BE49-F238E27FC236}">
                <a16:creationId xmlns:a16="http://schemas.microsoft.com/office/drawing/2014/main" id="{DC7712BF-A0D1-4473-B07C-3E9328E190D9}"/>
              </a:ext>
            </a:extLst>
          </p:cNvPr>
          <p:cNvSpPr>
            <a:spLocks xmlns:a="http://schemas.openxmlformats.org/drawingml/2006/main" noGrp="1"/>
          </p:cNvSpPr>
          <p:nvPr/>
        </p:nvSpPr>
        <p:spPr>
          <a:xfrm xmlns:a="http://schemas.openxmlformats.org/drawingml/2006/main">
            <a:off x="4619625" y="6810375"/>
            <a:ext cx="904875" cy="0"/>
          </a:xfrm>
          <a:prstGeom xmlns:a="http://schemas.openxmlformats.org/drawingml/2006/main" prst="line">
            <a:avLst/>
          </a:prstGeom>
          <a:ln xmlns:a="http://schemas.openxmlformats.org/drawingml/2006/main" w="28575">
            <a:solidFill>
              <a:srgbClr val="286B8A"/>
            </a:solidFill>
          </a:ln>
        </p:spPr>
      </p:sp>
      <p:sp>
        <p:nvSpPr>
          <p:cNvPr id="43" name="">
            <a:extLst xmlns:a="http://schemas.openxmlformats.org/drawingml/2006/main">
              <a:ext uri="{FF2B5EF4-FFF2-40B4-BE49-F238E27FC236}">
                <a16:creationId xmlns:a16="http://schemas.microsoft.com/office/drawing/2014/main" id="{E31235CA-7E98-47B6-8CE3-A5DFE0F3320E}"/>
              </a:ext>
            </a:extLst>
          </p:cNvPr>
          <p:cNvSpPr>
            <a:spLocks xmlns:a="http://schemas.openxmlformats.org/drawingml/2006/main" noGrp="1"/>
          </p:cNvSpPr>
          <p:nvPr/>
        </p:nvSpPr>
        <p:spPr>
          <a:xfrm xmlns:a="http://schemas.openxmlformats.org/drawingml/2006/main">
            <a:off x="9096375" y="6810375"/>
            <a:ext cx="1000125" cy="0"/>
          </a:xfrm>
          <a:prstGeom xmlns:a="http://schemas.openxmlformats.org/drawingml/2006/main" prst="line">
            <a:avLst/>
          </a:prstGeom>
          <a:ln xmlns:a="http://schemas.openxmlformats.org/drawingml/2006/main" w="28575">
            <a:solidFill>
              <a:srgbClr val="286B8A"/>
            </a:solidFill>
          </a:ln>
        </p:spPr>
      </p:sp>
      <p:sp>
        <p:nvSpPr>
          <p:cNvPr id="44" name="">
            <a:extLst xmlns:a="http://schemas.openxmlformats.org/drawingml/2006/main">
              <a:ext uri="{FF2B5EF4-FFF2-40B4-BE49-F238E27FC236}">
                <a16:creationId xmlns:a16="http://schemas.microsoft.com/office/drawing/2014/main" id="{91BA5A75-F009-445B-8067-36121125E365}"/>
              </a:ext>
            </a:extLst>
          </p:cNvPr>
          <p:cNvSpPr>
            <a:spLocks xmlns:a="http://schemas.openxmlformats.org/drawingml/2006/main" noGrp="1"/>
          </p:cNvSpPr>
          <p:nvPr/>
        </p:nvSpPr>
        <p:spPr>
          <a:xfrm xmlns:a="http://schemas.openxmlformats.org/drawingml/2006/main">
            <a:off x="12954000" y="4429125"/>
            <a:ext cx="666750" cy="0"/>
          </a:xfrm>
          <a:prstGeom xmlns:a="http://schemas.openxmlformats.org/drawingml/2006/main" prst="line">
            <a:avLst/>
          </a:prstGeom>
          <a:ln xmlns:a="http://schemas.openxmlformats.org/drawingml/2006/main" w="28575">
            <a:solidFill>
              <a:srgbClr val="286B8A"/>
            </a:solidFill>
          </a:ln>
        </p:spPr>
      </p:sp>
      <p:sp>
        <p:nvSpPr>
          <p:cNvPr id="45" name="">
            <a:extLst xmlns:a="http://schemas.openxmlformats.org/drawingml/2006/main">
              <a:ext uri="{FF2B5EF4-FFF2-40B4-BE49-F238E27FC236}">
                <a16:creationId xmlns:a16="http://schemas.microsoft.com/office/drawing/2014/main" id="{9ECB98F6-E7E8-41F7-941C-7DDB74C0DFC3}"/>
              </a:ext>
            </a:extLst>
          </p:cNvPr>
          <p:cNvSpPr>
            <a:spLocks xmlns:a="http://schemas.openxmlformats.org/drawingml/2006/main" noGrp="1"/>
          </p:cNvSpPr>
          <p:nvPr/>
        </p:nvSpPr>
        <p:spPr>
          <a:xfrm xmlns:a="http://schemas.openxmlformats.org/drawingml/2006/main">
            <a:off x="12954000" y="6810375"/>
            <a:ext cx="666750" cy="0"/>
          </a:xfrm>
          <a:prstGeom xmlns:a="http://schemas.openxmlformats.org/drawingml/2006/main" prst="line">
            <a:avLst/>
          </a:prstGeom>
          <a:ln xmlns:a="http://schemas.openxmlformats.org/drawingml/2006/main" w="28575">
            <a:solidFill>
              <a:srgbClr val="286B8A"/>
            </a:solidFill>
          </a:ln>
        </p:spPr>
      </p:sp>
      <p:sp>
        <p:nvSpPr>
          <p:cNvPr id="46" name="">
            <a:extLst xmlns:a="http://schemas.openxmlformats.org/drawingml/2006/main">
              <a:ext uri="{FF2B5EF4-FFF2-40B4-BE49-F238E27FC236}">
                <a16:creationId xmlns:a16="http://schemas.microsoft.com/office/drawing/2014/main" id="{0B80101E-0979-4FED-85F4-A35A59FA81A5}"/>
              </a:ext>
            </a:extLst>
          </p:cNvPr>
          <p:cNvSpPr>
            <a:spLocks xmlns:a="http://schemas.openxmlformats.org/drawingml/2006/main" noGrp="1"/>
          </p:cNvSpPr>
          <p:nvPr/>
        </p:nvSpPr>
        <p:spPr>
          <a:xfrm xmlns:a="http://schemas.openxmlformats.org/drawingml/2006/main">
            <a:off x="13620750" y="4429125"/>
            <a:ext cx="0" cy="2381250"/>
          </a:xfrm>
          <a:prstGeom xmlns:a="http://schemas.openxmlformats.org/drawingml/2006/main" prst="line">
            <a:avLst/>
          </a:prstGeom>
          <a:ln xmlns:a="http://schemas.openxmlformats.org/drawingml/2006/main" w="28575">
            <a:solidFill>
              <a:srgbClr val="286B8A"/>
            </a:solidFill>
          </a:ln>
        </p:spPr>
      </p:sp>
      <p:sp>
        <p:nvSpPr>
          <p:cNvPr id="47" name="">
            <a:extLst xmlns:a="http://schemas.openxmlformats.org/drawingml/2006/main">
              <a:ext uri="{FF2B5EF4-FFF2-40B4-BE49-F238E27FC236}">
                <a16:creationId xmlns:a16="http://schemas.microsoft.com/office/drawing/2014/main" id="{AF219B92-D297-450B-B5D7-8683241F110C}"/>
              </a:ext>
            </a:extLst>
          </p:cNvPr>
          <p:cNvSpPr>
            <a:spLocks xmlns:a="http://schemas.openxmlformats.org/drawingml/2006/main" noGrp="1"/>
          </p:cNvSpPr>
          <p:nvPr/>
        </p:nvSpPr>
        <p:spPr>
          <a:xfrm xmlns:a="http://schemas.openxmlformats.org/drawingml/2006/main">
            <a:off x="13620750" y="5619750"/>
            <a:ext cx="476250" cy="0"/>
          </a:xfrm>
          <a:prstGeom xmlns:a="http://schemas.openxmlformats.org/drawingml/2006/main" prst="line">
            <a:avLst/>
          </a:prstGeom>
          <a:ln xmlns:a="http://schemas.openxmlformats.org/drawingml/2006/main" w="28575">
            <a:solidFill>
              <a:srgbClr val="286B8A"/>
            </a:solidFill>
          </a:ln>
        </p:spPr>
      </p:sp>
      <p:sp>
        <p:nvSpPr>
          <p:cNvPr id="48" name="Ghép feature&#10;GRU theo thời gian&#10;Phân loại Real / Fake">
            <a:extLst xmlns:a="http://schemas.openxmlformats.org/drawingml/2006/main">
              <a:ext uri="{FF2B5EF4-FFF2-40B4-BE49-F238E27FC236}">
                <a16:creationId xmlns:a16="http://schemas.microsoft.com/office/drawing/2014/main" id="{9C76C142-292F-4664-BA0C-42B580A3DEE0}"/>
              </a:ext>
            </a:extLst>
          </p:cNvPr>
          <p:cNvSpPr>
            <a:spLocks xmlns:a="http://schemas.openxmlformats.org/drawingml/2006/main" noGrp="1"/>
          </p:cNvSpPr>
          <p:nvPr/>
        </p:nvSpPr>
        <p:spPr>
          <a:xfrm xmlns:a="http://schemas.openxmlformats.org/drawingml/2006/main">
            <a:off x="14097000" y="4619625"/>
            <a:ext cx="3143250" cy="1952625"/>
          </a:xfrm>
          <a:prstGeom xmlns:a="http://schemas.openxmlformats.org/drawingml/2006/main" prst="roundRect">
            <a:avLst>
              <a:gd name="adj" fmla="val 3902"/>
            </a:avLst>
          </a:prstGeom>
          <a:solidFill xmlns:a="http://schemas.openxmlformats.org/drawingml/2006/main">
            <a:srgbClr val="E6F4F8"/>
          </a:solidFill>
          <a:ln xmlns:a="http://schemas.openxmlformats.org/drawingml/2006/main" w="9525">
            <a:solidFill>
              <a:srgbClr val="AACFDA"/>
            </a:solidFill>
          </a:ln>
        </p:spPr>
      </p:sp>
      <p:sp>
        <p:nvSpPr>
          <p:cNvPr id="49" name="Ghép feature&#10;GRU theo thời gian&#10;Phâ">
            <a:extLst xmlns:a="http://schemas.openxmlformats.org/drawingml/2006/main">
              <a:ext uri="{FF2B5EF4-FFF2-40B4-BE49-F238E27FC236}">
                <a16:creationId xmlns:a16="http://schemas.microsoft.com/office/drawing/2014/main" id="{AF288A62-97F8-4E56-9F6D-DA1C6CD39BD5}"/>
              </a:ext>
            </a:extLst>
          </p:cNvPr>
          <p:cNvSpPr>
            <a:spLocks xmlns:a="http://schemas.openxmlformats.org/drawingml/2006/main" noGrp="1"/>
          </p:cNvSpPr>
          <p:nvPr/>
        </p:nvSpPr>
        <p:spPr>
          <a:xfrm xmlns:a="http://schemas.openxmlformats.org/drawingml/2006/main">
            <a:off x="14268450" y="4800600"/>
            <a:ext cx="28003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Ghép feature</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GRU theo thời gian</a:t>
            </a:r>
          </a:p>
          <a:p xmlns:a="http://schemas.openxmlformats.org/drawingml/2006/main">
            <a:pPr>
              <a:defRPr sz="2400" b="1">
                <a:solidFill>
                  <a:srgbClr val="0A2740"/>
                </a:solidFill>
                <a:latin typeface="Aptos"/>
                <a:ea typeface="Aptos"/>
                <a:cs typeface="Aptos"/>
              </a:defRPr>
            </a:pPr>
            <a:r>
              <a:rPr sz="2400" b="1">
                <a:solidFill>
                  <a:srgbClr val="0A2740"/>
                </a:solidFill>
                <a:latin typeface="Aptos"/>
                <a:ea typeface="Aptos"/>
                <a:cs typeface="Aptos"/>
              </a:rPr>
              <a:t>Phân loại Real / Fake</a:t>
            </a:r>
          </a:p>
        </p:txBody>
      </p:sp>
      <p:sp>
        <p:nvSpPr>
          <p:cNvPr id="50" name="ĐÓNG BĂNG">
            <a:extLst xmlns:a="http://schemas.openxmlformats.org/drawingml/2006/main">
              <a:ext uri="{FF2B5EF4-FFF2-40B4-BE49-F238E27FC236}">
                <a16:creationId xmlns:a16="http://schemas.microsoft.com/office/drawing/2014/main" id="{F4EB0FF6-E2B5-48BD-830C-BDC6ECA2941E}"/>
              </a:ext>
            </a:extLst>
          </p:cNvPr>
          <p:cNvSpPr>
            <a:spLocks xmlns:a="http://schemas.openxmlformats.org/drawingml/2006/main" noGrp="1"/>
          </p:cNvSpPr>
          <p:nvPr/>
        </p:nvSpPr>
        <p:spPr>
          <a:xfrm xmlns:a="http://schemas.openxmlformats.org/drawingml/2006/main">
            <a:off x="5953125" y="5381625"/>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6B8A"/>
                </a:solidFill>
                <a:latin typeface="Aptos"/>
                <a:ea typeface="Aptos"/>
                <a:cs typeface="Aptos"/>
              </a:defRPr>
            </a:pPr>
            <a:r>
              <a:rPr sz="2325" b="1">
                <a:solidFill>
                  <a:srgbClr val="286B8A"/>
                </a:solidFill>
                <a:latin typeface="Aptos"/>
                <a:ea typeface="Aptos"/>
                <a:cs typeface="Aptos"/>
              </a:rPr>
              <a:t>ĐÓNG BĂNG</a:t>
            </a:r>
          </a:p>
        </p:txBody>
      </p:sp>
      <p:sp>
        <p:nvSpPr>
          <p:cNvPr id="51" name="HUẤN LUYỆN DETECTOR">
            <a:extLst xmlns:a="http://schemas.openxmlformats.org/drawingml/2006/main">
              <a:ext uri="{FF2B5EF4-FFF2-40B4-BE49-F238E27FC236}">
                <a16:creationId xmlns:a16="http://schemas.microsoft.com/office/drawing/2014/main" id="{2C3DB45E-7157-4F4D-A86F-E0D909BB1A8F}"/>
              </a:ext>
            </a:extLst>
          </p:cNvPr>
          <p:cNvSpPr>
            <a:spLocks xmlns:a="http://schemas.openxmlformats.org/drawingml/2006/main" noGrp="1"/>
          </p:cNvSpPr>
          <p:nvPr/>
        </p:nvSpPr>
        <p:spPr>
          <a:xfrm xmlns:a="http://schemas.openxmlformats.org/drawingml/2006/main">
            <a:off x="10477500" y="7762875"/>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6B8A"/>
                </a:solidFill>
                <a:latin typeface="Aptos"/>
                <a:ea typeface="Aptos"/>
                <a:cs typeface="Aptos"/>
              </a:defRPr>
            </a:pPr>
            <a:r>
              <a:rPr sz="2325" b="1">
                <a:solidFill>
                  <a:srgbClr val="286B8A"/>
                </a:solidFill>
                <a:latin typeface="Aptos"/>
                <a:ea typeface="Aptos"/>
                <a:cs typeface="Aptos"/>
              </a:rPr>
              <a:t>HUẤN LUYỆN DETECTOR</a:t>
            </a:r>
          </a:p>
        </p:txBody>
      </p:sp>
      <p:sp>
        <p:nvSpPr>
          <p:cNvPr id="52" name="Hai chuỗi feature [T, 768] cùng tim">
            <a:extLst xmlns:a="http://schemas.openxmlformats.org/drawingml/2006/main">
              <a:ext uri="{FF2B5EF4-FFF2-40B4-BE49-F238E27FC236}">
                <a16:creationId xmlns:a16="http://schemas.microsoft.com/office/drawing/2014/main" id="{6BE15FDE-4480-4D67-BEFB-0983517550B8}"/>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Hai chuỗi feature [T, 768] cùng timeline. Ví dụ thử: 2 giây, 50 frame, T = 50.</a:t>
            </a:r>
          </a:p>
        </p:txBody>
      </p:sp>
    </p:spTree>
    <p:extLst>
      <p:ext uri="{BB962C8B-B14F-4D97-AF65-F5344CB8AC3E}">
        <p14:creationId xmlns:p14="http://schemas.microsoft.com/office/powerpoint/2010/main" val="2491866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1f606eea8b8d4749">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1f606eea8b8d4749">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1f606eea8b8d4749">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78295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1f606eea8b8d4749">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1f606eea8b8d4749">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1f606eea8b8d4749">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08</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8  /  MODEL">
            <a:extLst xmlns:a="http://schemas.openxmlformats.org/drawingml/2006/main">
              <a:ext uri="{FF2B5EF4-FFF2-40B4-BE49-F238E27FC236}">
                <a16:creationId xmlns:a16="http://schemas.microsoft.com/office/drawing/2014/main" id="{38CFD8E3-0D06-4E34-A181-A7B60E421705}"/>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08  /  MODEL</a:t>
            </a:r>
          </a:p>
        </p:txBody>
      </p:sp>
      <p:sp>
        <p:nvSpPr>
          <p:cNvPr id="38" name="BASELINE Y &amp; PHƯƠNG PHÁP X">
            <a:extLst xmlns:a="http://schemas.openxmlformats.org/drawingml/2006/main">
              <a:ext uri="{FF2B5EF4-FFF2-40B4-BE49-F238E27FC236}">
                <a16:creationId xmlns:a16="http://schemas.microsoft.com/office/drawing/2014/main" id="{F5DF2B03-A00F-4E26-BCD0-D985643D7203}"/>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BASELINE Y &amp; PHƯƠNG PHÁP X</a:t>
            </a:r>
          </a:p>
        </p:txBody>
      </p:sp>
      <p:sp>
        <p:nvSpPr>
          <p:cNvPr id="39" name="Y  /  PHÂN LOẠI">
            <a:extLst xmlns:a="http://schemas.openxmlformats.org/drawingml/2006/main">
              <a:ext uri="{FF2B5EF4-FFF2-40B4-BE49-F238E27FC236}">
                <a16:creationId xmlns:a16="http://schemas.microsoft.com/office/drawing/2014/main" id="{C706FD81-2AEC-4BB6-8CF1-95FA17541FB8}"/>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Y  /  PHÂN LOẠI</a:t>
            </a:r>
          </a:p>
        </p:txBody>
      </p:sp>
      <p:sp>
        <p:nvSpPr>
          <p:cNvPr id="40" name="AV-HuBERT đóng băng">
            <a:extLst xmlns:a="http://schemas.openxmlformats.org/drawingml/2006/main">
              <a:ext uri="{FF2B5EF4-FFF2-40B4-BE49-F238E27FC236}">
                <a16:creationId xmlns:a16="http://schemas.microsoft.com/office/drawing/2014/main" id="{F5C96C8C-92ED-4AFA-9D43-D79AF28C2CB4}"/>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AV-HuBERT đóng băng</a:t>
            </a:r>
          </a:p>
        </p:txBody>
      </p:sp>
      <p:sp>
        <p:nvSpPr>
          <p:cNvPr id="41" name="Linear + GRU + classifier">
            <a:extLst xmlns:a="http://schemas.openxmlformats.org/drawingml/2006/main">
              <a:ext uri="{FF2B5EF4-FFF2-40B4-BE49-F238E27FC236}">
                <a16:creationId xmlns:a16="http://schemas.microsoft.com/office/drawing/2014/main" id="{EDE9C6D0-6F2C-4631-9DA4-312514AAA6C7}"/>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Linear + GRU + classifier</a:t>
            </a:r>
          </a:p>
        </p:txBody>
      </p:sp>
      <p:sp>
        <p:nvSpPr>
          <p:cNvPr id="42" name="Học nhãn Real / Fake">
            <a:extLst xmlns:a="http://schemas.openxmlformats.org/drawingml/2006/main">
              <a:ext uri="{FF2B5EF4-FFF2-40B4-BE49-F238E27FC236}">
                <a16:creationId xmlns:a16="http://schemas.microsoft.com/office/drawing/2014/main" id="{8BB44250-C873-4C2B-9A96-8B1AC93D462A}"/>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Học nhãn Real / Fake</a:t>
            </a:r>
          </a:p>
        </p:txBody>
      </p:sp>
      <p:sp>
        <p:nvSpPr>
          <p:cNvPr id="43" name="Thấy các bản nén trong training">
            <a:extLst xmlns:a="http://schemas.openxmlformats.org/drawingml/2006/main">
              <a:ext uri="{FF2B5EF4-FFF2-40B4-BE49-F238E27FC236}">
                <a16:creationId xmlns:a16="http://schemas.microsoft.com/office/drawing/2014/main" id="{BC8DAEEB-3F2E-4D9D-AB26-998DEE9CB302}"/>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Thấy các bản nén trong training</a:t>
            </a:r>
          </a:p>
        </p:txBody>
      </p:sp>
      <p:sp>
        <p:nvSpPr>
          <p:cNvPr id="44" name="X  /  THÊM CONSISTENCY">
            <a:extLst xmlns:a="http://schemas.openxmlformats.org/drawingml/2006/main">
              <a:ext uri="{FF2B5EF4-FFF2-40B4-BE49-F238E27FC236}">
                <a16:creationId xmlns:a16="http://schemas.microsoft.com/office/drawing/2014/main" id="{F2EEEE20-5283-4F9E-95D3-E41D4E6FB8CA}"/>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X  /  THÊM CONSISTENCY</a:t>
            </a:r>
          </a:p>
        </p:txBody>
      </p:sp>
      <p:sp>
        <p:nvSpPr>
          <p:cNvPr id="45" name="Cùng kiến trúc với baseline Y">
            <a:extLst xmlns:a="http://schemas.openxmlformats.org/drawingml/2006/main">
              <a:ext uri="{FF2B5EF4-FFF2-40B4-BE49-F238E27FC236}">
                <a16:creationId xmlns:a16="http://schemas.microsoft.com/office/drawing/2014/main" id="{28A9CEE5-D89F-476F-A004-183659C3E119}"/>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Cùng kiến trúc với baseline Y</a:t>
            </a:r>
          </a:p>
        </p:txBody>
      </p:sp>
      <p:sp>
        <p:nvSpPr>
          <p:cNvPr id="46" name="Cùng dữ liệu và các bản nén">
            <a:extLst xmlns:a="http://schemas.openxmlformats.org/drawingml/2006/main">
              <a:ext uri="{FF2B5EF4-FFF2-40B4-BE49-F238E27FC236}">
                <a16:creationId xmlns:a16="http://schemas.microsoft.com/office/drawing/2014/main" id="{36F61FD1-4FA7-4D1E-8BDC-A7C793DD45DB}"/>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Cùng dữ liệu và các bản nén</a:t>
            </a:r>
          </a:p>
        </p:txBody>
      </p:sp>
      <p:sp>
        <p:nvSpPr>
          <p:cNvPr id="47" name="Vẫn học đúng nhãn Real / Fake">
            <a:extLst xmlns:a="http://schemas.openxmlformats.org/drawingml/2006/main">
              <a:ext uri="{FF2B5EF4-FFF2-40B4-BE49-F238E27FC236}">
                <a16:creationId xmlns:a16="http://schemas.microsoft.com/office/drawing/2014/main" id="{0CA5DE38-E629-4941-9269-6068C5DFD357}"/>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Vẫn học đúng nhãn Real / Fake</a:t>
            </a:r>
          </a:p>
        </p:txBody>
      </p:sp>
      <p:sp>
        <p:nvSpPr>
          <p:cNvPr id="48" name="Thêm yêu cầu dự đoán nhất quán">
            <a:extLst xmlns:a="http://schemas.openxmlformats.org/drawingml/2006/main">
              <a:ext uri="{FF2B5EF4-FFF2-40B4-BE49-F238E27FC236}">
                <a16:creationId xmlns:a16="http://schemas.microsoft.com/office/drawing/2014/main" id="{BF3C0A3C-9AFC-4568-ACEA-4C3ED291E24F}"/>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Thêm yêu cầu dự đoán nhất quán</a:t>
            </a:r>
          </a:p>
        </p:txBody>
      </p:sp>
      <p:sp>
        <p:nvSpPr>
          <p:cNvPr id="49" name="Ghép hai bản nén của cùng clip, cùn">
            <a:extLst xmlns:a="http://schemas.openxmlformats.org/drawingml/2006/main">
              <a:ext uri="{FF2B5EF4-FFF2-40B4-BE49-F238E27FC236}">
                <a16:creationId xmlns:a16="http://schemas.microsoft.com/office/drawing/2014/main" id="{3698C0AB-ABA4-487B-827C-BB9CF4A60367}"/>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Ghép hai bản nén của cùng clip, cùng nhãn. Không ép Real và Fake có cùng dự đoán.</a:t>
            </a:r>
          </a:p>
        </p:txBody>
      </p:sp>
    </p:spTree>
    <p:extLst>
      <p:ext uri="{BB962C8B-B14F-4D97-AF65-F5344CB8AC3E}">
        <p14:creationId xmlns:p14="http://schemas.microsoft.com/office/powerpoint/2010/main" val="2491866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239f6eff81544eab">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239f6eff81544eab">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239f6eff81544eab">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239f6eff81544eab">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239f6eff81544eab">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239f6eff81544eab">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09</a:t>
            </a:r>
          </a:p>
        </p:txBody>
      </p:sp>
      <p:sp>
        <p:nvSpPr>
          <p:cNvPr id="26" name="09  /  ĐÁNH GIÁ">
            <a:extLst xmlns:a="http://schemas.openxmlformats.org/drawingml/2006/main">
              <a:ext uri="{FF2B5EF4-FFF2-40B4-BE49-F238E27FC236}">
                <a16:creationId xmlns:a16="http://schemas.microsoft.com/office/drawing/2014/main" id="{16444420-BEA2-4775-BC8A-4410F53DC521}"/>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09  /  ĐÁNH GIÁ</a:t>
            </a:r>
          </a:p>
        </p:txBody>
      </p:sp>
      <p:sp>
        <p:nvSpPr>
          <p:cNvPr id="27" name="PROTOCOL ĐÁNH GIÁ">
            <a:extLst xmlns:a="http://schemas.openxmlformats.org/drawingml/2006/main">
              <a:ext uri="{FF2B5EF4-FFF2-40B4-BE49-F238E27FC236}">
                <a16:creationId xmlns:a16="http://schemas.microsoft.com/office/drawing/2014/main" id="{6A1659A3-393D-4B4B-9F87-A06EC3972932}"/>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PROTOCOL ĐÁNH GIÁ</a:t>
            </a:r>
          </a:p>
        </p:txBody>
      </p:sp>
      <p:graphicFrame>
        <p:nvGraphicFramePr>
          <p:cNvPr id="47" name=""/>
          <p:cNvGraphicFramePr/>
          <p:nvPr/>
        </p:nvGraphicFramePr>
        <p:xfrm>
          <a:off xmlns:a="http://schemas.openxmlformats.org/drawingml/2006/main" x="1047750" y="3714750"/>
          <a:ext xmlns:a="http://schemas.openxmlformats.org/drawingml/2006/main" cx="16192500" cy="4810125"/>
        </p:xfrm>
        <a:graphic xmlns:a="http://schemas.openxmlformats.org/drawingml/2006/main">
          <a:graphicData uri="http://schemas.openxmlformats.org/drawingml/2006/table">
            <a:tbl>
              <a:tblPr/>
              <a:tblGrid>
                <a:gridCol w="7810500"/>
                <a:gridCol w="8382000"/>
              </a:tblGrid>
              <a:tr h="801688">
                <a:tc>
                  <a:txBody>
                    <a:bodyPr/>
                    <a:lstStyle/>
                    <a:p>
                      <a:r>
                        <a:rPr sz="2475" b="1">
                          <a:solidFill>
                            <a:srgbClr val="FFFFFF"/>
                          </a:solidFill>
                          <a:latin typeface="Aptos"/>
                          <a:ea typeface="Aptos"/>
                          <a:cs typeface="Aptos"/>
                        </a:rPr>
                        <a:t>THÍ NGHIỆM</a:t>
                      </a:r>
                    </a:p>
                  </a:txBody>
                  <a:tcPr marL="91440" marR="91440" marT="45720" marB="45720">
                    <a:solidFill>
                      <a:srgbClr val="0A2740"/>
                    </a:solidFill>
                  </a:tcPr>
                </a:tc>
                <a:tc>
                  <a:txBody>
                    <a:bodyPr/>
                    <a:lstStyle/>
                    <a:p>
                      <a:r>
                        <a:rPr sz="2475" b="1">
                          <a:solidFill>
                            <a:srgbClr val="FFFFFF"/>
                          </a:solidFill>
                          <a:latin typeface="Aptos"/>
                          <a:ea typeface="Aptos"/>
                          <a:cs typeface="Aptos"/>
                        </a:rPr>
                        <a:t>CÂU HỎI</a:t>
                      </a:r>
                    </a:p>
                  </a:txBody>
                  <a:tcPr marL="91440" marR="91440" marT="45720" marB="45720">
                    <a:solidFill>
                      <a:srgbClr val="0A2740"/>
                    </a:solidFill>
                  </a:tcPr>
                </a:tc>
              </a:tr>
              <a:tr h="801688">
                <a:tc>
                  <a:txBody>
                    <a:bodyPr/>
                    <a:lstStyle/>
                    <a:p>
                      <a:r>
                        <a:rPr sz="2475" b="0">
                          <a:solidFill>
                            <a:srgbClr val="0A2740"/>
                          </a:solidFill>
                          <a:latin typeface="Aptos"/>
                          <a:ea typeface="Aptos"/>
                          <a:cs typeface="Aptos"/>
                        </a:rPr>
                        <a:t>Cùng generator, khác video nguồn</a:t>
                      </a:r>
                    </a:p>
                  </a:txBody>
                  <a:tcPr marL="91440" marR="91440" marT="45720" marB="45720">
                    <a:solidFill>
                      <a:srgbClr val="E6F4F8"/>
                    </a:solidFill>
                  </a:tcPr>
                </a:tc>
                <a:tc>
                  <a:txBody>
                    <a:bodyPr/>
                    <a:lstStyle/>
                    <a:p>
                      <a:r>
                        <a:rPr sz="2475" b="0">
                          <a:solidFill>
                            <a:srgbClr val="0A2740"/>
                          </a:solidFill>
                          <a:latin typeface="Aptos"/>
                          <a:ea typeface="Aptos"/>
                          <a:cs typeface="Aptos"/>
                        </a:rPr>
                        <a:t>Phân loại trong điều kiện quen thuộc?</a:t>
                      </a:r>
                    </a:p>
                  </a:txBody>
                  <a:tcPr marL="91440" marR="91440" marT="45720" marB="45720">
                    <a:solidFill>
                      <a:srgbClr val="E6F4F8"/>
                    </a:solidFill>
                  </a:tcPr>
                </a:tc>
              </a:tr>
              <a:tr h="801688">
                <a:tc>
                  <a:txBody>
                    <a:bodyPr/>
                    <a:lstStyle/>
                    <a:p>
                      <a:r>
                        <a:rPr sz="2475" b="0">
                          <a:solidFill>
                            <a:srgbClr val="0A2740"/>
                          </a:solidFill>
                          <a:latin typeface="Aptos"/>
                          <a:ea typeface="Aptos"/>
                          <a:cs typeface="Aptos"/>
                        </a:rPr>
                        <a:t>Train Wav2Lip, test MuseTalk</a:t>
                      </a:r>
                    </a:p>
                  </a:txBody>
                  <a:tcPr marL="91440" marR="91440" marT="45720" marB="45720">
                    <a:solidFill>
                      <a:srgbClr val="F3F8FA"/>
                    </a:solidFill>
                  </a:tcPr>
                </a:tc>
                <a:tc>
                  <a:txBody>
                    <a:bodyPr/>
                    <a:lstStyle/>
                    <a:p>
                      <a:r>
                        <a:rPr sz="2475" b="0">
                          <a:solidFill>
                            <a:srgbClr val="0A2740"/>
                          </a:solidFill>
                          <a:latin typeface="Aptos"/>
                          <a:ea typeface="Aptos"/>
                          <a:cs typeface="Aptos"/>
                        </a:rPr>
                        <a:t>Chuyển sang generator không dùng để train?</a:t>
                      </a:r>
                    </a:p>
                  </a:txBody>
                  <a:tcPr marL="91440" marR="91440" marT="45720" marB="45720">
                    <a:solidFill>
                      <a:srgbClr val="F3F8FA"/>
                    </a:solidFill>
                  </a:tcPr>
                </a:tc>
              </a:tr>
              <a:tr h="801688">
                <a:tc>
                  <a:txBody>
                    <a:bodyPr/>
                    <a:lstStyle/>
                    <a:p>
                      <a:r>
                        <a:rPr sz="2475" b="0">
                          <a:solidFill>
                            <a:srgbClr val="0A2740"/>
                          </a:solidFill>
                          <a:latin typeface="Aptos"/>
                          <a:ea typeface="Aptos"/>
                          <a:cs typeface="Aptos"/>
                        </a:rPr>
                        <a:t>Train MuseTalk, test Wav2Lip</a:t>
                      </a:r>
                    </a:p>
                  </a:txBody>
                  <a:tcPr marL="91440" marR="91440" marT="45720" marB="45720">
                    <a:solidFill>
                      <a:srgbClr val="E6F4F8"/>
                    </a:solidFill>
                  </a:tcPr>
                </a:tc>
                <a:tc>
                  <a:txBody>
                    <a:bodyPr/>
                    <a:lstStyle/>
                    <a:p>
                      <a:r>
                        <a:rPr sz="2475" b="0">
                          <a:solidFill>
                            <a:srgbClr val="0A2740"/>
                          </a:solidFill>
                          <a:latin typeface="Aptos"/>
                          <a:ea typeface="Aptos"/>
                          <a:cs typeface="Aptos"/>
                        </a:rPr>
                        <a:t>Khả năng chuyển theo chiều ngược lại?</a:t>
                      </a:r>
                    </a:p>
                  </a:txBody>
                  <a:tcPr marL="91440" marR="91440" marT="45720" marB="45720">
                    <a:solidFill>
                      <a:srgbClr val="E6F4F8"/>
                    </a:solidFill>
                  </a:tcPr>
                </a:tc>
              </a:tr>
              <a:tr h="801688">
                <a:tc>
                  <a:txBody>
                    <a:bodyPr/>
                    <a:lstStyle/>
                    <a:p>
                      <a:r>
                        <a:rPr sz="2475" b="0">
                          <a:solidFill>
                            <a:srgbClr val="0A2740"/>
                          </a:solidFill>
                          <a:latin typeface="Aptos"/>
                          <a:ea typeface="Aptos"/>
                          <a:cs typeface="Aptos"/>
                        </a:rPr>
                        <a:t>Video gốc và từng mức nén</a:t>
                      </a:r>
                    </a:p>
                  </a:txBody>
                  <a:tcPr marL="91440" marR="91440" marT="45720" marB="45720">
                    <a:solidFill>
                      <a:srgbClr val="F3F8FA"/>
                    </a:solidFill>
                  </a:tcPr>
                </a:tc>
                <a:tc>
                  <a:txBody>
                    <a:bodyPr/>
                    <a:lstStyle/>
                    <a:p>
                      <a:r>
                        <a:rPr sz="2475" b="0">
                          <a:solidFill>
                            <a:srgbClr val="0A2740"/>
                          </a:solidFill>
                          <a:latin typeface="Aptos"/>
                          <a:ea typeface="Aptos"/>
                          <a:cs typeface="Aptos"/>
                        </a:rPr>
                        <a:t>Hiệu quả giảm bao nhiêu khi nén?</a:t>
                      </a:r>
                    </a:p>
                  </a:txBody>
                  <a:tcPr marL="91440" marR="91440" marT="45720" marB="45720">
                    <a:solidFill>
                      <a:srgbClr val="F3F8FA"/>
                    </a:solidFill>
                  </a:tcPr>
                </a:tc>
              </a:tr>
              <a:tr h="801688">
                <a:tc>
                  <a:txBody>
                    <a:bodyPr/>
                    <a:lstStyle/>
                    <a:p>
                      <a:r>
                        <a:rPr sz="2475" b="0">
                          <a:solidFill>
                            <a:srgbClr val="0A2740"/>
                          </a:solidFill>
                          <a:latin typeface="Aptos"/>
                          <a:ea typeface="Aptos"/>
                          <a:cs typeface="Aptos"/>
                        </a:rPr>
                        <a:t>Người nói chưa thấy (mở rộng)</a:t>
                      </a:r>
                    </a:p>
                  </a:txBody>
                  <a:tcPr marL="91440" marR="91440" marT="45720" marB="45720">
                    <a:solidFill>
                      <a:srgbClr val="E6F4F8"/>
                    </a:solidFill>
                  </a:tcPr>
                </a:tc>
                <a:tc>
                  <a:txBody>
                    <a:bodyPr/>
                    <a:lstStyle/>
                    <a:p>
                      <a:r>
                        <a:rPr sz="2475" b="0">
                          <a:solidFill>
                            <a:srgbClr val="0A2740"/>
                          </a:solidFill>
                          <a:latin typeface="Aptos"/>
                          <a:ea typeface="Aptos"/>
                          <a:cs typeface="Aptos"/>
                        </a:rPr>
                        <a:t>Tổng quát hóa sang người mới?</a:t>
                      </a:r>
                    </a:p>
                  </a:txBody>
                  <a:tcPr marL="91440" marR="91440" marT="45720" marB="45720">
                    <a:solidFill>
                      <a:srgbClr val="E6F4F8"/>
                    </a:solidFill>
                  </a:tcPr>
                </a:tc>
              </a:tr>
            </a:tbl>
          </a:graphicData>
        </a:graphic>
      </p:graphicFrame>
      <p:sp>
        <p:nvSpPr>
          <p:cNvPr id="29" name="Chọn model và ngưỡng trên validatio">
            <a:extLst xmlns:a="http://schemas.openxmlformats.org/drawingml/2006/main">
              <a:ext uri="{FF2B5EF4-FFF2-40B4-BE49-F238E27FC236}">
                <a16:creationId xmlns:a16="http://schemas.microsoft.com/office/drawing/2014/main" id="{C8DCF60C-F350-4562-97B3-09EC9EC2DEB6}"/>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Chọn model và ngưỡng trên validation. Khóa cấu hình trước final test.</a:t>
            </a:r>
          </a:p>
        </p:txBody>
      </p:sp>
    </p:spTree>
    <p:extLst>
      <p:ext uri="{BB962C8B-B14F-4D97-AF65-F5344CB8AC3E}">
        <p14:creationId xmlns:p14="http://schemas.microsoft.com/office/powerpoint/2010/main" val="2491866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80cefc11a3c546a2">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80cefc11a3c546a2">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80cefc11a3c546a2">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80cefc11a3c546a2">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80cefc11a3c546a2">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80cefc11a3c546a2">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10</a:t>
            </a:r>
          </a:p>
        </p:txBody>
      </p:sp>
      <p:sp>
        <p:nvSpPr>
          <p:cNvPr id="26" name="10  /  ĐÁNH GIÁ">
            <a:extLst xmlns:a="http://schemas.openxmlformats.org/drawingml/2006/main">
              <a:ext uri="{FF2B5EF4-FFF2-40B4-BE49-F238E27FC236}">
                <a16:creationId xmlns:a16="http://schemas.microsoft.com/office/drawing/2014/main" id="{FBAEE896-B537-4FDC-ADA7-028730CAFD6C}"/>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10  /  ĐÁNH GIÁ</a:t>
            </a:r>
          </a:p>
        </p:txBody>
      </p:sp>
      <p:sp>
        <p:nvSpPr>
          <p:cNvPr id="27" name="METRICS ĐÁNH GIÁ">
            <a:extLst xmlns:a="http://schemas.openxmlformats.org/drawingml/2006/main">
              <a:ext uri="{FF2B5EF4-FFF2-40B4-BE49-F238E27FC236}">
                <a16:creationId xmlns:a16="http://schemas.microsoft.com/office/drawing/2014/main" id="{24E75890-0D33-4E5F-B75D-FA88060C0973}"/>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METRICS ĐÁNH GIÁ</a:t>
            </a:r>
          </a:p>
        </p:txBody>
      </p:sp>
      <p:graphicFrame>
        <p:nvGraphicFramePr>
          <p:cNvPr id="47" name=""/>
          <p:cNvGraphicFramePr/>
          <p:nvPr/>
        </p:nvGraphicFramePr>
        <p:xfrm>
          <a:off xmlns:a="http://schemas.openxmlformats.org/drawingml/2006/main" x="1047750" y="3524250"/>
          <a:ext xmlns:a="http://schemas.openxmlformats.org/drawingml/2006/main" cx="16192500" cy="5334000"/>
        </p:xfrm>
        <a:graphic xmlns:a="http://schemas.openxmlformats.org/drawingml/2006/main">
          <a:graphicData uri="http://schemas.openxmlformats.org/drawingml/2006/table">
            <a:tbl>
              <a:tblPr/>
              <a:tblGrid>
                <a:gridCol w="4476750"/>
                <a:gridCol w="9429750"/>
                <a:gridCol w="2286000"/>
              </a:tblGrid>
              <a:tr h="762000">
                <a:tc>
                  <a:txBody>
                    <a:bodyPr/>
                    <a:lstStyle/>
                    <a:p>
                      <a:r>
                        <a:rPr sz="2400" b="1">
                          <a:solidFill>
                            <a:srgbClr val="FFFFFF"/>
                          </a:solidFill>
                          <a:latin typeface="Aptos"/>
                          <a:ea typeface="Aptos"/>
                          <a:cs typeface="Aptos"/>
                        </a:rPr>
                        <a:t>METRIC</a:t>
                      </a:r>
                    </a:p>
                  </a:txBody>
                  <a:tcPr marL="91440" marR="91440" marT="45720" marB="45720">
                    <a:solidFill>
                      <a:srgbClr val="0A2740"/>
                    </a:solidFill>
                  </a:tcPr>
                </a:tc>
                <a:tc>
                  <a:txBody>
                    <a:bodyPr/>
                    <a:lstStyle/>
                    <a:p>
                      <a:r>
                        <a:rPr sz="2400" b="1">
                          <a:solidFill>
                            <a:srgbClr val="FFFFFF"/>
                          </a:solidFill>
                          <a:latin typeface="Aptos"/>
                          <a:ea typeface="Aptos"/>
                          <a:cs typeface="Aptos"/>
                        </a:rPr>
                        <a:t>Ý NGHĨA</a:t>
                      </a:r>
                    </a:p>
                  </a:txBody>
                  <a:tcPr marL="91440" marR="91440" marT="45720" marB="45720">
                    <a:solidFill>
                      <a:srgbClr val="0A2740"/>
                    </a:solidFill>
                  </a:tcPr>
                </a:tc>
                <a:tc>
                  <a:txBody>
                    <a:bodyPr/>
                    <a:lstStyle/>
                    <a:p>
                      <a:r>
                        <a:rPr sz="2400" b="1">
                          <a:solidFill>
                            <a:srgbClr val="FFFFFF"/>
                          </a:solidFill>
                          <a:latin typeface="Aptos"/>
                          <a:ea typeface="Aptos"/>
                          <a:cs typeface="Aptos"/>
                        </a:rPr>
                        <a:t>MONG MUỐN</a:t>
                      </a:r>
                    </a:p>
                  </a:txBody>
                  <a:tcPr marL="91440" marR="91440" marT="45720" marB="45720">
                    <a:solidFill>
                      <a:srgbClr val="0A2740"/>
                    </a:solidFill>
                  </a:tcPr>
                </a:tc>
              </a:tr>
              <a:tr h="762000">
                <a:tc>
                  <a:txBody>
                    <a:bodyPr/>
                    <a:lstStyle/>
                    <a:p>
                      <a:r>
                        <a:rPr sz="2400" b="0">
                          <a:solidFill>
                            <a:srgbClr val="0A2740"/>
                          </a:solidFill>
                          <a:latin typeface="Aptos"/>
                          <a:ea typeface="Aptos"/>
                          <a:cs typeface="Aptos"/>
                        </a:rPr>
                        <a:t>ROC-AUC (chính)</a:t>
                      </a:r>
                    </a:p>
                  </a:txBody>
                  <a:tcPr marL="91440" marR="91440" marT="45720" marB="45720">
                    <a:solidFill>
                      <a:srgbClr val="E6F4F8"/>
                    </a:solidFill>
                  </a:tcPr>
                </a:tc>
                <a:tc>
                  <a:txBody>
                    <a:bodyPr/>
                    <a:lstStyle/>
                    <a:p>
                      <a:r>
                        <a:rPr sz="2400" b="0">
                          <a:solidFill>
                            <a:srgbClr val="0A2740"/>
                          </a:solidFill>
                          <a:latin typeface="Aptos"/>
                          <a:ea typeface="Aptos"/>
                          <a:cs typeface="Aptos"/>
                        </a:rPr>
                        <a:t>Xếp fake cao hơn real qua nhiều ngưỡng</a:t>
                      </a:r>
                    </a:p>
                  </a:txBody>
                  <a:tcPr marL="91440" marR="91440" marT="45720" marB="45720">
                    <a:solidFill>
                      <a:srgbClr val="E6F4F8"/>
                    </a:solidFill>
                  </a:tcPr>
                </a:tc>
                <a:tc>
                  <a:txBody>
                    <a:bodyPr/>
                    <a:lstStyle/>
                    <a:p>
                      <a:r>
                        <a:rPr sz="2400" b="0">
                          <a:solidFill>
                            <a:srgbClr val="0A2740"/>
                          </a:solidFill>
                          <a:latin typeface="Aptos"/>
                          <a:ea typeface="Aptos"/>
                          <a:cs typeface="Aptos"/>
                        </a:rPr>
                        <a:t>Cao</a:t>
                      </a:r>
                    </a:p>
                  </a:txBody>
                  <a:tcPr marL="91440" marR="91440" marT="45720" marB="45720">
                    <a:solidFill>
                      <a:srgbClr val="E6F4F8"/>
                    </a:solidFill>
                  </a:tcPr>
                </a:tc>
              </a:tr>
              <a:tr h="762000">
                <a:tc>
                  <a:txBody>
                    <a:bodyPr/>
                    <a:lstStyle/>
                    <a:p>
                      <a:r>
                        <a:rPr sz="2400" b="0">
                          <a:solidFill>
                            <a:srgbClr val="0A2740"/>
                          </a:solidFill>
                          <a:latin typeface="Aptos"/>
                          <a:ea typeface="Aptos"/>
                          <a:cs typeface="Aptos"/>
                        </a:rPr>
                        <a:t>EER</a:t>
                      </a:r>
                    </a:p>
                  </a:txBody>
                  <a:tcPr marL="91440" marR="91440" marT="45720" marB="45720">
                    <a:solidFill>
                      <a:srgbClr val="F3F8FA"/>
                    </a:solidFill>
                  </a:tcPr>
                </a:tc>
                <a:tc>
                  <a:txBody>
                    <a:bodyPr/>
                    <a:lstStyle/>
                    <a:p>
                      <a:r>
                        <a:rPr sz="2400" b="0">
                          <a:solidFill>
                            <a:srgbClr val="0A2740"/>
                          </a:solidFill>
                          <a:latin typeface="Aptos"/>
                          <a:ea typeface="Aptos"/>
                          <a:cs typeface="Aptos"/>
                        </a:rPr>
                        <a:t>Điểm tỷ lệ báo nhầm và bỏ sót bằng nhau</a:t>
                      </a:r>
                    </a:p>
                  </a:txBody>
                  <a:tcPr marL="91440" marR="91440" marT="45720" marB="45720">
                    <a:solidFill>
                      <a:srgbClr val="F3F8FA"/>
                    </a:solidFill>
                  </a:tcPr>
                </a:tc>
                <a:tc>
                  <a:txBody>
                    <a:bodyPr/>
                    <a:lstStyle/>
                    <a:p>
                      <a:r>
                        <a:rPr sz="2400" b="0">
                          <a:solidFill>
                            <a:srgbClr val="0A2740"/>
                          </a:solidFill>
                          <a:latin typeface="Aptos"/>
                          <a:ea typeface="Aptos"/>
                          <a:cs typeface="Aptos"/>
                        </a:rPr>
                        <a:t>Thấp</a:t>
                      </a:r>
                    </a:p>
                  </a:txBody>
                  <a:tcPr marL="91440" marR="91440" marT="45720" marB="45720">
                    <a:solidFill>
                      <a:srgbClr val="F3F8FA"/>
                    </a:solidFill>
                  </a:tcPr>
                </a:tc>
              </a:tr>
              <a:tr h="762000">
                <a:tc>
                  <a:txBody>
                    <a:bodyPr/>
                    <a:lstStyle/>
                    <a:p>
                      <a:r>
                        <a:rPr sz="2400" b="0">
                          <a:solidFill>
                            <a:srgbClr val="0A2740"/>
                          </a:solidFill>
                          <a:latin typeface="Aptos"/>
                          <a:ea typeface="Aptos"/>
                          <a:cs typeface="Aptos"/>
                        </a:rPr>
                        <a:t>Precision / Recall</a:t>
                      </a:r>
                    </a:p>
                  </a:txBody>
                  <a:tcPr marL="91440" marR="91440" marT="45720" marB="45720">
                    <a:solidFill>
                      <a:srgbClr val="E6F4F8"/>
                    </a:solidFill>
                  </a:tcPr>
                </a:tc>
                <a:tc>
                  <a:txBody>
                    <a:bodyPr/>
                    <a:lstStyle/>
                    <a:p>
                      <a:r>
                        <a:rPr sz="2400" b="0">
                          <a:solidFill>
                            <a:srgbClr val="0A2740"/>
                          </a:solidFill>
                          <a:latin typeface="Aptos"/>
                          <a:ea typeface="Aptos"/>
                          <a:cs typeface="Aptos"/>
                        </a:rPr>
                        <a:t>Độ đúng khi báo fake / tỷ lệ bắt được fake</a:t>
                      </a:r>
                    </a:p>
                  </a:txBody>
                  <a:tcPr marL="91440" marR="91440" marT="45720" marB="45720">
                    <a:solidFill>
                      <a:srgbClr val="E6F4F8"/>
                    </a:solidFill>
                  </a:tcPr>
                </a:tc>
                <a:tc>
                  <a:txBody>
                    <a:bodyPr/>
                    <a:lstStyle/>
                    <a:p>
                      <a:r>
                        <a:rPr sz="2400" b="0">
                          <a:solidFill>
                            <a:srgbClr val="0A2740"/>
                          </a:solidFill>
                          <a:latin typeface="Aptos"/>
                          <a:ea typeface="Aptos"/>
                          <a:cs typeface="Aptos"/>
                        </a:rPr>
                        <a:t>Cao</a:t>
                      </a:r>
                    </a:p>
                  </a:txBody>
                  <a:tcPr marL="91440" marR="91440" marT="45720" marB="45720">
                    <a:solidFill>
                      <a:srgbClr val="E6F4F8"/>
                    </a:solidFill>
                  </a:tcPr>
                </a:tc>
              </a:tr>
              <a:tr h="762000">
                <a:tc>
                  <a:txBody>
                    <a:bodyPr/>
                    <a:lstStyle/>
                    <a:p>
                      <a:r>
                        <a:rPr sz="2400" b="0">
                          <a:solidFill>
                            <a:srgbClr val="0A2740"/>
                          </a:solidFill>
                          <a:latin typeface="Aptos"/>
                          <a:ea typeface="Aptos"/>
                          <a:cs typeface="Aptos"/>
                        </a:rPr>
                        <a:t>F1-score</a:t>
                      </a:r>
                    </a:p>
                  </a:txBody>
                  <a:tcPr marL="91440" marR="91440" marT="45720" marB="45720">
                    <a:solidFill>
                      <a:srgbClr val="F3F8FA"/>
                    </a:solidFill>
                  </a:tcPr>
                </a:tc>
                <a:tc>
                  <a:txBody>
                    <a:bodyPr/>
                    <a:lstStyle/>
                    <a:p>
                      <a:r>
                        <a:rPr sz="2400" b="0">
                          <a:solidFill>
                            <a:srgbClr val="0A2740"/>
                          </a:solidFill>
                          <a:latin typeface="Aptos"/>
                          <a:ea typeface="Aptos"/>
                          <a:cs typeface="Aptos"/>
                        </a:rPr>
                        <a:t>Cân bằng Precision và Recall</a:t>
                      </a:r>
                    </a:p>
                  </a:txBody>
                  <a:tcPr marL="91440" marR="91440" marT="45720" marB="45720">
                    <a:solidFill>
                      <a:srgbClr val="F3F8FA"/>
                    </a:solidFill>
                  </a:tcPr>
                </a:tc>
                <a:tc>
                  <a:txBody>
                    <a:bodyPr/>
                    <a:lstStyle/>
                    <a:p>
                      <a:r>
                        <a:rPr sz="2400" b="0">
                          <a:solidFill>
                            <a:srgbClr val="0A2740"/>
                          </a:solidFill>
                          <a:latin typeface="Aptos"/>
                          <a:ea typeface="Aptos"/>
                          <a:cs typeface="Aptos"/>
                        </a:rPr>
                        <a:t>Cao</a:t>
                      </a:r>
                    </a:p>
                  </a:txBody>
                  <a:tcPr marL="91440" marR="91440" marT="45720" marB="45720">
                    <a:solidFill>
                      <a:srgbClr val="F3F8FA"/>
                    </a:solidFill>
                  </a:tcPr>
                </a:tc>
              </a:tr>
              <a:tr h="762000">
                <a:tc>
                  <a:txBody>
                    <a:bodyPr/>
                    <a:lstStyle/>
                    <a:p>
                      <a:r>
                        <a:rPr sz="2400" b="0">
                          <a:solidFill>
                            <a:srgbClr val="0A2740"/>
                          </a:solidFill>
                          <a:latin typeface="Aptos"/>
                          <a:ea typeface="Aptos"/>
                          <a:cs typeface="Aptos"/>
                        </a:rPr>
                        <a:t>False Positive Rate</a:t>
                      </a:r>
                    </a:p>
                  </a:txBody>
                  <a:tcPr marL="91440" marR="91440" marT="45720" marB="45720">
                    <a:solidFill>
                      <a:srgbClr val="E6F4F8"/>
                    </a:solidFill>
                  </a:tcPr>
                </a:tc>
                <a:tc>
                  <a:txBody>
                    <a:bodyPr/>
                    <a:lstStyle/>
                    <a:p>
                      <a:r>
                        <a:rPr sz="2400" b="0">
                          <a:solidFill>
                            <a:srgbClr val="0A2740"/>
                          </a:solidFill>
                          <a:latin typeface="Aptos"/>
                          <a:ea typeface="Aptos"/>
                          <a:cs typeface="Aptos"/>
                        </a:rPr>
                        <a:t>Tỷ lệ real bị báo nhầm fake</a:t>
                      </a:r>
                    </a:p>
                  </a:txBody>
                  <a:tcPr marL="91440" marR="91440" marT="45720" marB="45720">
                    <a:solidFill>
                      <a:srgbClr val="E6F4F8"/>
                    </a:solidFill>
                  </a:tcPr>
                </a:tc>
                <a:tc>
                  <a:txBody>
                    <a:bodyPr/>
                    <a:lstStyle/>
                    <a:p>
                      <a:r>
                        <a:rPr sz="2400" b="0">
                          <a:solidFill>
                            <a:srgbClr val="0A2740"/>
                          </a:solidFill>
                          <a:latin typeface="Aptos"/>
                          <a:ea typeface="Aptos"/>
                          <a:cs typeface="Aptos"/>
                        </a:rPr>
                        <a:t>Thấp</a:t>
                      </a:r>
                    </a:p>
                  </a:txBody>
                  <a:tcPr marL="91440" marR="91440" marT="45720" marB="45720">
                    <a:solidFill>
                      <a:srgbClr val="E6F4F8"/>
                    </a:solidFill>
                  </a:tcPr>
                </a:tc>
              </a:tr>
              <a:tr h="762000">
                <a:tc>
                  <a:txBody>
                    <a:bodyPr/>
                    <a:lstStyle/>
                    <a:p>
                      <a:r>
                        <a:rPr sz="2400" b="0">
                          <a:solidFill>
                            <a:srgbClr val="0A2740"/>
                          </a:solidFill>
                          <a:latin typeface="Aptos"/>
                          <a:ea typeface="Aptos"/>
                          <a:cs typeface="Aptos"/>
                        </a:rPr>
                        <a:t>Balanced Accuracy</a:t>
                      </a:r>
                    </a:p>
                  </a:txBody>
                  <a:tcPr marL="91440" marR="91440" marT="45720" marB="45720">
                    <a:solidFill>
                      <a:srgbClr val="F3F8FA"/>
                    </a:solidFill>
                  </a:tcPr>
                </a:tc>
                <a:tc>
                  <a:txBody>
                    <a:bodyPr/>
                    <a:lstStyle/>
                    <a:p>
                      <a:r>
                        <a:rPr sz="2400" b="0">
                          <a:solidFill>
                            <a:srgbClr val="0A2740"/>
                          </a:solidFill>
                          <a:latin typeface="Aptos"/>
                          <a:ea typeface="Aptos"/>
                          <a:cs typeface="Aptos"/>
                        </a:rPr>
                        <a:t>Trung bình tỷ lệ đúng của hai lớp</a:t>
                      </a:r>
                    </a:p>
                  </a:txBody>
                  <a:tcPr marL="91440" marR="91440" marT="45720" marB="45720">
                    <a:solidFill>
                      <a:srgbClr val="F3F8FA"/>
                    </a:solidFill>
                  </a:tcPr>
                </a:tc>
                <a:tc>
                  <a:txBody>
                    <a:bodyPr/>
                    <a:lstStyle/>
                    <a:p>
                      <a:r>
                        <a:rPr sz="2400" b="0">
                          <a:solidFill>
                            <a:srgbClr val="0A2740"/>
                          </a:solidFill>
                          <a:latin typeface="Aptos"/>
                          <a:ea typeface="Aptos"/>
                          <a:cs typeface="Aptos"/>
                        </a:rPr>
                        <a:t>Cao</a:t>
                      </a:r>
                    </a:p>
                  </a:txBody>
                  <a:tcPr marL="91440" marR="91440" marT="45720" marB="45720">
                    <a:solidFill>
                      <a:srgbClr val="F3F8FA"/>
                    </a:solidFill>
                  </a:tcPr>
                </a:tc>
              </a:tr>
            </a:tbl>
          </a:graphicData>
        </a:graphic>
      </p:graphicFrame>
      <p:sp>
        <p:nvSpPr>
          <p:cNvPr id="29" name="Fake là lớp positive. Báo thêm conf">
            <a:extLst xmlns:a="http://schemas.openxmlformats.org/drawingml/2006/main">
              <a:ext uri="{FF2B5EF4-FFF2-40B4-BE49-F238E27FC236}">
                <a16:creationId xmlns:a16="http://schemas.microsoft.com/office/drawing/2014/main" id="{8442206F-5712-4F1E-8381-FCB2AD5108DE}"/>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Fake là lớp positive. Báo thêm confusion matrix, chênh lệch X–Y và suy giảm khi nén.</a:t>
            </a:r>
          </a:p>
        </p:txBody>
      </p:sp>
    </p:spTree>
    <p:extLst>
      <p:ext uri="{BB962C8B-B14F-4D97-AF65-F5344CB8AC3E}">
        <p14:creationId xmlns:p14="http://schemas.microsoft.com/office/powerpoint/2010/main" val="2491866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cd76237412e44bee">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cd76237412e44bee">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cd76237412e44bee">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cd76237412e44bee">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cd76237412e44bee">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cd76237412e44bee">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11</a:t>
            </a:r>
          </a:p>
        </p:txBody>
      </p:sp>
      <p:sp>
        <p:nvSpPr>
          <p:cNvPr id="26" name="11  /  ĐÁNH GIÁ">
            <a:extLst xmlns:a="http://schemas.openxmlformats.org/drawingml/2006/main">
              <a:ext uri="{FF2B5EF4-FFF2-40B4-BE49-F238E27FC236}">
                <a16:creationId xmlns:a16="http://schemas.microsoft.com/office/drawing/2014/main" id="{8C5067CB-D138-42DB-B2FE-5AEDCE0E6C34}"/>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11  /  ĐÁNH GIÁ</a:t>
            </a:r>
          </a:p>
        </p:txBody>
      </p:sp>
      <p:sp>
        <p:nvSpPr>
          <p:cNvPr id="27" name="KIỂM TRA MODEL HỌC TÍN HIỆU GÌ">
            <a:extLst xmlns:a="http://schemas.openxmlformats.org/drawingml/2006/main">
              <a:ext uri="{FF2B5EF4-FFF2-40B4-BE49-F238E27FC236}">
                <a16:creationId xmlns:a16="http://schemas.microsoft.com/office/drawing/2014/main" id="{DA661DF8-2CF1-46A8-8235-493DFF08A848}"/>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KIỂM TRA MODEL HỌC TÍN HIỆU GÌ</a:t>
            </a:r>
          </a:p>
        </p:txBody>
      </p:sp>
      <p:graphicFrame>
        <p:nvGraphicFramePr>
          <p:cNvPr id="48" name=""/>
          <p:cNvGraphicFramePr/>
          <p:nvPr/>
        </p:nvGraphicFramePr>
        <p:xfrm>
          <a:off xmlns:a="http://schemas.openxmlformats.org/drawingml/2006/main" x="1047750" y="3714750"/>
          <a:ext xmlns:a="http://schemas.openxmlformats.org/drawingml/2006/main" cx="16192500" cy="4143375"/>
        </p:xfrm>
        <a:graphic xmlns:a="http://schemas.openxmlformats.org/drawingml/2006/main">
          <a:graphicData uri="http://schemas.openxmlformats.org/drawingml/2006/table">
            <a:tbl>
              <a:tblPr/>
              <a:tblGrid>
                <a:gridCol w="7239000"/>
                <a:gridCol w="8953500"/>
              </a:tblGrid>
              <a:tr h="828675">
                <a:tc>
                  <a:txBody>
                    <a:bodyPr/>
                    <a:lstStyle/>
                    <a:p>
                      <a:r>
                        <a:rPr sz="2625" b="1">
                          <a:solidFill>
                            <a:srgbClr val="FFFFFF"/>
                          </a:solidFill>
                          <a:latin typeface="Aptos"/>
                          <a:ea typeface="Aptos"/>
                          <a:cs typeface="Aptos"/>
                        </a:rPr>
                        <a:t>CẤU HÌNH</a:t>
                      </a:r>
                    </a:p>
                  </a:txBody>
                  <a:tcPr marL="91440" marR="91440" marT="45720" marB="45720">
                    <a:solidFill>
                      <a:srgbClr val="0A2740"/>
                    </a:solidFill>
                  </a:tcPr>
                </a:tc>
                <a:tc>
                  <a:txBody>
                    <a:bodyPr/>
                    <a:lstStyle/>
                    <a:p>
                      <a:r>
                        <a:rPr sz="2625" b="1">
                          <a:solidFill>
                            <a:srgbClr val="FFFFFF"/>
                          </a:solidFill>
                          <a:latin typeface="Aptos"/>
                          <a:ea typeface="Aptos"/>
                          <a:cs typeface="Aptos"/>
                        </a:rPr>
                        <a:t>ĐIỀU CẦN KIỂM CHỨNG</a:t>
                      </a:r>
                    </a:p>
                  </a:txBody>
                  <a:tcPr marL="91440" marR="91440" marT="45720" marB="45720">
                    <a:solidFill>
                      <a:srgbClr val="0A2740"/>
                    </a:solidFill>
                  </a:tcPr>
                </a:tc>
              </a:tr>
              <a:tr h="828675">
                <a:tc>
                  <a:txBody>
                    <a:bodyPr/>
                    <a:lstStyle/>
                    <a:p>
                      <a:r>
                        <a:rPr sz="2625" b="0">
                          <a:solidFill>
                            <a:srgbClr val="0A2740"/>
                          </a:solidFill>
                          <a:latin typeface="Aptos"/>
                          <a:ea typeface="Aptos"/>
                          <a:cs typeface="Aptos"/>
                        </a:rPr>
                        <a:t>Chỉ audio</a:t>
                      </a:r>
                    </a:p>
                  </a:txBody>
                  <a:tcPr marL="91440" marR="91440" marT="45720" marB="45720">
                    <a:solidFill>
                      <a:srgbClr val="E6F4F8"/>
                    </a:solidFill>
                  </a:tcPr>
                </a:tc>
                <a:tc>
                  <a:txBody>
                    <a:bodyPr/>
                    <a:lstStyle/>
                    <a:p>
                      <a:r>
                        <a:rPr sz="2625" b="0">
                          <a:solidFill>
                            <a:srgbClr val="0A2740"/>
                          </a:solidFill>
                          <a:latin typeface="Aptos"/>
                          <a:ea typeface="Aptos"/>
                          <a:cs typeface="Aptos"/>
                        </a:rPr>
                        <a:t>Âm thanh có dấu hiệu phụ theo nhãn?</a:t>
                      </a:r>
                    </a:p>
                  </a:txBody>
                  <a:tcPr marL="91440" marR="91440" marT="45720" marB="45720">
                    <a:solidFill>
                      <a:srgbClr val="E6F4F8"/>
                    </a:solidFill>
                  </a:tcPr>
                </a:tc>
              </a:tr>
              <a:tr h="828675">
                <a:tc>
                  <a:txBody>
                    <a:bodyPr/>
                    <a:lstStyle/>
                    <a:p>
                      <a:r>
                        <a:rPr sz="2625" b="0">
                          <a:solidFill>
                            <a:srgbClr val="0A2740"/>
                          </a:solidFill>
                          <a:latin typeface="Aptos"/>
                          <a:ea typeface="Aptos"/>
                          <a:cs typeface="Aptos"/>
                        </a:rPr>
                        <a:t>Chỉ visual</a:t>
                      </a:r>
                    </a:p>
                  </a:txBody>
                  <a:tcPr marL="91440" marR="91440" marT="45720" marB="45720">
                    <a:solidFill>
                      <a:srgbClr val="F3F8FA"/>
                    </a:solidFill>
                  </a:tcPr>
                </a:tc>
                <a:tc>
                  <a:txBody>
                    <a:bodyPr/>
                    <a:lstStyle/>
                    <a:p>
                      <a:r>
                        <a:rPr sz="2625" b="0">
                          <a:solidFill>
                            <a:srgbClr val="0A2740"/>
                          </a:solidFill>
                          <a:latin typeface="Aptos"/>
                          <a:ea typeface="Aptos"/>
                          <a:cs typeface="Aptos"/>
                        </a:rPr>
                        <a:t>Miệng mờ đã đủ để phân loại?</a:t>
                      </a:r>
                    </a:p>
                  </a:txBody>
                  <a:tcPr marL="91440" marR="91440" marT="45720" marB="45720">
                    <a:solidFill>
                      <a:srgbClr val="F3F8FA"/>
                    </a:solidFill>
                  </a:tcPr>
                </a:tc>
              </a:tr>
              <a:tr h="828675">
                <a:tc>
                  <a:txBody>
                    <a:bodyPr/>
                    <a:lstStyle/>
                    <a:p>
                      <a:r>
                        <a:rPr sz="2625" b="0">
                          <a:solidFill>
                            <a:srgbClr val="0A2740"/>
                          </a:solidFill>
                          <a:latin typeface="Aptos"/>
                          <a:ea typeface="Aptos"/>
                          <a:cs typeface="Aptos"/>
                        </a:rPr>
                        <a:t>Audio + visual: Y</a:t>
                      </a:r>
                    </a:p>
                  </a:txBody>
                  <a:tcPr marL="91440" marR="91440" marT="45720" marB="45720">
                    <a:solidFill>
                      <a:srgbClr val="E6F4F8"/>
                    </a:solidFill>
                  </a:tcPr>
                </a:tc>
                <a:tc>
                  <a:txBody>
                    <a:bodyPr/>
                    <a:lstStyle/>
                    <a:p>
                      <a:r>
                        <a:rPr sz="2625" b="0">
                          <a:solidFill>
                            <a:srgbClr val="0A2740"/>
                          </a:solidFill>
                          <a:latin typeface="Aptos"/>
                          <a:ea typeface="Aptos"/>
                          <a:cs typeface="Aptos"/>
                        </a:rPr>
                        <a:t>Audio có bổ sung lợi ích cho hình ảnh?</a:t>
                      </a:r>
                    </a:p>
                  </a:txBody>
                  <a:tcPr marL="91440" marR="91440" marT="45720" marB="45720">
                    <a:solidFill>
                      <a:srgbClr val="E6F4F8"/>
                    </a:solidFill>
                  </a:tcPr>
                </a:tc>
              </a:tr>
              <a:tr h="828675">
                <a:tc>
                  <a:txBody>
                    <a:bodyPr/>
                    <a:lstStyle/>
                    <a:p>
                      <a:r>
                        <a:rPr sz="2625" b="0">
                          <a:solidFill>
                            <a:srgbClr val="0A2740"/>
                          </a:solidFill>
                          <a:latin typeface="Aptos"/>
                          <a:ea typeface="Aptos"/>
                          <a:cs typeface="Aptos"/>
                        </a:rPr>
                        <a:t>Audio + visual + consistency: X</a:t>
                      </a:r>
                    </a:p>
                  </a:txBody>
                  <a:tcPr marL="91440" marR="91440" marT="45720" marB="45720">
                    <a:solidFill>
                      <a:srgbClr val="F3F8FA"/>
                    </a:solidFill>
                  </a:tcPr>
                </a:tc>
                <a:tc>
                  <a:txBody>
                    <a:bodyPr/>
                    <a:lstStyle/>
                    <a:p>
                      <a:r>
                        <a:rPr sz="2625" b="0">
                          <a:solidFill>
                            <a:srgbClr val="0A2740"/>
                          </a:solidFill>
                          <a:latin typeface="Aptos"/>
                          <a:ea typeface="Aptos"/>
                          <a:cs typeface="Aptos"/>
                        </a:rPr>
                        <a:t>Nhất quán có giúp chịu nén tốt hơn?</a:t>
                      </a:r>
                    </a:p>
                  </a:txBody>
                  <a:tcPr marL="91440" marR="91440" marT="45720" marB="45720">
                    <a:solidFill>
                      <a:srgbClr val="F3F8FA"/>
                    </a:solidFill>
                  </a:tcPr>
                </a:tc>
              </a:tr>
            </a:tbl>
          </a:graphicData>
        </a:graphic>
      </p:graphicFrame>
      <p:sp>
        <p:nvSpPr>
          <p:cNvPr id="29" name="KIỂM SOÁT DẤU VẾT PHỤ">
            <a:extLst xmlns:a="http://schemas.openxmlformats.org/drawingml/2006/main">
              <a:ext uri="{FF2B5EF4-FFF2-40B4-BE49-F238E27FC236}">
                <a16:creationId xmlns:a16="http://schemas.microsoft.com/office/drawing/2014/main" id="{9F7777DC-7A0C-41FE-ACDB-E650C7FAAF90}"/>
              </a:ext>
            </a:extLst>
          </p:cNvPr>
          <p:cNvSpPr>
            <a:spLocks xmlns:a="http://schemas.openxmlformats.org/drawingml/2006/main" noGrp="1"/>
          </p:cNvSpPr>
          <p:nvPr/>
        </p:nvSpPr>
        <p:spPr>
          <a:xfrm xmlns:a="http://schemas.openxmlformats.org/drawingml/2006/main">
            <a:off x="1047750" y="8143875"/>
            <a:ext cx="1524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0A2740"/>
                </a:solidFill>
                <a:latin typeface="Anton"/>
                <a:ea typeface="Anton"/>
                <a:cs typeface="Anton"/>
              </a:defRPr>
            </a:pPr>
            <a:r>
              <a:rPr sz="3150" b="0">
                <a:solidFill>
                  <a:srgbClr val="0A2740"/>
                </a:solidFill>
                <a:latin typeface="Anton"/>
                <a:ea typeface="Anton"/>
                <a:cs typeface="Anton"/>
              </a:rPr>
              <a:t>KIỂM SOÁT DẤU VẾT PHỤ</a:t>
            </a:r>
          </a:p>
        </p:txBody>
      </p:sp>
      <p:sp>
        <p:nvSpPr>
          <p:cNvPr id="30" name="Cùng policy codec, độ phân giải và ">
            <a:extLst xmlns:a="http://schemas.openxmlformats.org/drawingml/2006/main">
              <a:ext uri="{FF2B5EF4-FFF2-40B4-BE49-F238E27FC236}">
                <a16:creationId xmlns:a16="http://schemas.microsoft.com/office/drawing/2014/main" id="{7C1F1433-C48A-4FF0-AD12-EFC6B12CF4A3}"/>
              </a:ext>
            </a:extLst>
          </p:cNvPr>
          <p:cNvSpPr>
            <a:spLocks xmlns:a="http://schemas.openxmlformats.org/drawingml/2006/main" noGrp="1"/>
          </p:cNvSpPr>
          <p:nvPr/>
        </p:nvSpPr>
        <p:spPr>
          <a:xfrm xmlns:a="http://schemas.openxmlformats.org/drawingml/2006/main">
            <a:off x="1047750" y="8858250"/>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455966"/>
                </a:solidFill>
                <a:latin typeface="Aptos"/>
                <a:ea typeface="Aptos"/>
                <a:cs typeface="Aptos"/>
              </a:defRPr>
            </a:pPr>
            <a:r>
              <a:rPr sz="2400" b="0">
                <a:solidFill>
                  <a:srgbClr val="455966"/>
                </a:solidFill>
                <a:latin typeface="Aptos"/>
                <a:ea typeface="Aptos"/>
                <a:cs typeface="Aptos"/>
              </a:rPr>
              <a:t>Cùng policy codec, độ phân giải và audio. Báo tỷ lệ lỗi preprocessing theo nhãn / generator.</a:t>
            </a:r>
          </a:p>
        </p:txBody>
      </p:sp>
    </p:spTree>
    <p:extLst>
      <p:ext uri="{BB962C8B-B14F-4D97-AF65-F5344CB8AC3E}">
        <p14:creationId xmlns:p14="http://schemas.microsoft.com/office/powerpoint/2010/main" val="2491866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e7619386fb9a4550">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BÀI TOÁN</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e7619386fb9a4550">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PHẠM VI</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e7619386fb9a4550">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e7619386fb9a4550">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DỮ LIỆU</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e7619386fb9a4550">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ĐÁNH GIÁ</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e7619386fb9a4550">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12</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12  /  ĐÁNH GIÁ">
            <a:extLst xmlns:a="http://schemas.openxmlformats.org/drawingml/2006/main">
              <a:ext uri="{FF2B5EF4-FFF2-40B4-BE49-F238E27FC236}">
                <a16:creationId xmlns:a16="http://schemas.microsoft.com/office/drawing/2014/main" id="{35A19040-0C3B-433B-B8A2-EAF1058E814E}"/>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6B8A"/>
                </a:solidFill>
                <a:latin typeface="Aptos"/>
                <a:ea typeface="Aptos"/>
                <a:cs typeface="Aptos"/>
              </a:defRPr>
            </a:pPr>
            <a:r>
              <a:rPr sz="1725" b="1">
                <a:solidFill>
                  <a:srgbClr val="286B8A"/>
                </a:solidFill>
                <a:latin typeface="Aptos"/>
                <a:ea typeface="Aptos"/>
                <a:cs typeface="Aptos"/>
              </a:rPr>
              <a:t>12  /  ĐÁNH GIÁ</a:t>
            </a:r>
          </a:p>
        </p:txBody>
      </p:sp>
      <p:sp>
        <p:nvSpPr>
          <p:cNvPr id="38" name="TIẾN ĐỘ &amp; ĐÓNG GÓP KỲ VỌNG">
            <a:extLst xmlns:a="http://schemas.openxmlformats.org/drawingml/2006/main">
              <a:ext uri="{FF2B5EF4-FFF2-40B4-BE49-F238E27FC236}">
                <a16:creationId xmlns:a16="http://schemas.microsoft.com/office/drawing/2014/main" id="{3A632C72-EFEF-4956-A634-4EC27FBD3572}"/>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0">
                <a:solidFill>
                  <a:srgbClr val="0A2740"/>
                </a:solidFill>
                <a:latin typeface="Anton"/>
                <a:ea typeface="Anton"/>
                <a:cs typeface="Anton"/>
              </a:defRPr>
            </a:pPr>
            <a:r>
              <a:rPr sz="5400" b="0">
                <a:solidFill>
                  <a:srgbClr val="0A2740"/>
                </a:solidFill>
                <a:latin typeface="Anton"/>
                <a:ea typeface="Anton"/>
                <a:cs typeface="Anton"/>
              </a:rPr>
              <a:t>TIẾN ĐỘ &amp; ĐÓNG GÓP KỲ VỌNG</a:t>
            </a:r>
          </a:p>
        </p:txBody>
      </p:sp>
      <p:sp>
        <p:nvSpPr>
          <p:cNvPr id="39" name="ĐÃ TRIỂN KHAI">
            <a:extLst xmlns:a="http://schemas.openxmlformats.org/drawingml/2006/main">
              <a:ext uri="{FF2B5EF4-FFF2-40B4-BE49-F238E27FC236}">
                <a16:creationId xmlns:a16="http://schemas.microsoft.com/office/drawing/2014/main" id="{52E69B13-B285-40B8-98D1-0F9DC0F8F922}"/>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ĐÃ TRIỂN KHAI</a:t>
            </a:r>
          </a:p>
        </p:txBody>
      </p:sp>
      <p:sp>
        <p:nvSpPr>
          <p:cNvPr id="40" name="Review và split một người nói">
            <a:extLst xmlns:a="http://schemas.openxmlformats.org/drawingml/2006/main">
              <a:ext uri="{FF2B5EF4-FFF2-40B4-BE49-F238E27FC236}">
                <a16:creationId xmlns:a16="http://schemas.microsoft.com/office/drawing/2014/main" id="{78F26607-11C9-4ADC-8984-C8BEECCEFB65}"/>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Review và split một người nói</a:t>
            </a:r>
          </a:p>
        </p:txBody>
      </p:sp>
      <p:sp>
        <p:nvSpPr>
          <p:cNvPr id="41" name="Wav2Lip GAN / MuseTalk chạy thử">
            <a:extLst xmlns:a="http://schemas.openxmlformats.org/drawingml/2006/main">
              <a:ext uri="{FF2B5EF4-FFF2-40B4-BE49-F238E27FC236}">
                <a16:creationId xmlns:a16="http://schemas.microsoft.com/office/drawing/2014/main" id="{8710A667-4440-4755-98D6-58F5352378BD}"/>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Wav2Lip GAN / MuseTalk chạy thử</a:t>
            </a:r>
          </a:p>
        </p:txBody>
      </p:sp>
      <p:sp>
        <p:nvSpPr>
          <p:cNvPr id="42" name="AV-HuBERT trích feature clip thật">
            <a:extLst xmlns:a="http://schemas.openxmlformats.org/drawingml/2006/main">
              <a:ext uri="{FF2B5EF4-FFF2-40B4-BE49-F238E27FC236}">
                <a16:creationId xmlns:a16="http://schemas.microsoft.com/office/drawing/2014/main" id="{97F1F2F9-886C-467D-A092-4038F2F3300A}"/>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AV-HuBERT trích feature clip thật</a:t>
            </a:r>
          </a:p>
        </p:txBody>
      </p:sp>
      <p:sp>
        <p:nvSpPr>
          <p:cNvPr id="43" name="Code detector và training tối thiểu">
            <a:extLst xmlns:a="http://schemas.openxmlformats.org/drawingml/2006/main">
              <a:ext uri="{FF2B5EF4-FFF2-40B4-BE49-F238E27FC236}">
                <a16:creationId xmlns:a16="http://schemas.microsoft.com/office/drawing/2014/main" id="{CA27CCF6-2A54-47C7-8462-5A25686AE01F}"/>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Code detector và training tối thiểu</a:t>
            </a:r>
          </a:p>
        </p:txBody>
      </p:sp>
      <p:sp>
        <p:nvSpPr>
          <p:cNvPr id="44" name="BƯỚC KIỂM CHỨNG TIẾP THEO">
            <a:extLst xmlns:a="http://schemas.openxmlformats.org/drawingml/2006/main">
              <a:ext uri="{FF2B5EF4-FFF2-40B4-BE49-F238E27FC236}">
                <a16:creationId xmlns:a16="http://schemas.microsoft.com/office/drawing/2014/main" id="{0597BD81-9DB6-4CD4-AD70-CF8234B89FA6}"/>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0A2740"/>
                </a:solidFill>
                <a:latin typeface="Anton"/>
                <a:ea typeface="Anton"/>
                <a:cs typeface="Anton"/>
              </a:defRPr>
            </a:pPr>
            <a:r>
              <a:rPr sz="3675" b="0">
                <a:solidFill>
                  <a:srgbClr val="0A2740"/>
                </a:solidFill>
                <a:latin typeface="Anton"/>
                <a:ea typeface="Anton"/>
                <a:cs typeface="Anton"/>
              </a:rPr>
              <a:t>BƯỚC KIỂM CHỨNG TIẾP THEO</a:t>
            </a:r>
          </a:p>
        </p:txBody>
      </p:sp>
      <p:sp>
        <p:nvSpPr>
          <p:cNvPr id="45" name="Review fake và khóa data protocol">
            <a:extLst xmlns:a="http://schemas.openxmlformats.org/drawingml/2006/main">
              <a:ext uri="{FF2B5EF4-FFF2-40B4-BE49-F238E27FC236}">
                <a16:creationId xmlns:a16="http://schemas.microsoft.com/office/drawing/2014/main" id="{CAA71837-F91B-413A-B843-CB4D66EC1EF3}"/>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Review fake và khóa data protocol</a:t>
            </a:r>
          </a:p>
        </p:txBody>
      </p:sp>
      <p:sp>
        <p:nvSpPr>
          <p:cNvPr id="46" name="Train baseline và các ablation">
            <a:extLst xmlns:a="http://schemas.openxmlformats.org/drawingml/2006/main">
              <a:ext uri="{FF2B5EF4-FFF2-40B4-BE49-F238E27FC236}">
                <a16:creationId xmlns:a16="http://schemas.microsoft.com/office/drawing/2014/main" id="{8A0C7CD9-529B-4565-9B2D-7B697DB2D6C5}"/>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Train baseline và các ablation</a:t>
            </a:r>
          </a:p>
        </p:txBody>
      </p:sp>
      <p:sp>
        <p:nvSpPr>
          <p:cNvPr id="47" name="So X–Y theo generator / mức nén">
            <a:extLst xmlns:a="http://schemas.openxmlformats.org/drawingml/2006/main">
              <a:ext uri="{FF2B5EF4-FFF2-40B4-BE49-F238E27FC236}">
                <a16:creationId xmlns:a16="http://schemas.microsoft.com/office/drawing/2014/main" id="{4C679CDB-8813-48FC-BFD5-B68716548C1F}"/>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So X–Y theo generator / mức nén</a:t>
            </a:r>
          </a:p>
        </p:txBody>
      </p:sp>
      <p:sp>
        <p:nvSpPr>
          <p:cNvPr id="48" name="Bổ sung người nói, phân tích lỗi">
            <a:extLst xmlns:a="http://schemas.openxmlformats.org/drawingml/2006/main">
              <a:ext uri="{FF2B5EF4-FFF2-40B4-BE49-F238E27FC236}">
                <a16:creationId xmlns:a16="http://schemas.microsoft.com/office/drawing/2014/main" id="{90EFE120-2F92-42F0-B4E5-F5C3C2E8F529}"/>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55966"/>
                </a:solidFill>
                <a:latin typeface="Aptos"/>
                <a:ea typeface="Aptos"/>
                <a:cs typeface="Aptos"/>
              </a:defRPr>
            </a:pPr>
            <a:r>
              <a:rPr sz="2550" b="0">
                <a:solidFill>
                  <a:srgbClr val="455966"/>
                </a:solidFill>
                <a:latin typeface="Aptos"/>
                <a:ea typeface="Aptos"/>
                <a:cs typeface="Aptos"/>
              </a:rPr>
              <a:t>Bổ sung người nói, phân tích lỗi</a:t>
            </a:r>
          </a:p>
        </p:txBody>
      </p:sp>
      <p:sp>
        <p:nvSpPr>
          <p:cNvPr id="49" name="Bàn giao: dữ liệu có provenance, pi">
            <a:extLst xmlns:a="http://schemas.openxmlformats.org/drawingml/2006/main">
              <a:ext uri="{FF2B5EF4-FFF2-40B4-BE49-F238E27FC236}">
                <a16:creationId xmlns:a16="http://schemas.microsoft.com/office/drawing/2014/main" id="{D4943649-2BFE-4AFD-BD51-5D05F160AFE4}"/>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86B8A"/>
                </a:solidFill>
                <a:latin typeface="Aptos"/>
                <a:ea typeface="Aptos"/>
                <a:cs typeface="Aptos"/>
              </a:defRPr>
            </a:pPr>
            <a:r>
              <a:rPr sz="2025" b="0">
                <a:solidFill>
                  <a:srgbClr val="286B8A"/>
                </a:solidFill>
                <a:latin typeface="Aptos"/>
                <a:ea typeface="Aptos"/>
                <a:cs typeface="Aptos"/>
              </a:rPr>
              <a:t>Bàn giao: dữ liệu có provenance, pipeline tái lập, báo cáo đánh giá và demo đúng scope.</a:t>
            </a:r>
          </a:p>
        </p:txBody>
      </p:sp>
    </p:spTree>
    <p:extLst>
      <p:ext uri="{BB962C8B-B14F-4D97-AF65-F5344CB8AC3E}">
        <p14:creationId xmlns:p14="http://schemas.microsoft.com/office/powerpoint/2010/main" val="24918661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2026-09-20T18:32:56.5020000Z</dcterms:created>
  <dcterms:modified xsi:type="dcterms:W3CDTF">2026-09-20T18:32:56.5020000Z</dcterms:modified>
</coreProperties>
</file>